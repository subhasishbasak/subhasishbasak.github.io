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8" r:id="rId3"/>
    <p:sldId id="259" r:id="rId4"/>
    <p:sldId id="260" r:id="rId5"/>
    <p:sldId id="261" r:id="rId6"/>
    <p:sldId id="263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F79"/>
    <a:srgbClr val="CC0000"/>
    <a:srgbClr val="00AB95"/>
    <a:srgbClr val="6600FF"/>
    <a:srgbClr val="9966FF"/>
    <a:srgbClr val="66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0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0" d="100"/>
          <a:sy n="70" d="100"/>
        </p:scale>
        <p:origin x="2971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7391F9-8375-40E1-AD88-A2220EE63399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538B0-A1D2-4370-99EC-5C624213E2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2174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0143E4-FD8C-4976-86F1-E6FFFAD73B26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F999E-6AFA-4BBA-A57A-6AAAA01F5D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2186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pic>
        <p:nvPicPr>
          <p:cNvPr id="14" name="Image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96" t="6740" r="6903" b="10393"/>
          <a:stretch/>
        </p:blipFill>
        <p:spPr bwMode="auto">
          <a:xfrm>
            <a:off x="10948086" y="749911"/>
            <a:ext cx="1135763" cy="73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Groupe 22"/>
          <p:cNvGrpSpPr/>
          <p:nvPr userDrawn="1"/>
        </p:nvGrpSpPr>
        <p:grpSpPr>
          <a:xfrm>
            <a:off x="0" y="0"/>
            <a:ext cx="12187206" cy="664916"/>
            <a:chOff x="0" y="0"/>
            <a:chExt cx="12187206" cy="664916"/>
          </a:xfrm>
        </p:grpSpPr>
        <p:pic>
          <p:nvPicPr>
            <p:cNvPr id="24" name="Image 3"/>
            <p:cNvPicPr preferRelativeResize="0"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826"/>
            <a:stretch/>
          </p:blipFill>
          <p:spPr bwMode="auto">
            <a:xfrm rot="10800000">
              <a:off x="7086215" y="0"/>
              <a:ext cx="5100991" cy="649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" name="Image 4"/>
            <p:cNvPicPr preferRelativeResize="0"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132" t="8752"/>
            <a:stretch/>
          </p:blipFill>
          <p:spPr bwMode="auto">
            <a:xfrm rot="10800000">
              <a:off x="0" y="519"/>
              <a:ext cx="3716991" cy="664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Image 3"/>
            <p:cNvPicPr preferRelativeResize="0"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091" t="23420"/>
            <a:stretch/>
          </p:blipFill>
          <p:spPr bwMode="auto">
            <a:xfrm rot="10800000">
              <a:off x="3670891" y="1764"/>
              <a:ext cx="3461925" cy="557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56263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grpSp>
        <p:nvGrpSpPr>
          <p:cNvPr id="8" name="Groupe 7"/>
          <p:cNvGrpSpPr/>
          <p:nvPr userDrawn="1"/>
        </p:nvGrpSpPr>
        <p:grpSpPr>
          <a:xfrm>
            <a:off x="-3444" y="6200740"/>
            <a:ext cx="12187206" cy="669697"/>
            <a:chOff x="3032" y="5592850"/>
            <a:chExt cx="12187206" cy="669697"/>
          </a:xfrm>
        </p:grpSpPr>
        <p:pic>
          <p:nvPicPr>
            <p:cNvPr id="9" name="Image 3"/>
            <p:cNvPicPr preferRelativeResize="0"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826"/>
            <a:stretch/>
          </p:blipFill>
          <p:spPr bwMode="auto">
            <a:xfrm>
              <a:off x="3032" y="5604990"/>
              <a:ext cx="5100991" cy="649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Image 4"/>
            <p:cNvPicPr preferRelativeResize="0"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132" t="8752"/>
            <a:stretch/>
          </p:blipFill>
          <p:spPr bwMode="auto">
            <a:xfrm>
              <a:off x="8473247" y="5592850"/>
              <a:ext cx="3716991" cy="664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Image 3"/>
            <p:cNvPicPr preferRelativeResize="0"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091" t="23420"/>
            <a:stretch/>
          </p:blipFill>
          <p:spPr bwMode="auto">
            <a:xfrm>
              <a:off x="5057422" y="5697244"/>
              <a:ext cx="3461925" cy="557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Rectangle 11"/>
            <p:cNvSpPr>
              <a:spLocks noChangeArrowheads="1"/>
            </p:cNvSpPr>
            <p:nvPr userDrawn="1"/>
          </p:nvSpPr>
          <p:spPr bwMode="auto">
            <a:xfrm>
              <a:off x="4145757" y="5800585"/>
              <a:ext cx="3900487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fr-FR" sz="1200" b="1" dirty="0">
                  <a:solidFill>
                    <a:schemeClr val="bg1"/>
                  </a:solidFill>
                  <a:latin typeface="Nirmala UI" panose="020B0502040204020203" pitchFamily="34" charset="0"/>
                  <a:cs typeface="Calibri" panose="020F0502020204030204" pitchFamily="34" charset="0"/>
                </a:rPr>
                <a:t>Anses scientific and doctoral days</a:t>
              </a:r>
            </a:p>
            <a:p>
              <a:pPr algn="ctr" eaLnBrk="1" hangingPunct="1">
                <a:defRPr/>
              </a:pPr>
              <a:r>
                <a:rPr lang="en-US" altLang="fr-FR" sz="1200" b="1" baseline="0" dirty="0">
                  <a:solidFill>
                    <a:schemeClr val="bg1"/>
                  </a:solidFill>
                  <a:latin typeface="Nirmala UI" panose="020B0502040204020203" pitchFamily="34" charset="0"/>
                  <a:cs typeface="Calibri" panose="020F0502020204030204" pitchFamily="34" charset="0"/>
                </a:rPr>
                <a:t> 4 &amp; 5</a:t>
              </a:r>
              <a:r>
                <a:rPr lang="en-US" altLang="fr-FR" sz="1200" b="1" dirty="0">
                  <a:solidFill>
                    <a:schemeClr val="bg1"/>
                  </a:solidFill>
                  <a:latin typeface="Nirmala UI" panose="020B0502040204020203" pitchFamily="34" charset="0"/>
                  <a:cs typeface="Calibri" panose="020F0502020204030204" pitchFamily="34" charset="0"/>
                </a:rPr>
                <a:t> June 2025</a:t>
              </a:r>
            </a:p>
          </p:txBody>
        </p:sp>
      </p:grp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039768" y="645689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79ABBDA1-DD2A-409E-85DF-632157FD849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8789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grpSp>
        <p:nvGrpSpPr>
          <p:cNvPr id="8" name="Groupe 7"/>
          <p:cNvGrpSpPr/>
          <p:nvPr userDrawn="1"/>
        </p:nvGrpSpPr>
        <p:grpSpPr>
          <a:xfrm>
            <a:off x="39463" y="6266453"/>
            <a:ext cx="12189694" cy="672657"/>
            <a:chOff x="3032" y="5589890"/>
            <a:chExt cx="12189694" cy="672657"/>
          </a:xfrm>
        </p:grpSpPr>
        <p:pic>
          <p:nvPicPr>
            <p:cNvPr id="9" name="Image 3"/>
            <p:cNvPicPr preferRelativeResize="0"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826"/>
            <a:stretch/>
          </p:blipFill>
          <p:spPr bwMode="auto">
            <a:xfrm>
              <a:off x="3032" y="5604990"/>
              <a:ext cx="5100991" cy="649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Image 4"/>
            <p:cNvPicPr preferRelativeResize="0"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132" t="8752"/>
            <a:stretch/>
          </p:blipFill>
          <p:spPr bwMode="auto">
            <a:xfrm>
              <a:off x="8475735" y="5589890"/>
              <a:ext cx="3716991" cy="664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Image 3"/>
            <p:cNvPicPr preferRelativeResize="0"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091" t="23420"/>
            <a:stretch/>
          </p:blipFill>
          <p:spPr bwMode="auto">
            <a:xfrm>
              <a:off x="5057422" y="5697244"/>
              <a:ext cx="3461925" cy="557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Rectangle 11"/>
            <p:cNvSpPr>
              <a:spLocks noChangeArrowheads="1"/>
            </p:cNvSpPr>
            <p:nvPr userDrawn="1"/>
          </p:nvSpPr>
          <p:spPr bwMode="auto">
            <a:xfrm>
              <a:off x="4145757" y="5800585"/>
              <a:ext cx="3900487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fr-FR" sz="1200" b="1" dirty="0">
                  <a:solidFill>
                    <a:schemeClr val="bg1"/>
                  </a:solidFill>
                  <a:latin typeface="Nirmala UI" panose="020B0502040204020203" pitchFamily="34" charset="0"/>
                  <a:cs typeface="Calibri" panose="020F0502020204030204" pitchFamily="34" charset="0"/>
                </a:rPr>
                <a:t>Anses scientific and doctoral days</a:t>
              </a:r>
            </a:p>
            <a:p>
              <a:pPr algn="ctr" eaLnBrk="1" hangingPunct="1">
                <a:defRPr/>
              </a:pPr>
              <a:r>
                <a:rPr lang="en-US" altLang="fr-FR" sz="1200" b="1" baseline="0" dirty="0">
                  <a:solidFill>
                    <a:schemeClr val="bg1"/>
                  </a:solidFill>
                  <a:latin typeface="Nirmala UI" panose="020B0502040204020203" pitchFamily="34" charset="0"/>
                  <a:cs typeface="Calibri" panose="020F0502020204030204" pitchFamily="34" charset="0"/>
                </a:rPr>
                <a:t>4 &amp; 5</a:t>
              </a:r>
              <a:r>
                <a:rPr lang="en-US" altLang="fr-FR" sz="1200" b="1" dirty="0">
                  <a:solidFill>
                    <a:schemeClr val="bg1"/>
                  </a:solidFill>
                  <a:latin typeface="Nirmala UI" panose="020B0502040204020203" pitchFamily="34" charset="0"/>
                  <a:cs typeface="Calibri" panose="020F0502020204030204" pitchFamily="34" charset="0"/>
                </a:rPr>
                <a:t> June 2025</a:t>
              </a:r>
            </a:p>
          </p:txBody>
        </p:sp>
      </p:grpSp>
      <p:sp>
        <p:nvSpPr>
          <p:cNvPr id="13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039768" y="645689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79ABBDA1-DD2A-409E-85DF-632157FD849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1487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ABBDA1-DD2A-409E-85DF-632157FD8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1737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09891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5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jpg"/><Relationship Id="rId10" Type="http://schemas.openxmlformats.org/officeDocument/2006/relationships/image" Target="../media/image14.jpg"/><Relationship Id="rId4" Type="http://schemas.openxmlformats.org/officeDocument/2006/relationships/image" Target="../media/image8.png"/><Relationship Id="rId9" Type="http://schemas.openxmlformats.org/officeDocument/2006/relationships/image" Target="../media/image13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13" Type="http://schemas.openxmlformats.org/officeDocument/2006/relationships/image" Target="../media/image27.png"/><Relationship Id="rId18" Type="http://schemas.openxmlformats.org/officeDocument/2006/relationships/image" Target="../media/image32.jpeg"/><Relationship Id="rId26" Type="http://schemas.openxmlformats.org/officeDocument/2006/relationships/image" Target="../media/image40.png"/><Relationship Id="rId3" Type="http://schemas.openxmlformats.org/officeDocument/2006/relationships/image" Target="../media/image17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5" Type="http://schemas.openxmlformats.org/officeDocument/2006/relationships/image" Target="../media/image39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29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jpeg"/><Relationship Id="rId24" Type="http://schemas.openxmlformats.org/officeDocument/2006/relationships/image" Target="../media/image38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28" Type="http://schemas.openxmlformats.org/officeDocument/2006/relationships/image" Target="../media/image42.png"/><Relationship Id="rId10" Type="http://schemas.openxmlformats.org/officeDocument/2006/relationships/image" Target="../media/image24.jpe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Relationship Id="rId27" Type="http://schemas.openxmlformats.org/officeDocument/2006/relationships/image" Target="../media/image4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/>
          <p:cNvGrpSpPr/>
          <p:nvPr/>
        </p:nvGrpSpPr>
        <p:grpSpPr>
          <a:xfrm>
            <a:off x="0" y="0"/>
            <a:ext cx="12187206" cy="664916"/>
            <a:chOff x="0" y="0"/>
            <a:chExt cx="12187206" cy="664916"/>
          </a:xfrm>
        </p:grpSpPr>
        <p:pic>
          <p:nvPicPr>
            <p:cNvPr id="37" name="Image 3"/>
            <p:cNvPicPr preferRelativeResize="0"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826"/>
            <a:stretch/>
          </p:blipFill>
          <p:spPr bwMode="auto">
            <a:xfrm rot="10800000">
              <a:off x="7086215" y="0"/>
              <a:ext cx="5100991" cy="649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" name="Image 4"/>
            <p:cNvPicPr preferRelativeResize="0"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132" t="8752"/>
            <a:stretch/>
          </p:blipFill>
          <p:spPr bwMode="auto">
            <a:xfrm rot="10800000">
              <a:off x="0" y="519"/>
              <a:ext cx="3716991" cy="664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" name="Image 3"/>
            <p:cNvPicPr preferRelativeResize="0"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091" t="23420"/>
            <a:stretch/>
          </p:blipFill>
          <p:spPr bwMode="auto">
            <a:xfrm rot="10800000">
              <a:off x="3670891" y="1764"/>
              <a:ext cx="3461925" cy="557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4" name="Image 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64" t="7500" r="9162" b="10330"/>
          <a:stretch/>
        </p:blipFill>
        <p:spPr bwMode="auto">
          <a:xfrm>
            <a:off x="10724701" y="684662"/>
            <a:ext cx="1354793" cy="10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5" name="Tableau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46964"/>
              </p:ext>
            </p:extLst>
          </p:nvPr>
        </p:nvGraphicFramePr>
        <p:xfrm>
          <a:off x="1459759" y="5109844"/>
          <a:ext cx="9237700" cy="5762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36893">
                  <a:extLst>
                    <a:ext uri="{9D8B030D-6E8A-4147-A177-3AD203B41FA5}">
                      <a16:colId xmlns:a16="http://schemas.microsoft.com/office/drawing/2014/main" val="3703706416"/>
                    </a:ext>
                  </a:extLst>
                </a:gridCol>
                <a:gridCol w="4000807">
                  <a:extLst>
                    <a:ext uri="{9D8B030D-6E8A-4147-A177-3AD203B41FA5}">
                      <a16:colId xmlns:a16="http://schemas.microsoft.com/office/drawing/2014/main" val="2224208295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algn="ctr"/>
                      <a:r>
                        <a:rPr lang="fr-FR" sz="2800" b="1" kern="1200" dirty="0">
                          <a:solidFill>
                            <a:schemeClr val="tx1"/>
                          </a:solidFill>
                          <a:effectLst/>
                          <a:latin typeface="Marianne Medium" panose="02000000000000000000" pitchFamily="50" charset="0"/>
                          <a:ea typeface="+mn-ea"/>
                          <a:cs typeface="Nirmala UI" panose="020B0502040204020203" pitchFamily="34" charset="0"/>
                        </a:rPr>
                        <a:t>4 &amp; 5 June 2025</a:t>
                      </a:r>
                    </a:p>
                  </a:txBody>
                  <a:tcPr marL="68584" marR="6858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1200"/>
                        </a:spcAft>
                      </a:pPr>
                      <a:r>
                        <a:rPr lang="fr-FR" sz="2400" b="1" kern="1200" dirty="0">
                          <a:solidFill>
                            <a:schemeClr val="tx1"/>
                          </a:solidFill>
                          <a:effectLst/>
                          <a:latin typeface="Marianne Medium" panose="02000000000000000000" pitchFamily="50" charset="0"/>
                          <a:ea typeface="+mn-ea"/>
                          <a:cs typeface="Nirmala UI" panose="020B0502040204020203" pitchFamily="34" charset="0"/>
                        </a:rPr>
                        <a:t>Anses – Maisons-Alfort</a:t>
                      </a:r>
                      <a:endParaRPr lang="fr-FR" sz="2400" b="0" kern="1200" dirty="0">
                        <a:solidFill>
                          <a:schemeClr val="tx1"/>
                        </a:solidFill>
                        <a:effectLst/>
                        <a:latin typeface="Marianne Medium" panose="02000000000000000000" pitchFamily="50" charset="0"/>
                        <a:ea typeface="+mn-ea"/>
                        <a:cs typeface="Nirmala UI" panose="020B0502040204020203" pitchFamily="34" charset="0"/>
                      </a:endParaRPr>
                    </a:p>
                  </a:txBody>
                  <a:tcPr marL="68584" marR="68584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1730"/>
                  </a:ext>
                </a:extLst>
              </a:tr>
            </a:tbl>
          </a:graphicData>
        </a:graphic>
      </p:graphicFrame>
      <p:sp>
        <p:nvSpPr>
          <p:cNvPr id="26" name="Rectangle 1"/>
          <p:cNvSpPr>
            <a:spLocks noChangeArrowheads="1"/>
          </p:cNvSpPr>
          <p:nvPr/>
        </p:nvSpPr>
        <p:spPr bwMode="auto">
          <a:xfrm>
            <a:off x="230258" y="2049774"/>
            <a:ext cx="1169669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3200" dirty="0" smtClean="0">
                <a:solidFill>
                  <a:srgbClr val="00AB95"/>
                </a:solidFill>
                <a:latin typeface="Marianne Medium" panose="02000000000000000000" pitchFamily="50" charset="0"/>
              </a:rPr>
              <a:t>Risk </a:t>
            </a:r>
            <a:r>
              <a:rPr lang="en-US" sz="3200" dirty="0">
                <a:solidFill>
                  <a:srgbClr val="00AB95"/>
                </a:solidFill>
                <a:latin typeface="Marianne Medium" panose="02000000000000000000" pitchFamily="50" charset="0"/>
              </a:rPr>
              <a:t>assessment model to estimate human exposure to ESBL </a:t>
            </a:r>
            <a:r>
              <a:rPr lang="en-US" sz="3200" i="1" dirty="0">
                <a:solidFill>
                  <a:srgbClr val="00AB95"/>
                </a:solidFill>
                <a:latin typeface="Marianne Medium" panose="02000000000000000000" pitchFamily="50" charset="0"/>
              </a:rPr>
              <a:t>E. Coli </a:t>
            </a:r>
            <a:r>
              <a:rPr lang="en-US" sz="3200" dirty="0">
                <a:solidFill>
                  <a:srgbClr val="00AB95"/>
                </a:solidFill>
                <a:latin typeface="Marianne Medium" panose="02000000000000000000" pitchFamily="50" charset="0"/>
              </a:rPr>
              <a:t>from poultry production via </a:t>
            </a:r>
          </a:p>
          <a:p>
            <a:pPr algn="ctr"/>
            <a:r>
              <a:rPr lang="en-US" sz="3200" dirty="0">
                <a:solidFill>
                  <a:srgbClr val="00AB95"/>
                </a:solidFill>
                <a:latin typeface="Marianne Medium" panose="02000000000000000000" pitchFamily="50" charset="0"/>
              </a:rPr>
              <a:t>foodborne, occupational and environmental </a:t>
            </a:r>
            <a:r>
              <a:rPr lang="en-US" sz="3200" dirty="0" smtClean="0">
                <a:solidFill>
                  <a:srgbClr val="00AB95"/>
                </a:solidFill>
                <a:latin typeface="Marianne Medium" panose="02000000000000000000" pitchFamily="50" charset="0"/>
              </a:rPr>
              <a:t>pathways</a:t>
            </a:r>
            <a:endParaRPr lang="en-US" sz="3200" dirty="0">
              <a:solidFill>
                <a:srgbClr val="00AB95"/>
              </a:solidFill>
              <a:latin typeface="Marianne Medium" panose="02000000000000000000" pitchFamily="50" charset="0"/>
            </a:endParaRPr>
          </a:p>
        </p:txBody>
      </p:sp>
      <p:grpSp>
        <p:nvGrpSpPr>
          <p:cNvPr id="3" name="Groupe 2"/>
          <p:cNvGrpSpPr/>
          <p:nvPr/>
        </p:nvGrpSpPr>
        <p:grpSpPr>
          <a:xfrm>
            <a:off x="-3444" y="6200740"/>
            <a:ext cx="12187206" cy="664397"/>
            <a:chOff x="-3444" y="6200740"/>
            <a:chExt cx="12187206" cy="664397"/>
          </a:xfrm>
        </p:grpSpPr>
        <p:pic>
          <p:nvPicPr>
            <p:cNvPr id="11" name="Image 3"/>
            <p:cNvPicPr preferRelativeResize="0"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826"/>
            <a:stretch/>
          </p:blipFill>
          <p:spPr bwMode="auto">
            <a:xfrm>
              <a:off x="-3444" y="6212880"/>
              <a:ext cx="5100991" cy="649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Image 4"/>
            <p:cNvPicPr preferRelativeResize="0"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132" t="8752"/>
            <a:stretch/>
          </p:blipFill>
          <p:spPr bwMode="auto">
            <a:xfrm>
              <a:off x="8466771" y="6200740"/>
              <a:ext cx="3716991" cy="664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Image 3"/>
            <p:cNvPicPr preferRelativeResize="0"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091" t="23420"/>
            <a:stretch/>
          </p:blipFill>
          <p:spPr bwMode="auto">
            <a:xfrm>
              <a:off x="5050946" y="6305134"/>
              <a:ext cx="3461925" cy="557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" name="ZoneTexte 13"/>
          <p:cNvSpPr txBox="1"/>
          <p:nvPr/>
        </p:nvSpPr>
        <p:spPr>
          <a:xfrm>
            <a:off x="4150748" y="3906516"/>
            <a:ext cx="3855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latin typeface="Marianne Medium" panose="02000000000000000000" pitchFamily="50" charset="0"/>
              </a:rPr>
              <a:t>Subhasish BASAK</a:t>
            </a:r>
            <a:r>
              <a:rPr lang="fr-FR" sz="2400" dirty="0" smtClean="0">
                <a:solidFill>
                  <a:srgbClr val="CC0000"/>
                </a:solidFill>
                <a:latin typeface="Marianne Medium" panose="02000000000000000000" pitchFamily="50" charset="0"/>
              </a:rPr>
              <a:t/>
            </a:r>
            <a:br>
              <a:rPr lang="fr-FR" sz="2400" dirty="0" smtClean="0">
                <a:solidFill>
                  <a:srgbClr val="CC0000"/>
                </a:solidFill>
                <a:latin typeface="Marianne Medium" panose="02000000000000000000" pitchFamily="50" charset="0"/>
              </a:rPr>
            </a:br>
            <a:r>
              <a:rPr lang="fr-FR" sz="1600" b="1" dirty="0" smtClean="0">
                <a:solidFill>
                  <a:srgbClr val="009F79"/>
                </a:solidFill>
                <a:latin typeface="Marianne Medium" panose="02000000000000000000" pitchFamily="50" charset="0"/>
              </a:rPr>
              <a:t>ANSES - Laboratoire de Lyon</a:t>
            </a:r>
            <a:endParaRPr lang="fr-FR" sz="1600" b="1" dirty="0">
              <a:solidFill>
                <a:srgbClr val="009F79"/>
              </a:solidFill>
              <a:latin typeface="Marianne Medium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925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BBDA1-DD2A-409E-85DF-632157FD849C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18" name="Titre 2"/>
          <p:cNvSpPr txBox="1">
            <a:spLocks/>
          </p:cNvSpPr>
          <p:nvPr/>
        </p:nvSpPr>
        <p:spPr>
          <a:xfrm>
            <a:off x="275431" y="254327"/>
            <a:ext cx="8157703" cy="6369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b="1" dirty="0" smtClean="0">
                <a:solidFill>
                  <a:srgbClr val="009F79"/>
                </a:solidFill>
                <a:latin typeface="Marianne Medium" panose="02000000000000000000" pitchFamily="50" charset="0"/>
              </a:rPr>
              <a:t>JPIAMR </a:t>
            </a:r>
            <a:r>
              <a:rPr lang="fr-FR" sz="3600" b="1" dirty="0" err="1" smtClean="0">
                <a:solidFill>
                  <a:srgbClr val="009F79"/>
                </a:solidFill>
                <a:latin typeface="Marianne Medium" panose="02000000000000000000" pitchFamily="50" charset="0"/>
              </a:rPr>
              <a:t>project</a:t>
            </a:r>
            <a:r>
              <a:rPr lang="fr-FR" sz="3600" b="1" dirty="0" smtClean="0">
                <a:solidFill>
                  <a:srgbClr val="009F79"/>
                </a:solidFill>
                <a:latin typeface="Marianne Medium" panose="02000000000000000000" pitchFamily="50" charset="0"/>
              </a:rPr>
              <a:t> ENVIRE</a:t>
            </a:r>
            <a:endParaRPr lang="fr-FR" sz="3600" b="1" dirty="0">
              <a:solidFill>
                <a:srgbClr val="009F79"/>
              </a:solidFill>
              <a:latin typeface="Marianne Medium" panose="02000000000000000000" pitchFamily="50" charset="0"/>
            </a:endParaRPr>
          </a:p>
        </p:txBody>
      </p:sp>
      <p:grpSp>
        <p:nvGrpSpPr>
          <p:cNvPr id="23" name="Groupe 22"/>
          <p:cNvGrpSpPr/>
          <p:nvPr/>
        </p:nvGrpSpPr>
        <p:grpSpPr>
          <a:xfrm>
            <a:off x="275431" y="1158165"/>
            <a:ext cx="11695589" cy="1477328"/>
            <a:chOff x="275431" y="1158165"/>
            <a:chExt cx="11695589" cy="1477328"/>
          </a:xfrm>
        </p:grpSpPr>
        <p:sp>
          <p:nvSpPr>
            <p:cNvPr id="19" name="ZoneTexte 18"/>
            <p:cNvSpPr txBox="1"/>
            <p:nvPr/>
          </p:nvSpPr>
          <p:spPr>
            <a:xfrm>
              <a:off x="275431" y="1158165"/>
              <a:ext cx="11695589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2400" b="1" dirty="0" smtClean="0">
                  <a:latin typeface="Marianne Medium" panose="02000000000000000000" pitchFamily="50" charset="0"/>
                </a:rPr>
                <a:t>Objective </a:t>
              </a:r>
            </a:p>
            <a:p>
              <a:pPr lvl="1"/>
              <a:r>
                <a:rPr lang="en-US" sz="2400" dirty="0" smtClean="0">
                  <a:latin typeface="Marianne Medium" panose="02000000000000000000" pitchFamily="50" charset="0"/>
                </a:rPr>
                <a:t>Reduction </a:t>
              </a:r>
              <a:r>
                <a:rPr lang="en-US" sz="2400" dirty="0">
                  <a:latin typeface="Marianne Medium" panose="02000000000000000000" pitchFamily="50" charset="0"/>
                </a:rPr>
                <a:t>of </a:t>
              </a:r>
              <a:r>
                <a:rPr lang="en-US" sz="2400" dirty="0" smtClean="0">
                  <a:latin typeface="Marianne Medium" panose="02000000000000000000" pitchFamily="50" charset="0"/>
                </a:rPr>
                <a:t>selection and spread </a:t>
              </a:r>
              <a:r>
                <a:rPr lang="en-US" sz="2400" dirty="0">
                  <a:latin typeface="Marianne Medium" panose="02000000000000000000" pitchFamily="50" charset="0"/>
                </a:rPr>
                <a:t>of </a:t>
              </a:r>
              <a:r>
                <a:rPr lang="en-US" sz="2400" dirty="0">
                  <a:solidFill>
                    <a:srgbClr val="FF0000"/>
                  </a:solidFill>
                  <a:latin typeface="Marianne Medium" panose="02000000000000000000" pitchFamily="50" charset="0"/>
                </a:rPr>
                <a:t>A</a:t>
              </a:r>
              <a:r>
                <a:rPr lang="en-US" sz="2400" dirty="0" smtClean="0">
                  <a:solidFill>
                    <a:srgbClr val="FF0000"/>
                  </a:solidFill>
                  <a:latin typeface="Marianne Medium" panose="02000000000000000000" pitchFamily="50" charset="0"/>
                </a:rPr>
                <a:t>ntimicrobial </a:t>
              </a:r>
              <a:r>
                <a:rPr lang="en-US" sz="2400" dirty="0">
                  <a:solidFill>
                    <a:srgbClr val="FF0000"/>
                  </a:solidFill>
                  <a:latin typeface="Marianne Medium" panose="02000000000000000000" pitchFamily="50" charset="0"/>
                </a:rPr>
                <a:t>R</a:t>
              </a:r>
              <a:r>
                <a:rPr lang="en-US" sz="2400" dirty="0" smtClean="0">
                  <a:solidFill>
                    <a:srgbClr val="FF0000"/>
                  </a:solidFill>
                  <a:latin typeface="Marianne Medium" panose="02000000000000000000" pitchFamily="50" charset="0"/>
                </a:rPr>
                <a:t>esistance</a:t>
              </a:r>
              <a:r>
                <a:rPr lang="en-US" sz="2400" dirty="0" smtClean="0">
                  <a:latin typeface="Marianne Medium" panose="02000000000000000000" pitchFamily="50" charset="0"/>
                </a:rPr>
                <a:t> (AMR) </a:t>
              </a:r>
              <a:br>
                <a:rPr lang="en-US" sz="2400" dirty="0" smtClean="0">
                  <a:latin typeface="Marianne Medium" panose="02000000000000000000" pitchFamily="50" charset="0"/>
                </a:rPr>
              </a:br>
              <a:r>
                <a:rPr lang="en-US" sz="2400" dirty="0" smtClean="0">
                  <a:latin typeface="Marianne Medium" panose="02000000000000000000" pitchFamily="50" charset="0"/>
                </a:rPr>
                <a:t>from </a:t>
              </a:r>
              <a:r>
                <a:rPr lang="en-US" sz="2400" b="1" dirty="0" smtClean="0">
                  <a:latin typeface="Marianne Medium" panose="02000000000000000000" pitchFamily="50" charset="0"/>
                </a:rPr>
                <a:t>broiler chicken      farms </a:t>
              </a:r>
              <a:r>
                <a:rPr lang="en-US" sz="2400" dirty="0">
                  <a:latin typeface="Marianne Medium" panose="02000000000000000000" pitchFamily="50" charset="0"/>
                </a:rPr>
                <a:t>to the </a:t>
              </a:r>
              <a:r>
                <a:rPr lang="en-US" sz="2400" dirty="0" smtClean="0">
                  <a:latin typeface="Marianne Medium" panose="02000000000000000000" pitchFamily="50" charset="0"/>
                </a:rPr>
                <a:t>environment      , </a:t>
              </a:r>
              <a:r>
                <a:rPr lang="en-US" sz="2400" dirty="0">
                  <a:latin typeface="Marianne Medium" panose="02000000000000000000" pitchFamily="50" charset="0"/>
                </a:rPr>
                <a:t>and </a:t>
              </a:r>
              <a:r>
                <a:rPr lang="en-US" sz="2400" dirty="0" smtClean="0">
                  <a:latin typeface="Marianne Medium" panose="02000000000000000000" pitchFamily="50" charset="0"/>
                </a:rPr>
                <a:t>humans</a:t>
              </a:r>
              <a:r>
                <a:rPr lang="en-US" sz="2400" dirty="0">
                  <a:latin typeface="Marianne Medium" panose="02000000000000000000" pitchFamily="50" charset="0"/>
                </a:rPr>
                <a:t> </a:t>
              </a:r>
              <a:endParaRPr lang="fr-FR" sz="2400" dirty="0">
                <a:latin typeface="Marianne Medium" panose="02000000000000000000" pitchFamily="50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fr-FR" dirty="0" smtClean="0">
                <a:latin typeface="Marianne Medium" panose="02000000000000000000" pitchFamily="50" charset="0"/>
              </a:endParaRPr>
            </a:p>
          </p:txBody>
        </p:sp>
        <p:pic>
          <p:nvPicPr>
            <p:cNvPr id="20" name="Image 1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0500" y="1927860"/>
              <a:ext cx="417868" cy="408890"/>
            </a:xfrm>
            <a:prstGeom prst="rect">
              <a:avLst/>
            </a:prstGeom>
          </p:spPr>
        </p:pic>
        <p:pic>
          <p:nvPicPr>
            <p:cNvPr id="21" name="Image 2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20443" y="1896829"/>
              <a:ext cx="396240" cy="396240"/>
            </a:xfrm>
            <a:prstGeom prst="rect">
              <a:avLst/>
            </a:prstGeom>
          </p:spPr>
        </p:pic>
        <p:pic>
          <p:nvPicPr>
            <p:cNvPr id="22" name="Image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6760" y="1957238"/>
              <a:ext cx="388620" cy="388620"/>
            </a:xfrm>
            <a:prstGeom prst="rect">
              <a:avLst/>
            </a:prstGeom>
          </p:spPr>
        </p:pic>
      </p:grpSp>
      <p:pic>
        <p:nvPicPr>
          <p:cNvPr id="31" name="Grafik 1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422513" y="3059543"/>
            <a:ext cx="1328250" cy="1618875"/>
          </a:xfrm>
          <a:prstGeom prst="rect">
            <a:avLst/>
          </a:prstGeom>
        </p:spPr>
      </p:pic>
      <p:pic>
        <p:nvPicPr>
          <p:cNvPr id="32" name="Image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980" y="3171259"/>
            <a:ext cx="1040626" cy="884532"/>
          </a:xfrm>
          <a:prstGeom prst="rect">
            <a:avLst/>
          </a:prstGeom>
        </p:spPr>
      </p:pic>
      <p:pic>
        <p:nvPicPr>
          <p:cNvPr id="33" name="Image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161" y="3332932"/>
            <a:ext cx="1880416" cy="561187"/>
          </a:xfrm>
          <a:prstGeom prst="rect">
            <a:avLst/>
          </a:prstGeom>
        </p:spPr>
      </p:pic>
      <p:pic>
        <p:nvPicPr>
          <p:cNvPr id="34" name="Image 3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462" y="3092224"/>
            <a:ext cx="1583454" cy="1187591"/>
          </a:xfrm>
          <a:prstGeom prst="rect">
            <a:avLst/>
          </a:prstGeom>
        </p:spPr>
      </p:pic>
      <p:pic>
        <p:nvPicPr>
          <p:cNvPr id="35" name="Image 3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352" y="3265739"/>
            <a:ext cx="1160499" cy="840562"/>
          </a:xfrm>
          <a:prstGeom prst="rect">
            <a:avLst/>
          </a:prstGeom>
        </p:spPr>
      </p:pic>
      <p:pic>
        <p:nvPicPr>
          <p:cNvPr id="36" name="Image 3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8867" y="3031733"/>
            <a:ext cx="1308572" cy="1308572"/>
          </a:xfrm>
          <a:prstGeom prst="rect">
            <a:avLst/>
          </a:prstGeom>
        </p:spPr>
      </p:pic>
      <p:pic>
        <p:nvPicPr>
          <p:cNvPr id="37" name="Image 3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88" y="3220114"/>
            <a:ext cx="936128" cy="936128"/>
          </a:xfrm>
          <a:prstGeom prst="rect">
            <a:avLst/>
          </a:prstGeom>
        </p:spPr>
      </p:pic>
      <p:sp>
        <p:nvSpPr>
          <p:cNvPr id="38" name="ZoneTexte 37"/>
          <p:cNvSpPr txBox="1"/>
          <p:nvPr/>
        </p:nvSpPr>
        <p:spPr>
          <a:xfrm>
            <a:off x="269632" y="2610099"/>
            <a:ext cx="11707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b="1" dirty="0">
                <a:latin typeface="Marianne Medium" panose="02000000000000000000" pitchFamily="50" charset="0"/>
              </a:rPr>
              <a:t>Project </a:t>
            </a:r>
            <a:r>
              <a:rPr lang="fr-FR" sz="2400" b="1" dirty="0" err="1" smtClean="0">
                <a:latin typeface="Marianne Medium" panose="02000000000000000000" pitchFamily="50" charset="0"/>
              </a:rPr>
              <a:t>partners</a:t>
            </a:r>
            <a:endParaRPr lang="fr-FR" sz="2400" b="1" dirty="0">
              <a:latin typeface="Marianne Medium" panose="02000000000000000000" pitchFamily="50" charset="0"/>
            </a:endParaRPr>
          </a:p>
        </p:txBody>
      </p:sp>
      <p:sp>
        <p:nvSpPr>
          <p:cNvPr id="39" name="ZoneTexte 38"/>
          <p:cNvSpPr txBox="1"/>
          <p:nvPr/>
        </p:nvSpPr>
        <p:spPr>
          <a:xfrm>
            <a:off x="269632" y="4790805"/>
            <a:ext cx="117071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smtClean="0">
                <a:solidFill>
                  <a:srgbClr val="009F79"/>
                </a:solidFill>
                <a:latin typeface="Marianne Medium" panose="02000000000000000000" pitchFamily="50" charset="0"/>
              </a:rPr>
              <a:t>Quantitative </a:t>
            </a:r>
            <a:r>
              <a:rPr lang="fr-FR" sz="2400" dirty="0" err="1" smtClean="0">
                <a:solidFill>
                  <a:srgbClr val="009F79"/>
                </a:solidFill>
                <a:latin typeface="Marianne Medium" panose="02000000000000000000" pitchFamily="50" charset="0"/>
              </a:rPr>
              <a:t>Microbiological</a:t>
            </a:r>
            <a:r>
              <a:rPr lang="fr-FR" sz="2400" dirty="0" smtClean="0">
                <a:solidFill>
                  <a:srgbClr val="009F79"/>
                </a:solidFill>
                <a:latin typeface="Marianne Medium" panose="02000000000000000000" pitchFamily="50" charset="0"/>
              </a:rPr>
              <a:t> </a:t>
            </a:r>
            <a:r>
              <a:rPr lang="fr-FR" sz="2400" dirty="0" err="1" smtClean="0">
                <a:solidFill>
                  <a:srgbClr val="009F79"/>
                </a:solidFill>
                <a:latin typeface="Marianne Medium" panose="02000000000000000000" pitchFamily="50" charset="0"/>
              </a:rPr>
              <a:t>Risk</a:t>
            </a:r>
            <a:r>
              <a:rPr lang="fr-FR" sz="2400" dirty="0" smtClean="0">
                <a:solidFill>
                  <a:srgbClr val="009F79"/>
                </a:solidFill>
                <a:latin typeface="Marianne Medium" panose="02000000000000000000" pitchFamily="50" charset="0"/>
              </a:rPr>
              <a:t> </a:t>
            </a:r>
            <a:r>
              <a:rPr lang="fr-FR" sz="2400" dirty="0" err="1" smtClean="0">
                <a:solidFill>
                  <a:srgbClr val="009F79"/>
                </a:solidFill>
                <a:latin typeface="Marianne Medium" panose="02000000000000000000" pitchFamily="50" charset="0"/>
              </a:rPr>
              <a:t>Assessment</a:t>
            </a:r>
            <a:r>
              <a:rPr lang="fr-FR" sz="2400" dirty="0" smtClean="0">
                <a:solidFill>
                  <a:srgbClr val="009F79"/>
                </a:solidFill>
                <a:latin typeface="Marianne Medium" panose="02000000000000000000" pitchFamily="50" charset="0"/>
              </a:rPr>
              <a:t> </a:t>
            </a:r>
            <a:r>
              <a:rPr lang="fr-FR" sz="2400" dirty="0" smtClean="0">
                <a:latin typeface="Marianne Medium" panose="02000000000000000000" pitchFamily="50" charset="0"/>
              </a:rPr>
              <a:t>(QMRA) model</a:t>
            </a:r>
            <a:br>
              <a:rPr lang="fr-FR" sz="2400" dirty="0" smtClean="0">
                <a:latin typeface="Marianne Medium" panose="02000000000000000000" pitchFamily="50" charset="0"/>
              </a:rPr>
            </a:br>
            <a:endParaRPr lang="fr-FR" sz="2400" dirty="0" smtClean="0">
              <a:latin typeface="Marianne Medium" panose="02000000000000000000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err="1" smtClean="0">
                <a:latin typeface="Marianne Medium" panose="02000000000000000000" pitchFamily="50" charset="0"/>
              </a:rPr>
              <a:t>Multipathway</a:t>
            </a:r>
            <a:r>
              <a:rPr lang="fr-FR" sz="2400" dirty="0" smtClean="0">
                <a:latin typeface="Marianne Medium" panose="02000000000000000000" pitchFamily="50" charset="0"/>
              </a:rPr>
              <a:t> </a:t>
            </a:r>
            <a:r>
              <a:rPr lang="fr-FR" sz="2400" dirty="0" err="1" smtClean="0">
                <a:latin typeface="Marianne Medium" panose="02000000000000000000" pitchFamily="50" charset="0"/>
              </a:rPr>
              <a:t>exposure</a:t>
            </a:r>
            <a:r>
              <a:rPr lang="fr-FR" sz="2400" dirty="0" smtClean="0">
                <a:latin typeface="Marianne Medium" panose="02000000000000000000" pitchFamily="50" charset="0"/>
              </a:rPr>
              <a:t> of </a:t>
            </a:r>
            <a:r>
              <a:rPr lang="fr-FR" sz="2400" dirty="0" smtClean="0">
                <a:solidFill>
                  <a:srgbClr val="FF0000"/>
                </a:solidFill>
                <a:latin typeface="Marianne Medium" panose="02000000000000000000" pitchFamily="50" charset="0"/>
              </a:rPr>
              <a:t>ESBL </a:t>
            </a:r>
            <a:r>
              <a:rPr lang="fr-FR" sz="2400" i="1" dirty="0" smtClean="0">
                <a:solidFill>
                  <a:srgbClr val="FF0000"/>
                </a:solidFill>
                <a:latin typeface="Marianne Medium" panose="02000000000000000000" pitchFamily="50" charset="0"/>
              </a:rPr>
              <a:t>E. coli</a:t>
            </a:r>
            <a:r>
              <a:rPr lang="fr-FR" sz="2400" dirty="0" smtClean="0">
                <a:latin typeface="Marianne Medium" panose="02000000000000000000" pitchFamily="50" charset="0"/>
              </a:rPr>
              <a:t>   </a:t>
            </a:r>
            <a:endParaRPr lang="fr-FR" sz="2400" dirty="0">
              <a:latin typeface="Marianne Medium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226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BBDA1-DD2A-409E-85DF-632157FD849C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4355867" y="4139759"/>
            <a:ext cx="3683901" cy="12596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/>
            <a:endParaRPr lang="fr-FR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6980777" y="4573681"/>
            <a:ext cx="979340" cy="430887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514350"/>
            <a:r>
              <a:rPr lang="fr-FR" sz="1050" b="1" dirty="0">
                <a:latin typeface="Calibri" panose="020F0502020204030204"/>
              </a:rPr>
              <a:t>Occupational contact</a:t>
            </a:r>
          </a:p>
        </p:txBody>
      </p:sp>
      <p:cxnSp>
        <p:nvCxnSpPr>
          <p:cNvPr id="6" name="Connecteur droit avec flèche 5"/>
          <p:cNvCxnSpPr>
            <a:stCxn id="47" idx="3"/>
            <a:endCxn id="15" idx="1"/>
          </p:cNvCxnSpPr>
          <p:nvPr/>
        </p:nvCxnSpPr>
        <p:spPr>
          <a:xfrm>
            <a:off x="1965153" y="3306355"/>
            <a:ext cx="126178" cy="1888"/>
          </a:xfrm>
          <a:prstGeom prst="straightConnector1">
            <a:avLst/>
          </a:prstGeom>
          <a:ln>
            <a:solidFill>
              <a:srgbClr val="2626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/>
        </p:nvSpPr>
        <p:spPr>
          <a:xfrm rot="5400000">
            <a:off x="7627360" y="4574124"/>
            <a:ext cx="1254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14350"/>
            <a:r>
              <a:rPr lang="fr-FR" sz="1400" b="1" dirty="0">
                <a:latin typeface="Calibri" panose="020F0502020204030204"/>
              </a:rPr>
              <a:t>Occupational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2085" y="1198611"/>
            <a:ext cx="3683902" cy="12549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/>
            <a:endParaRPr lang="fr-FR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6965426" y="2157649"/>
            <a:ext cx="975980" cy="246221"/>
          </a:xfrm>
          <a:prstGeom prst="rect">
            <a:avLst/>
          </a:prstGeom>
          <a:solidFill>
            <a:schemeClr val="bg2"/>
          </a:solidFill>
          <a:ln>
            <a:solidFill>
              <a:srgbClr val="3C3C3C"/>
            </a:solidFill>
          </a:ln>
        </p:spPr>
        <p:txBody>
          <a:bodyPr wrap="square" rtlCol="0">
            <a:spAutoFit/>
          </a:bodyPr>
          <a:lstStyle/>
          <a:p>
            <a:pPr algn="ctr" defTabSz="514350"/>
            <a:r>
              <a:rPr lang="fr-FR" sz="1000" b="1" dirty="0" err="1" smtClean="0">
                <a:latin typeface="Calibri" panose="020F0502020204030204"/>
              </a:rPr>
              <a:t>Crop</a:t>
            </a:r>
            <a:r>
              <a:rPr lang="fr-FR" sz="1000" b="1" dirty="0">
                <a:latin typeface="Calibri" panose="020F0502020204030204"/>
              </a:rPr>
              <a:t> </a:t>
            </a:r>
            <a:r>
              <a:rPr lang="fr-FR" sz="1000" b="1" dirty="0" smtClean="0">
                <a:latin typeface="Calibri" panose="020F0502020204030204"/>
              </a:rPr>
              <a:t>irrigation</a:t>
            </a:r>
            <a:endParaRPr lang="fr-FR" sz="1000" b="1" dirty="0">
              <a:latin typeface="Calibri" panose="020F0502020204030204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6966824" y="1238680"/>
            <a:ext cx="969727" cy="43088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 defTabSz="514350"/>
            <a:r>
              <a:rPr lang="fr-FR" sz="1050" b="1" dirty="0">
                <a:latin typeface="Calibri" panose="020F0502020204030204"/>
              </a:rPr>
              <a:t>Recreational swimming</a:t>
            </a:r>
          </a:p>
        </p:txBody>
      </p:sp>
      <p:sp>
        <p:nvSpPr>
          <p:cNvPr id="11" name="ZoneTexte 10"/>
          <p:cNvSpPr txBox="1"/>
          <p:nvPr/>
        </p:nvSpPr>
        <p:spPr>
          <a:xfrm rot="5400000">
            <a:off x="7581600" y="1658484"/>
            <a:ext cx="13484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514350"/>
            <a:r>
              <a:rPr lang="fr-FR" sz="1400" b="1" dirty="0">
                <a:latin typeface="Calibri" panose="020F0502020204030204"/>
              </a:rPr>
              <a:t>Environmental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3355" y="2675593"/>
            <a:ext cx="3683897" cy="12549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/>
            <a:endParaRPr lang="fr-FR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6975122" y="3106964"/>
            <a:ext cx="979338" cy="43088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 defTabSz="514350"/>
            <a:r>
              <a:rPr lang="fr-FR" sz="1050" b="1" dirty="0">
                <a:latin typeface="Calibri" panose="020F0502020204030204"/>
              </a:rPr>
              <a:t>Broiler meat consumption</a:t>
            </a:r>
          </a:p>
        </p:txBody>
      </p:sp>
      <p:sp>
        <p:nvSpPr>
          <p:cNvPr id="14" name="ZoneTexte 13"/>
          <p:cNvSpPr txBox="1"/>
          <p:nvPr/>
        </p:nvSpPr>
        <p:spPr>
          <a:xfrm rot="5400000">
            <a:off x="7730639" y="3173472"/>
            <a:ext cx="104835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514350"/>
            <a:r>
              <a:rPr lang="fr-FR" sz="1400" b="1" dirty="0">
                <a:latin typeface="Calibri" panose="020F0502020204030204"/>
              </a:rPr>
              <a:t>Foodborne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2091331" y="3154354"/>
            <a:ext cx="731475" cy="307777"/>
          </a:xfrm>
          <a:prstGeom prst="rect">
            <a:avLst/>
          </a:prstGeom>
          <a:solidFill>
            <a:schemeClr val="bg1"/>
          </a:solidFill>
          <a:ln w="12700">
            <a:solidFill>
              <a:srgbClr val="262626"/>
            </a:solidFill>
          </a:ln>
        </p:spPr>
        <p:txBody>
          <a:bodyPr wrap="square" rtlCol="0">
            <a:spAutoFit/>
          </a:bodyPr>
          <a:lstStyle/>
          <a:p>
            <a:pPr algn="ctr" defTabSz="514350"/>
            <a:r>
              <a:rPr lang="fr-FR" sz="1400" dirty="0">
                <a:latin typeface="Calibri" panose="020F0502020204030204"/>
              </a:rPr>
              <a:t> </a:t>
            </a:r>
            <a:r>
              <a:rPr lang="fr-FR" sz="1400" b="1" dirty="0">
                <a:latin typeface="Calibri" panose="020F0502020204030204"/>
              </a:rPr>
              <a:t>Farm</a:t>
            </a:r>
          </a:p>
        </p:txBody>
      </p:sp>
      <p:cxnSp>
        <p:nvCxnSpPr>
          <p:cNvPr id="16" name="Connecteur droit avec flèche 15"/>
          <p:cNvCxnSpPr>
            <a:endCxn id="15" idx="2"/>
          </p:cNvCxnSpPr>
          <p:nvPr/>
        </p:nvCxnSpPr>
        <p:spPr>
          <a:xfrm flipV="1">
            <a:off x="2457068" y="3462131"/>
            <a:ext cx="1" cy="117466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947" y="4607762"/>
            <a:ext cx="288429" cy="293133"/>
          </a:xfrm>
          <a:prstGeom prst="rect">
            <a:avLst/>
          </a:prstGeom>
        </p:spPr>
      </p:pic>
      <p:sp>
        <p:nvSpPr>
          <p:cNvPr id="18" name="ZoneTexte 17"/>
          <p:cNvSpPr txBox="1"/>
          <p:nvPr/>
        </p:nvSpPr>
        <p:spPr>
          <a:xfrm>
            <a:off x="2062626" y="4935470"/>
            <a:ext cx="878818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fr-FR" sz="1200" dirty="0"/>
              <a:t>Thinning</a:t>
            </a:r>
          </a:p>
        </p:txBody>
      </p:sp>
      <p:grpSp>
        <p:nvGrpSpPr>
          <p:cNvPr id="19" name="Groupe 18"/>
          <p:cNvGrpSpPr/>
          <p:nvPr/>
        </p:nvGrpSpPr>
        <p:grpSpPr>
          <a:xfrm>
            <a:off x="2174894" y="1579905"/>
            <a:ext cx="554130" cy="503885"/>
            <a:chOff x="1739484" y="1044716"/>
            <a:chExt cx="951624" cy="871833"/>
          </a:xfrm>
        </p:grpSpPr>
        <p:sp>
          <p:nvSpPr>
            <p:cNvPr id="20" name="Rectangle à coins arrondis 19"/>
            <p:cNvSpPr/>
            <p:nvPr/>
          </p:nvSpPr>
          <p:spPr>
            <a:xfrm>
              <a:off x="1739484" y="1044716"/>
              <a:ext cx="951624" cy="871833"/>
            </a:xfrm>
            <a:prstGeom prst="roundRect">
              <a:avLst>
                <a:gd name="adj" fmla="val 7547"/>
              </a:avLst>
            </a:prstGeom>
            <a:solidFill>
              <a:schemeClr val="bg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/>
            </a:p>
          </p:txBody>
        </p:sp>
        <p:pic>
          <p:nvPicPr>
            <p:cNvPr id="21" name="Image 20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632" b="19172"/>
            <a:stretch/>
          </p:blipFill>
          <p:spPr>
            <a:xfrm>
              <a:off x="1781068" y="1199362"/>
              <a:ext cx="868455" cy="652007"/>
            </a:xfrm>
            <a:prstGeom prst="rect">
              <a:avLst/>
            </a:prstGeom>
            <a:solidFill>
              <a:schemeClr val="bg1"/>
            </a:solidFill>
          </p:spPr>
        </p:pic>
      </p:grpSp>
      <p:grpSp>
        <p:nvGrpSpPr>
          <p:cNvPr id="22" name="Groupe 21"/>
          <p:cNvGrpSpPr/>
          <p:nvPr/>
        </p:nvGrpSpPr>
        <p:grpSpPr>
          <a:xfrm>
            <a:off x="2943435" y="2434213"/>
            <a:ext cx="867433" cy="1730381"/>
            <a:chOff x="-108851" y="2248405"/>
            <a:chExt cx="1156577" cy="2307175"/>
          </a:xfrm>
        </p:grpSpPr>
        <p:grpSp>
          <p:nvGrpSpPr>
            <p:cNvPr id="23" name="Groupe 22"/>
            <p:cNvGrpSpPr/>
            <p:nvPr/>
          </p:nvGrpSpPr>
          <p:grpSpPr>
            <a:xfrm>
              <a:off x="-12178" y="2333382"/>
              <a:ext cx="963229" cy="2137220"/>
              <a:chOff x="425370" y="2533307"/>
              <a:chExt cx="963229" cy="2137220"/>
            </a:xfrm>
          </p:grpSpPr>
          <p:sp>
            <p:nvSpPr>
              <p:cNvPr id="25" name="ZoneTexte 24"/>
              <p:cNvSpPr txBox="1"/>
              <p:nvPr/>
            </p:nvSpPr>
            <p:spPr>
              <a:xfrm>
                <a:off x="679658" y="3449588"/>
                <a:ext cx="5831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200" b="1" dirty="0"/>
                  <a:t>OR</a:t>
                </a:r>
                <a:endParaRPr lang="fr-FR" sz="1200" dirty="0"/>
              </a:p>
            </p:txBody>
          </p:sp>
          <p:grpSp>
            <p:nvGrpSpPr>
              <p:cNvPr id="26" name="Groupe 25"/>
              <p:cNvGrpSpPr/>
              <p:nvPr/>
            </p:nvGrpSpPr>
            <p:grpSpPr>
              <a:xfrm>
                <a:off x="425370" y="3764475"/>
                <a:ext cx="961620" cy="906052"/>
                <a:chOff x="7172048" y="424798"/>
                <a:chExt cx="1212349" cy="1265547"/>
              </a:xfrm>
            </p:grpSpPr>
            <p:pic>
              <p:nvPicPr>
                <p:cNvPr id="33" name="Image 32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303561" y="1098513"/>
                  <a:ext cx="404558" cy="485731"/>
                </a:xfrm>
                <a:prstGeom prst="rect">
                  <a:avLst/>
                </a:prstGeom>
              </p:spPr>
            </p:pic>
            <p:pic>
              <p:nvPicPr>
                <p:cNvPr id="34" name="Image 33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811153" y="506165"/>
                  <a:ext cx="433102" cy="520003"/>
                </a:xfrm>
                <a:prstGeom prst="rect">
                  <a:avLst/>
                </a:prstGeom>
              </p:spPr>
            </p:pic>
            <p:pic>
              <p:nvPicPr>
                <p:cNvPr id="35" name="Image 34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87536" y="506166"/>
                  <a:ext cx="433102" cy="520003"/>
                </a:xfrm>
                <a:prstGeom prst="rect">
                  <a:avLst/>
                </a:prstGeom>
              </p:spPr>
            </p:pic>
            <p:pic>
              <p:nvPicPr>
                <p:cNvPr id="36" name="Image 35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818960" y="1057830"/>
                  <a:ext cx="433102" cy="520003"/>
                </a:xfrm>
                <a:prstGeom prst="rect">
                  <a:avLst/>
                </a:prstGeom>
              </p:spPr>
            </p:pic>
            <p:sp>
              <p:nvSpPr>
                <p:cNvPr id="37" name="Rectangle à coins arrondis 36"/>
                <p:cNvSpPr/>
                <p:nvPr/>
              </p:nvSpPr>
              <p:spPr>
                <a:xfrm>
                  <a:off x="7172048" y="424798"/>
                  <a:ext cx="1212349" cy="1265547"/>
                </a:xfrm>
                <a:prstGeom prst="roundRect">
                  <a:avLst>
                    <a:gd name="adj" fmla="val 4135"/>
                  </a:avLst>
                </a:prstGeom>
                <a:noFill/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200"/>
                </a:p>
              </p:txBody>
            </p:sp>
          </p:grpSp>
          <p:grpSp>
            <p:nvGrpSpPr>
              <p:cNvPr id="27" name="Groupe 26"/>
              <p:cNvGrpSpPr/>
              <p:nvPr/>
            </p:nvGrpSpPr>
            <p:grpSpPr>
              <a:xfrm>
                <a:off x="432451" y="2533307"/>
                <a:ext cx="956148" cy="900263"/>
                <a:chOff x="5330863" y="398574"/>
                <a:chExt cx="1212349" cy="1265547"/>
              </a:xfrm>
            </p:grpSpPr>
            <p:sp>
              <p:nvSpPr>
                <p:cNvPr id="28" name="Rectangle à coins arrondis 27"/>
                <p:cNvSpPr/>
                <p:nvPr/>
              </p:nvSpPr>
              <p:spPr>
                <a:xfrm>
                  <a:off x="5330863" y="398574"/>
                  <a:ext cx="1212349" cy="1265547"/>
                </a:xfrm>
                <a:prstGeom prst="roundRect">
                  <a:avLst>
                    <a:gd name="adj" fmla="val 4135"/>
                  </a:avLst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200"/>
                </a:p>
              </p:txBody>
            </p:sp>
            <p:pic>
              <p:nvPicPr>
                <p:cNvPr id="29" name="Image 28"/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1397" y="1081322"/>
                  <a:ext cx="404558" cy="485731"/>
                </a:xfrm>
                <a:prstGeom prst="rect">
                  <a:avLst/>
                </a:prstGeom>
              </p:spPr>
            </p:pic>
            <p:pic>
              <p:nvPicPr>
                <p:cNvPr id="30" name="Image 29"/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72324" y="503741"/>
                  <a:ext cx="404558" cy="485731"/>
                </a:xfrm>
                <a:prstGeom prst="rect">
                  <a:avLst/>
                </a:prstGeom>
              </p:spPr>
            </p:pic>
            <p:pic>
              <p:nvPicPr>
                <p:cNvPr id="31" name="Image 30"/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82408" y="503741"/>
                  <a:ext cx="404558" cy="485731"/>
                </a:xfrm>
                <a:prstGeom prst="rect">
                  <a:avLst/>
                </a:prstGeom>
              </p:spPr>
            </p:pic>
            <p:pic>
              <p:nvPicPr>
                <p:cNvPr id="32" name="Image 31"/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82408" y="1068734"/>
                  <a:ext cx="404558" cy="485731"/>
                </a:xfrm>
                <a:prstGeom prst="rect">
                  <a:avLst/>
                </a:prstGeom>
              </p:spPr>
            </p:pic>
          </p:grpSp>
        </p:grpSp>
        <p:sp>
          <p:nvSpPr>
            <p:cNvPr id="24" name="Rectangle 23"/>
            <p:cNvSpPr/>
            <p:nvPr/>
          </p:nvSpPr>
          <p:spPr>
            <a:xfrm>
              <a:off x="-108851" y="2248405"/>
              <a:ext cx="1156577" cy="2307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/>
            </a:p>
          </p:txBody>
        </p:sp>
      </p:grpSp>
      <p:cxnSp>
        <p:nvCxnSpPr>
          <p:cNvPr id="38" name="Connecteur droit avec flèche 37"/>
          <p:cNvCxnSpPr>
            <a:stCxn id="15" idx="3"/>
            <a:endCxn id="24" idx="1"/>
          </p:cNvCxnSpPr>
          <p:nvPr/>
        </p:nvCxnSpPr>
        <p:spPr>
          <a:xfrm flipV="1">
            <a:off x="2822806" y="3299404"/>
            <a:ext cx="120629" cy="8839"/>
          </a:xfrm>
          <a:prstGeom prst="straightConnector1">
            <a:avLst/>
          </a:prstGeom>
          <a:ln>
            <a:solidFill>
              <a:srgbClr val="2626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/>
          <p:cNvCxnSpPr/>
          <p:nvPr/>
        </p:nvCxnSpPr>
        <p:spPr>
          <a:xfrm>
            <a:off x="3811379" y="3299404"/>
            <a:ext cx="540326" cy="3767"/>
          </a:xfrm>
          <a:prstGeom prst="straightConnector1">
            <a:avLst/>
          </a:prstGeom>
          <a:ln w="12700">
            <a:solidFill>
              <a:srgbClr val="26262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/>
          <p:cNvSpPr txBox="1"/>
          <p:nvPr/>
        </p:nvSpPr>
        <p:spPr>
          <a:xfrm>
            <a:off x="1237628" y="2164165"/>
            <a:ext cx="604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Day 1</a:t>
            </a:r>
          </a:p>
        </p:txBody>
      </p:sp>
      <p:sp>
        <p:nvSpPr>
          <p:cNvPr id="41" name="ZoneTexte 40"/>
          <p:cNvSpPr txBox="1"/>
          <p:nvPr/>
        </p:nvSpPr>
        <p:spPr>
          <a:xfrm>
            <a:off x="2935154" y="2162445"/>
            <a:ext cx="10817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/>
              <a:t>Day </a:t>
            </a:r>
            <a:r>
              <a:rPr lang="fr-FR" sz="1100" b="1" dirty="0" smtClean="0"/>
              <a:t>Clearing</a:t>
            </a:r>
            <a:endParaRPr lang="fr-FR" sz="1100" b="1" dirty="0"/>
          </a:p>
        </p:txBody>
      </p:sp>
      <p:grpSp>
        <p:nvGrpSpPr>
          <p:cNvPr id="42" name="Groupe 41"/>
          <p:cNvGrpSpPr/>
          <p:nvPr/>
        </p:nvGrpSpPr>
        <p:grpSpPr>
          <a:xfrm>
            <a:off x="1097720" y="2441164"/>
            <a:ext cx="867433" cy="1730381"/>
            <a:chOff x="974041" y="2281012"/>
            <a:chExt cx="1156577" cy="2307175"/>
          </a:xfrm>
        </p:grpSpPr>
        <p:grpSp>
          <p:nvGrpSpPr>
            <p:cNvPr id="43" name="Groupe 42"/>
            <p:cNvGrpSpPr/>
            <p:nvPr/>
          </p:nvGrpSpPr>
          <p:grpSpPr>
            <a:xfrm>
              <a:off x="974041" y="2281012"/>
              <a:ext cx="1156577" cy="2307175"/>
              <a:chOff x="-108851" y="2248405"/>
              <a:chExt cx="1156577" cy="2307175"/>
            </a:xfrm>
          </p:grpSpPr>
          <p:grpSp>
            <p:nvGrpSpPr>
              <p:cNvPr id="46" name="Groupe 45"/>
              <p:cNvGrpSpPr/>
              <p:nvPr/>
            </p:nvGrpSpPr>
            <p:grpSpPr>
              <a:xfrm>
                <a:off x="-12178" y="2333382"/>
                <a:ext cx="963229" cy="2137220"/>
                <a:chOff x="425370" y="2533307"/>
                <a:chExt cx="963229" cy="2137220"/>
              </a:xfrm>
            </p:grpSpPr>
            <p:sp>
              <p:nvSpPr>
                <p:cNvPr id="48" name="ZoneTexte 47"/>
                <p:cNvSpPr txBox="1"/>
                <p:nvPr/>
              </p:nvSpPr>
              <p:spPr>
                <a:xfrm>
                  <a:off x="679658" y="3449588"/>
                  <a:ext cx="58319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200" b="1" dirty="0"/>
                    <a:t>OR</a:t>
                  </a:r>
                  <a:endParaRPr lang="fr-FR" sz="1200" dirty="0"/>
                </a:p>
              </p:txBody>
            </p:sp>
            <p:grpSp>
              <p:nvGrpSpPr>
                <p:cNvPr id="49" name="Groupe 48"/>
                <p:cNvGrpSpPr/>
                <p:nvPr/>
              </p:nvGrpSpPr>
              <p:grpSpPr>
                <a:xfrm>
                  <a:off x="425370" y="3764475"/>
                  <a:ext cx="961620" cy="906052"/>
                  <a:chOff x="7172048" y="424798"/>
                  <a:chExt cx="1212349" cy="1265547"/>
                </a:xfrm>
              </p:grpSpPr>
              <p:pic>
                <p:nvPicPr>
                  <p:cNvPr id="56" name="Image 55"/>
                  <p:cNvPicPr>
                    <a:picLocks noChangeAspect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303561" y="1098513"/>
                    <a:ext cx="404558" cy="485731"/>
                  </a:xfrm>
                  <a:prstGeom prst="rect">
                    <a:avLst/>
                  </a:prstGeom>
                </p:spPr>
              </p:pic>
              <p:pic>
                <p:nvPicPr>
                  <p:cNvPr id="57" name="Image 56"/>
                  <p:cNvPicPr>
                    <a:picLocks noChangeAspect="1"/>
                  </p:cNvPicPr>
                  <p:nvPr/>
                </p:nvPicPr>
                <p:blipFill>
                  <a:blip r:embed="rId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802514" y="515345"/>
                    <a:ext cx="433102" cy="520002"/>
                  </a:xfrm>
                  <a:prstGeom prst="rect">
                    <a:avLst/>
                  </a:prstGeom>
                </p:spPr>
              </p:pic>
              <p:sp>
                <p:nvSpPr>
                  <p:cNvPr id="58" name="Rectangle à coins arrondis 57"/>
                  <p:cNvSpPr/>
                  <p:nvPr/>
                </p:nvSpPr>
                <p:spPr>
                  <a:xfrm>
                    <a:off x="7172048" y="424798"/>
                    <a:ext cx="1212349" cy="1265547"/>
                  </a:xfrm>
                  <a:prstGeom prst="roundRect">
                    <a:avLst>
                      <a:gd name="adj" fmla="val 4135"/>
                    </a:avLst>
                  </a:prstGeom>
                  <a:noFill/>
                  <a:ln w="3810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200"/>
                  </a:p>
                </p:txBody>
              </p:sp>
            </p:grpSp>
            <p:grpSp>
              <p:nvGrpSpPr>
                <p:cNvPr id="50" name="Groupe 49"/>
                <p:cNvGrpSpPr/>
                <p:nvPr/>
              </p:nvGrpSpPr>
              <p:grpSpPr>
                <a:xfrm>
                  <a:off x="432451" y="2533307"/>
                  <a:ext cx="956148" cy="900263"/>
                  <a:chOff x="5330863" y="398574"/>
                  <a:chExt cx="1212349" cy="1265547"/>
                </a:xfrm>
              </p:grpSpPr>
              <p:sp>
                <p:nvSpPr>
                  <p:cNvPr id="51" name="Rectangle à coins arrondis 50"/>
                  <p:cNvSpPr/>
                  <p:nvPr/>
                </p:nvSpPr>
                <p:spPr>
                  <a:xfrm>
                    <a:off x="5330863" y="398574"/>
                    <a:ext cx="1212349" cy="1265547"/>
                  </a:xfrm>
                  <a:prstGeom prst="roundRect">
                    <a:avLst>
                      <a:gd name="adj" fmla="val 4135"/>
                    </a:avLst>
                  </a:prstGeom>
                  <a:noFill/>
                  <a:ln w="381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200"/>
                  </a:p>
                </p:txBody>
              </p:sp>
              <p:pic>
                <p:nvPicPr>
                  <p:cNvPr id="52" name="Image 51"/>
                  <p:cNvPicPr>
                    <a:picLocks noChangeAspect="1"/>
                  </p:cNvPicPr>
                  <p:nvPr/>
                </p:nvPicPr>
                <p:blipFill>
                  <a:blip r:embed="rId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461397" y="1081322"/>
                    <a:ext cx="404558" cy="485731"/>
                  </a:xfrm>
                  <a:prstGeom prst="rect">
                    <a:avLst/>
                  </a:prstGeom>
                </p:spPr>
              </p:pic>
              <p:pic>
                <p:nvPicPr>
                  <p:cNvPr id="53" name="Image 52"/>
                  <p:cNvPicPr>
                    <a:picLocks noChangeAspect="1"/>
                  </p:cNvPicPr>
                  <p:nvPr/>
                </p:nvPicPr>
                <p:blipFill>
                  <a:blip r:embed="rId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472324" y="503741"/>
                    <a:ext cx="404558" cy="485731"/>
                  </a:xfrm>
                  <a:prstGeom prst="rect">
                    <a:avLst/>
                  </a:prstGeom>
                </p:spPr>
              </p:pic>
              <p:pic>
                <p:nvPicPr>
                  <p:cNvPr id="54" name="Image 53"/>
                  <p:cNvPicPr>
                    <a:picLocks noChangeAspect="1"/>
                  </p:cNvPicPr>
                  <p:nvPr/>
                </p:nvPicPr>
                <p:blipFill>
                  <a:blip r:embed="rId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82408" y="503741"/>
                    <a:ext cx="404558" cy="485731"/>
                  </a:xfrm>
                  <a:prstGeom prst="rect">
                    <a:avLst/>
                  </a:prstGeom>
                </p:spPr>
              </p:pic>
              <p:pic>
                <p:nvPicPr>
                  <p:cNvPr id="55" name="Image 54"/>
                  <p:cNvPicPr>
                    <a:picLocks noChangeAspect="1"/>
                  </p:cNvPicPr>
                  <p:nvPr/>
                </p:nvPicPr>
                <p:blipFill>
                  <a:blip r:embed="rId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82408" y="1068734"/>
                    <a:ext cx="404558" cy="485731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47" name="Rectangle 46"/>
              <p:cNvSpPr/>
              <p:nvPr/>
            </p:nvSpPr>
            <p:spPr>
              <a:xfrm>
                <a:off x="-108851" y="2248405"/>
                <a:ext cx="1156577" cy="230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200"/>
              </a:p>
            </p:txBody>
          </p:sp>
        </p:grpSp>
        <p:pic>
          <p:nvPicPr>
            <p:cNvPr id="44" name="Image 4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5028" y="3691908"/>
              <a:ext cx="320890" cy="347753"/>
            </a:xfrm>
            <a:prstGeom prst="rect">
              <a:avLst/>
            </a:prstGeom>
          </p:spPr>
        </p:pic>
        <p:pic>
          <p:nvPicPr>
            <p:cNvPr id="45" name="Image 4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0891" y="4079495"/>
              <a:ext cx="320890" cy="347753"/>
            </a:xfrm>
            <a:prstGeom prst="rect">
              <a:avLst/>
            </a:prstGeom>
          </p:spPr>
        </p:pic>
      </p:grpSp>
      <p:cxnSp>
        <p:nvCxnSpPr>
          <p:cNvPr id="59" name="Connecteur droit avec flèche 58"/>
          <p:cNvCxnSpPr>
            <a:stCxn id="15" idx="0"/>
            <a:endCxn id="20" idx="2"/>
          </p:cNvCxnSpPr>
          <p:nvPr/>
        </p:nvCxnSpPr>
        <p:spPr>
          <a:xfrm flipH="1" flipV="1">
            <a:off x="2451959" y="2083790"/>
            <a:ext cx="5110" cy="107056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avec flèche 59"/>
          <p:cNvCxnSpPr>
            <a:stCxn id="20" idx="3"/>
            <a:endCxn id="8" idx="1"/>
          </p:cNvCxnSpPr>
          <p:nvPr/>
        </p:nvCxnSpPr>
        <p:spPr>
          <a:xfrm flipV="1">
            <a:off x="2729024" y="1826067"/>
            <a:ext cx="1653061" cy="578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Image 6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316" y="1630827"/>
            <a:ext cx="395630" cy="395630"/>
          </a:xfrm>
          <a:prstGeom prst="rect">
            <a:avLst/>
          </a:prstGeom>
        </p:spPr>
      </p:pic>
      <p:pic>
        <p:nvPicPr>
          <p:cNvPr id="62" name="Image 61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34"/>
          <a:stretch/>
        </p:blipFill>
        <p:spPr>
          <a:xfrm>
            <a:off x="6283913" y="1270930"/>
            <a:ext cx="512161" cy="411603"/>
          </a:xfrm>
          <a:prstGeom prst="rect">
            <a:avLst/>
          </a:prstGeom>
        </p:spPr>
      </p:pic>
      <p:pic>
        <p:nvPicPr>
          <p:cNvPr id="63" name="Image 6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3629" y="1520891"/>
            <a:ext cx="268346" cy="268346"/>
          </a:xfrm>
          <a:prstGeom prst="rect">
            <a:avLst/>
          </a:prstGeom>
        </p:spPr>
      </p:pic>
      <p:pic>
        <p:nvPicPr>
          <p:cNvPr id="64" name="Image 6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523" y="2101475"/>
            <a:ext cx="251321" cy="262460"/>
          </a:xfrm>
          <a:prstGeom prst="rect">
            <a:avLst/>
          </a:prstGeom>
        </p:spPr>
      </p:pic>
      <p:pic>
        <p:nvPicPr>
          <p:cNvPr id="65" name="Image 6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305" y="2132641"/>
            <a:ext cx="231495" cy="221217"/>
          </a:xfrm>
          <a:prstGeom prst="rect">
            <a:avLst/>
          </a:prstGeom>
        </p:spPr>
      </p:pic>
      <p:cxnSp>
        <p:nvCxnSpPr>
          <p:cNvPr id="66" name="Connecteur droit avec flèche 65"/>
          <p:cNvCxnSpPr/>
          <p:nvPr/>
        </p:nvCxnSpPr>
        <p:spPr>
          <a:xfrm flipV="1">
            <a:off x="4816207" y="1823224"/>
            <a:ext cx="481928" cy="409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avec flèche 66"/>
          <p:cNvCxnSpPr/>
          <p:nvPr/>
        </p:nvCxnSpPr>
        <p:spPr>
          <a:xfrm flipV="1">
            <a:off x="5826179" y="1453074"/>
            <a:ext cx="333275" cy="37015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/>
          <p:cNvCxnSpPr/>
          <p:nvPr/>
        </p:nvCxnSpPr>
        <p:spPr>
          <a:xfrm>
            <a:off x="5817899" y="1831847"/>
            <a:ext cx="338154" cy="357958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avec flèche 68"/>
          <p:cNvCxnSpPr/>
          <p:nvPr/>
        </p:nvCxnSpPr>
        <p:spPr>
          <a:xfrm flipV="1">
            <a:off x="5196729" y="3303049"/>
            <a:ext cx="1351482" cy="561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Image 69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1531" y="4624303"/>
            <a:ext cx="295778" cy="295778"/>
          </a:xfrm>
          <a:prstGeom prst="rect">
            <a:avLst/>
          </a:prstGeom>
        </p:spPr>
      </p:pic>
      <p:cxnSp>
        <p:nvCxnSpPr>
          <p:cNvPr id="71" name="Connecteur droit avec flèche 70"/>
          <p:cNvCxnSpPr>
            <a:endCxn id="70" idx="1"/>
          </p:cNvCxnSpPr>
          <p:nvPr/>
        </p:nvCxnSpPr>
        <p:spPr>
          <a:xfrm>
            <a:off x="5743654" y="4769890"/>
            <a:ext cx="887877" cy="230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e 71"/>
          <p:cNvGrpSpPr/>
          <p:nvPr/>
        </p:nvGrpSpPr>
        <p:grpSpPr>
          <a:xfrm>
            <a:off x="5962512" y="4171544"/>
            <a:ext cx="444551" cy="1187979"/>
            <a:chOff x="7967206" y="4593179"/>
            <a:chExt cx="592735" cy="1583972"/>
          </a:xfrm>
          <a:solidFill>
            <a:schemeClr val="bg1"/>
          </a:solidFill>
        </p:grpSpPr>
        <p:sp>
          <p:nvSpPr>
            <p:cNvPr id="73" name="Rectangle 72"/>
            <p:cNvSpPr/>
            <p:nvPr/>
          </p:nvSpPr>
          <p:spPr>
            <a:xfrm>
              <a:off x="7967206" y="4593179"/>
              <a:ext cx="592735" cy="1583972"/>
            </a:xfrm>
            <a:prstGeom prst="rect">
              <a:avLst/>
            </a:prstGeom>
            <a:grpFill/>
            <a:ln w="38100">
              <a:solidFill>
                <a:srgbClr val="5770B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/>
            </a:p>
          </p:txBody>
        </p:sp>
        <p:pic>
          <p:nvPicPr>
            <p:cNvPr id="74" name="Image 73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36193" y="4675070"/>
              <a:ext cx="480473" cy="451617"/>
            </a:xfrm>
            <a:prstGeom prst="rect">
              <a:avLst/>
            </a:prstGeom>
            <a:grpFill/>
          </p:spPr>
        </p:pic>
        <p:pic>
          <p:nvPicPr>
            <p:cNvPr id="75" name="Image 74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33185" y="5148200"/>
              <a:ext cx="473930" cy="473930"/>
            </a:xfrm>
            <a:prstGeom prst="rect">
              <a:avLst/>
            </a:prstGeom>
            <a:grpFill/>
          </p:spPr>
        </p:pic>
        <p:pic>
          <p:nvPicPr>
            <p:cNvPr id="76" name="Image 75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71326" y="5707896"/>
              <a:ext cx="397649" cy="397649"/>
            </a:xfrm>
            <a:prstGeom prst="rect">
              <a:avLst/>
            </a:prstGeom>
            <a:grpFill/>
          </p:spPr>
        </p:pic>
      </p:grpSp>
      <p:cxnSp>
        <p:nvCxnSpPr>
          <p:cNvPr id="77" name="Connecteur droit avec flèche 76"/>
          <p:cNvCxnSpPr>
            <a:endCxn id="83" idx="1"/>
          </p:cNvCxnSpPr>
          <p:nvPr/>
        </p:nvCxnSpPr>
        <p:spPr>
          <a:xfrm flipV="1">
            <a:off x="4777351" y="4769889"/>
            <a:ext cx="698175" cy="46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e 77"/>
          <p:cNvGrpSpPr/>
          <p:nvPr/>
        </p:nvGrpSpPr>
        <p:grpSpPr>
          <a:xfrm>
            <a:off x="5350660" y="1619238"/>
            <a:ext cx="421157" cy="412588"/>
            <a:chOff x="6991703" y="1205555"/>
            <a:chExt cx="561542" cy="550117"/>
          </a:xfrm>
        </p:grpSpPr>
        <p:pic>
          <p:nvPicPr>
            <p:cNvPr id="79" name="Image 78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55953" y="1265960"/>
              <a:ext cx="430253" cy="431095"/>
            </a:xfrm>
            <a:prstGeom prst="rect">
              <a:avLst/>
            </a:prstGeom>
          </p:spPr>
        </p:pic>
        <p:sp>
          <p:nvSpPr>
            <p:cNvPr id="80" name="Rectangle à coins arrondis 79"/>
            <p:cNvSpPr/>
            <p:nvPr/>
          </p:nvSpPr>
          <p:spPr>
            <a:xfrm>
              <a:off x="6991703" y="1205555"/>
              <a:ext cx="561542" cy="550117"/>
            </a:xfrm>
            <a:prstGeom prst="roundRect">
              <a:avLst>
                <a:gd name="adj" fmla="val 4135"/>
              </a:avLst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/>
            </a:p>
          </p:txBody>
        </p:sp>
      </p:grpSp>
      <p:grpSp>
        <p:nvGrpSpPr>
          <p:cNvPr id="81" name="Groupe 80"/>
          <p:cNvGrpSpPr/>
          <p:nvPr/>
        </p:nvGrpSpPr>
        <p:grpSpPr>
          <a:xfrm>
            <a:off x="5475527" y="4634871"/>
            <a:ext cx="270103" cy="270037"/>
            <a:chOff x="6991105" y="5205597"/>
            <a:chExt cx="457070" cy="458166"/>
          </a:xfrm>
        </p:grpSpPr>
        <p:pic>
          <p:nvPicPr>
            <p:cNvPr id="82" name="Image 81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9798" y="5246618"/>
              <a:ext cx="384273" cy="384273"/>
            </a:xfrm>
            <a:prstGeom prst="rect">
              <a:avLst/>
            </a:prstGeom>
          </p:spPr>
        </p:pic>
        <p:sp>
          <p:nvSpPr>
            <p:cNvPr id="83" name="Rectangle à coins arrondis 82"/>
            <p:cNvSpPr/>
            <p:nvPr/>
          </p:nvSpPr>
          <p:spPr>
            <a:xfrm>
              <a:off x="6991105" y="5205597"/>
              <a:ext cx="457070" cy="458166"/>
            </a:xfrm>
            <a:prstGeom prst="roundRect">
              <a:avLst>
                <a:gd name="adj" fmla="val 4444"/>
              </a:avLst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/>
            </a:p>
          </p:txBody>
        </p:sp>
      </p:grpSp>
      <p:pic>
        <p:nvPicPr>
          <p:cNvPr id="84" name="Image 83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111" y="3105383"/>
            <a:ext cx="340447" cy="369101"/>
          </a:xfrm>
          <a:prstGeom prst="rect">
            <a:avLst/>
          </a:prstGeom>
        </p:spPr>
      </p:pic>
      <p:pic>
        <p:nvPicPr>
          <p:cNvPr id="85" name="Image 8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837" y="2969763"/>
            <a:ext cx="288430" cy="293133"/>
          </a:xfrm>
          <a:prstGeom prst="rect">
            <a:avLst/>
          </a:prstGeom>
        </p:spPr>
      </p:pic>
      <p:grpSp>
        <p:nvGrpSpPr>
          <p:cNvPr id="86" name="Groupe 85"/>
          <p:cNvGrpSpPr/>
          <p:nvPr/>
        </p:nvGrpSpPr>
        <p:grpSpPr>
          <a:xfrm>
            <a:off x="3926556" y="3351076"/>
            <a:ext cx="288731" cy="275919"/>
            <a:chOff x="3797815" y="2624416"/>
            <a:chExt cx="288731" cy="275919"/>
          </a:xfrm>
        </p:grpSpPr>
        <p:pic>
          <p:nvPicPr>
            <p:cNvPr id="87" name="Image 86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4769" y="2647432"/>
              <a:ext cx="227084" cy="226485"/>
            </a:xfrm>
            <a:prstGeom prst="rect">
              <a:avLst/>
            </a:prstGeom>
          </p:spPr>
        </p:pic>
        <p:sp>
          <p:nvSpPr>
            <p:cNvPr id="88" name="Rectangle à coins arrondis 87"/>
            <p:cNvSpPr/>
            <p:nvPr/>
          </p:nvSpPr>
          <p:spPr>
            <a:xfrm>
              <a:off x="3797815" y="2624416"/>
              <a:ext cx="288731" cy="275919"/>
            </a:xfrm>
            <a:prstGeom prst="roundRect">
              <a:avLst>
                <a:gd name="adj" fmla="val 4135"/>
              </a:avLst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/>
            </a:p>
          </p:txBody>
        </p:sp>
      </p:grpSp>
      <p:pic>
        <p:nvPicPr>
          <p:cNvPr id="89" name="Image 88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637" y="2976300"/>
            <a:ext cx="314837" cy="314837"/>
          </a:xfrm>
          <a:prstGeom prst="rect">
            <a:avLst/>
          </a:prstGeom>
        </p:spPr>
      </p:pic>
      <p:grpSp>
        <p:nvGrpSpPr>
          <p:cNvPr id="90" name="Groupe 89"/>
          <p:cNvGrpSpPr/>
          <p:nvPr/>
        </p:nvGrpSpPr>
        <p:grpSpPr>
          <a:xfrm>
            <a:off x="5490026" y="3355358"/>
            <a:ext cx="288731" cy="275919"/>
            <a:chOff x="5361285" y="2628698"/>
            <a:chExt cx="288731" cy="275919"/>
          </a:xfrm>
        </p:grpSpPr>
        <p:pic>
          <p:nvPicPr>
            <p:cNvPr id="91" name="Image 90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4660" y="2654460"/>
              <a:ext cx="227083" cy="226485"/>
            </a:xfrm>
            <a:prstGeom prst="rect">
              <a:avLst/>
            </a:prstGeom>
          </p:spPr>
        </p:pic>
        <p:sp>
          <p:nvSpPr>
            <p:cNvPr id="92" name="Rectangle à coins arrondis 91"/>
            <p:cNvSpPr/>
            <p:nvPr/>
          </p:nvSpPr>
          <p:spPr>
            <a:xfrm>
              <a:off x="5361285" y="2628698"/>
              <a:ext cx="288731" cy="275919"/>
            </a:xfrm>
            <a:prstGeom prst="roundRect">
              <a:avLst>
                <a:gd name="adj" fmla="val 4135"/>
              </a:avLst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/>
            </a:p>
          </p:txBody>
        </p:sp>
      </p:grpSp>
      <p:grpSp>
        <p:nvGrpSpPr>
          <p:cNvPr id="93" name="Groupe 92"/>
          <p:cNvGrpSpPr/>
          <p:nvPr/>
        </p:nvGrpSpPr>
        <p:grpSpPr>
          <a:xfrm>
            <a:off x="6045354" y="3154354"/>
            <a:ext cx="288731" cy="275919"/>
            <a:chOff x="7246622" y="3483029"/>
            <a:chExt cx="384975" cy="367892"/>
          </a:xfrm>
          <a:solidFill>
            <a:schemeClr val="bg1"/>
          </a:solidFill>
        </p:grpSpPr>
        <p:sp>
          <p:nvSpPr>
            <p:cNvPr id="94" name="Rectangle à coins arrondis 93"/>
            <p:cNvSpPr/>
            <p:nvPr/>
          </p:nvSpPr>
          <p:spPr>
            <a:xfrm>
              <a:off x="7246622" y="3483029"/>
              <a:ext cx="384975" cy="367892"/>
            </a:xfrm>
            <a:prstGeom prst="roundRect">
              <a:avLst>
                <a:gd name="adj" fmla="val 4135"/>
              </a:avLst>
            </a:prstGeom>
            <a:grp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/>
            </a:p>
          </p:txBody>
        </p:sp>
        <p:pic>
          <p:nvPicPr>
            <p:cNvPr id="95" name="Image 94"/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78978" y="3511465"/>
              <a:ext cx="305282" cy="305282"/>
            </a:xfrm>
            <a:prstGeom prst="rect">
              <a:avLst/>
            </a:prstGeom>
            <a:grpFill/>
          </p:spPr>
        </p:pic>
      </p:grpSp>
      <p:grpSp>
        <p:nvGrpSpPr>
          <p:cNvPr id="96" name="Groupe 95"/>
          <p:cNvGrpSpPr/>
          <p:nvPr/>
        </p:nvGrpSpPr>
        <p:grpSpPr>
          <a:xfrm>
            <a:off x="4488030" y="4636535"/>
            <a:ext cx="288731" cy="275919"/>
            <a:chOff x="5728552" y="5201841"/>
            <a:chExt cx="384975" cy="367892"/>
          </a:xfrm>
        </p:grpSpPr>
        <p:pic>
          <p:nvPicPr>
            <p:cNvPr id="97" name="Image 96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1157" y="5232529"/>
              <a:ext cx="302778" cy="301980"/>
            </a:xfrm>
            <a:prstGeom prst="rect">
              <a:avLst/>
            </a:prstGeom>
          </p:spPr>
        </p:pic>
        <p:sp>
          <p:nvSpPr>
            <p:cNvPr id="98" name="Rectangle à coins arrondis 97"/>
            <p:cNvSpPr/>
            <p:nvPr/>
          </p:nvSpPr>
          <p:spPr>
            <a:xfrm>
              <a:off x="5728552" y="5201841"/>
              <a:ext cx="384975" cy="367892"/>
            </a:xfrm>
            <a:prstGeom prst="roundRect">
              <a:avLst>
                <a:gd name="adj" fmla="val 4135"/>
              </a:avLst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/>
            </a:p>
          </p:txBody>
        </p:sp>
      </p:grpSp>
      <p:grpSp>
        <p:nvGrpSpPr>
          <p:cNvPr id="99" name="Groupe 98"/>
          <p:cNvGrpSpPr/>
          <p:nvPr/>
        </p:nvGrpSpPr>
        <p:grpSpPr>
          <a:xfrm>
            <a:off x="2667407" y="4636535"/>
            <a:ext cx="288731" cy="275919"/>
            <a:chOff x="5728552" y="5201841"/>
            <a:chExt cx="384975" cy="367892"/>
          </a:xfrm>
        </p:grpSpPr>
        <p:pic>
          <p:nvPicPr>
            <p:cNvPr id="100" name="Image 99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1157" y="5232529"/>
              <a:ext cx="302778" cy="301980"/>
            </a:xfrm>
            <a:prstGeom prst="rect">
              <a:avLst/>
            </a:prstGeom>
          </p:spPr>
        </p:pic>
        <p:sp>
          <p:nvSpPr>
            <p:cNvPr id="101" name="Rectangle à coins arrondis 100"/>
            <p:cNvSpPr/>
            <p:nvPr/>
          </p:nvSpPr>
          <p:spPr>
            <a:xfrm>
              <a:off x="5728552" y="5201841"/>
              <a:ext cx="384975" cy="367892"/>
            </a:xfrm>
            <a:prstGeom prst="roundRect">
              <a:avLst>
                <a:gd name="adj" fmla="val 4135"/>
              </a:avLst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/>
            </a:p>
          </p:txBody>
        </p:sp>
      </p:grpSp>
      <p:grpSp>
        <p:nvGrpSpPr>
          <p:cNvPr id="102" name="Groupe 101"/>
          <p:cNvGrpSpPr/>
          <p:nvPr/>
        </p:nvGrpSpPr>
        <p:grpSpPr>
          <a:xfrm>
            <a:off x="4926938" y="4377642"/>
            <a:ext cx="339302" cy="779059"/>
            <a:chOff x="6380302" y="4979918"/>
            <a:chExt cx="452402" cy="1038745"/>
          </a:xfrm>
        </p:grpSpPr>
        <p:grpSp>
          <p:nvGrpSpPr>
            <p:cNvPr id="103" name="Groupe 102"/>
            <p:cNvGrpSpPr/>
            <p:nvPr/>
          </p:nvGrpSpPr>
          <p:grpSpPr>
            <a:xfrm>
              <a:off x="6380302" y="4979918"/>
              <a:ext cx="452402" cy="1038745"/>
              <a:chOff x="5747987" y="4932138"/>
              <a:chExt cx="517334" cy="1211139"/>
            </a:xfrm>
            <a:solidFill>
              <a:schemeClr val="bg1"/>
            </a:solidFill>
          </p:grpSpPr>
          <p:sp>
            <p:nvSpPr>
              <p:cNvPr id="105" name="Rectangle à coins arrondis 104"/>
              <p:cNvSpPr/>
              <p:nvPr/>
            </p:nvSpPr>
            <p:spPr>
              <a:xfrm>
                <a:off x="5747987" y="4932138"/>
                <a:ext cx="517334" cy="1211139"/>
              </a:xfrm>
              <a:prstGeom prst="roundRect">
                <a:avLst>
                  <a:gd name="adj" fmla="val 4135"/>
                </a:avLst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200"/>
              </a:p>
            </p:txBody>
          </p:sp>
          <p:pic>
            <p:nvPicPr>
              <p:cNvPr id="106" name="Image 105"/>
              <p:cNvPicPr>
                <a:picLocks noChangeAspect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34150" y="5004217"/>
                <a:ext cx="343531" cy="372289"/>
              </a:xfrm>
              <a:prstGeom prst="rect">
                <a:avLst/>
              </a:prstGeom>
              <a:grpFill/>
            </p:spPr>
          </p:pic>
          <p:pic>
            <p:nvPicPr>
              <p:cNvPr id="107" name="Image 106"/>
              <p:cNvPicPr>
                <a:picLocks noChangeAspect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32235" y="5787897"/>
                <a:ext cx="327102" cy="302870"/>
              </a:xfrm>
              <a:prstGeom prst="rect">
                <a:avLst/>
              </a:prstGeom>
              <a:grpFill/>
            </p:spPr>
          </p:pic>
        </p:grpSp>
        <p:pic>
          <p:nvPicPr>
            <p:cNvPr id="104" name="Image 103"/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0457" y="5385165"/>
              <a:ext cx="305282" cy="305282"/>
            </a:xfrm>
            <a:prstGeom prst="rect">
              <a:avLst/>
            </a:prstGeom>
            <a:solidFill>
              <a:schemeClr val="bg1"/>
            </a:solidFill>
          </p:spPr>
        </p:pic>
      </p:grpSp>
      <p:grpSp>
        <p:nvGrpSpPr>
          <p:cNvPr id="108" name="Groupe 107"/>
          <p:cNvGrpSpPr/>
          <p:nvPr/>
        </p:nvGrpSpPr>
        <p:grpSpPr>
          <a:xfrm>
            <a:off x="4806400" y="2835374"/>
            <a:ext cx="350449" cy="959009"/>
            <a:chOff x="6293873" y="2824670"/>
            <a:chExt cx="467265" cy="1278679"/>
          </a:xfrm>
        </p:grpSpPr>
        <p:grpSp>
          <p:nvGrpSpPr>
            <p:cNvPr id="109" name="Groupe 108"/>
            <p:cNvGrpSpPr/>
            <p:nvPr/>
          </p:nvGrpSpPr>
          <p:grpSpPr>
            <a:xfrm>
              <a:off x="6293873" y="3672371"/>
              <a:ext cx="467265" cy="430978"/>
              <a:chOff x="6153692" y="3020196"/>
              <a:chExt cx="510261" cy="470521"/>
            </a:xfrm>
          </p:grpSpPr>
          <p:sp>
            <p:nvSpPr>
              <p:cNvPr id="113" name="Rectangle à coins arrondis 112"/>
              <p:cNvSpPr/>
              <p:nvPr/>
            </p:nvSpPr>
            <p:spPr>
              <a:xfrm>
                <a:off x="6153692" y="3020196"/>
                <a:ext cx="510261" cy="470521"/>
              </a:xfrm>
              <a:prstGeom prst="roundRect">
                <a:avLst>
                  <a:gd name="adj" fmla="val 4135"/>
                </a:avLst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200"/>
              </a:p>
            </p:txBody>
          </p:sp>
          <p:pic>
            <p:nvPicPr>
              <p:cNvPr id="114" name="Image 113"/>
              <p:cNvPicPr>
                <a:picLocks noChangeAspect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31173" y="3071840"/>
                <a:ext cx="343531" cy="372289"/>
              </a:xfrm>
              <a:prstGeom prst="rect">
                <a:avLst/>
              </a:prstGeom>
            </p:spPr>
          </p:pic>
        </p:grpSp>
        <p:grpSp>
          <p:nvGrpSpPr>
            <p:cNvPr id="110" name="Groupe 109"/>
            <p:cNvGrpSpPr/>
            <p:nvPr/>
          </p:nvGrpSpPr>
          <p:grpSpPr>
            <a:xfrm>
              <a:off x="6293873" y="2824670"/>
              <a:ext cx="467265" cy="430978"/>
              <a:chOff x="5335837" y="3147794"/>
              <a:chExt cx="510261" cy="470521"/>
            </a:xfrm>
          </p:grpSpPr>
          <p:sp>
            <p:nvSpPr>
              <p:cNvPr id="111" name="Rectangle à coins arrondis 110"/>
              <p:cNvSpPr/>
              <p:nvPr/>
            </p:nvSpPr>
            <p:spPr>
              <a:xfrm>
                <a:off x="5335837" y="3147794"/>
                <a:ext cx="510261" cy="470521"/>
              </a:xfrm>
              <a:prstGeom prst="roundRect">
                <a:avLst>
                  <a:gd name="adj" fmla="val 4135"/>
                </a:avLst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200"/>
              </a:p>
            </p:txBody>
          </p:sp>
          <p:pic>
            <p:nvPicPr>
              <p:cNvPr id="112" name="Image 111"/>
              <p:cNvPicPr>
                <a:picLocks noChangeAspect="1"/>
              </p:cNvPicPr>
              <p:nvPr/>
            </p:nvPicPr>
            <p:blipFill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21043" y="3209119"/>
                <a:ext cx="319064" cy="345531"/>
              </a:xfrm>
              <a:prstGeom prst="rect">
                <a:avLst/>
              </a:prstGeom>
            </p:spPr>
          </p:pic>
        </p:grpSp>
      </p:grpSp>
      <p:cxnSp>
        <p:nvCxnSpPr>
          <p:cNvPr id="115" name="Connecteur droit avec flèche 114"/>
          <p:cNvCxnSpPr>
            <a:stCxn id="113" idx="0"/>
            <a:endCxn id="111" idx="2"/>
          </p:cNvCxnSpPr>
          <p:nvPr/>
        </p:nvCxnSpPr>
        <p:spPr>
          <a:xfrm flipV="1">
            <a:off x="4981624" y="3158608"/>
            <a:ext cx="0" cy="31254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eur en arc 115"/>
          <p:cNvCxnSpPr>
            <a:stCxn id="113" idx="2"/>
            <a:endCxn id="94" idx="2"/>
          </p:cNvCxnSpPr>
          <p:nvPr/>
        </p:nvCxnSpPr>
        <p:spPr>
          <a:xfrm rot="5400000" flipH="1" flipV="1">
            <a:off x="5403617" y="3008280"/>
            <a:ext cx="364110" cy="1208096"/>
          </a:xfrm>
          <a:prstGeom prst="curvedConnector3">
            <a:avLst>
              <a:gd name="adj1" fmla="val -23726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Groupe 116"/>
          <p:cNvGrpSpPr/>
          <p:nvPr/>
        </p:nvGrpSpPr>
        <p:grpSpPr>
          <a:xfrm>
            <a:off x="2301661" y="4634876"/>
            <a:ext cx="290657" cy="275663"/>
            <a:chOff x="3082487" y="5158166"/>
            <a:chExt cx="499463" cy="469467"/>
          </a:xfrm>
        </p:grpSpPr>
        <p:pic>
          <p:nvPicPr>
            <p:cNvPr id="118" name="Image 117"/>
            <p:cNvPicPr>
              <a:picLocks noChangeAspect="1"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28610" y="5259703"/>
              <a:ext cx="411851" cy="261697"/>
            </a:xfrm>
            <a:prstGeom prst="rect">
              <a:avLst/>
            </a:prstGeom>
          </p:spPr>
        </p:pic>
        <p:sp>
          <p:nvSpPr>
            <p:cNvPr id="119" name="Rectangle à coins arrondis 118"/>
            <p:cNvSpPr/>
            <p:nvPr/>
          </p:nvSpPr>
          <p:spPr>
            <a:xfrm>
              <a:off x="3082487" y="5158166"/>
              <a:ext cx="499463" cy="469467"/>
            </a:xfrm>
            <a:prstGeom prst="roundRect">
              <a:avLst>
                <a:gd name="adj" fmla="val 6548"/>
              </a:avLst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/>
            </a:p>
          </p:txBody>
        </p:sp>
      </p:grpSp>
      <p:grpSp>
        <p:nvGrpSpPr>
          <p:cNvPr id="120" name="Groupe 119"/>
          <p:cNvGrpSpPr/>
          <p:nvPr/>
        </p:nvGrpSpPr>
        <p:grpSpPr>
          <a:xfrm>
            <a:off x="6596504" y="3351966"/>
            <a:ext cx="288731" cy="275919"/>
            <a:chOff x="8614144" y="3432836"/>
            <a:chExt cx="384975" cy="367892"/>
          </a:xfrm>
        </p:grpSpPr>
        <p:pic>
          <p:nvPicPr>
            <p:cNvPr id="121" name="Image 120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29613" y="3460469"/>
              <a:ext cx="332775" cy="302869"/>
            </a:xfrm>
            <a:prstGeom prst="rect">
              <a:avLst/>
            </a:prstGeom>
          </p:spPr>
        </p:pic>
        <p:sp>
          <p:nvSpPr>
            <p:cNvPr id="122" name="Rectangle à coins arrondis 121"/>
            <p:cNvSpPr/>
            <p:nvPr/>
          </p:nvSpPr>
          <p:spPr>
            <a:xfrm>
              <a:off x="8614144" y="3432836"/>
              <a:ext cx="384975" cy="367892"/>
            </a:xfrm>
            <a:prstGeom prst="roundRect">
              <a:avLst>
                <a:gd name="adj" fmla="val 4135"/>
              </a:avLst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/>
            </a:p>
          </p:txBody>
        </p:sp>
      </p:grpSp>
      <p:grpSp>
        <p:nvGrpSpPr>
          <p:cNvPr id="123" name="Groupe 122"/>
          <p:cNvGrpSpPr/>
          <p:nvPr/>
        </p:nvGrpSpPr>
        <p:grpSpPr>
          <a:xfrm>
            <a:off x="6589564" y="2964056"/>
            <a:ext cx="288731" cy="275919"/>
            <a:chOff x="8617125" y="3026690"/>
            <a:chExt cx="384975" cy="367892"/>
          </a:xfrm>
        </p:grpSpPr>
        <p:pic>
          <p:nvPicPr>
            <p:cNvPr id="124" name="Image 123"/>
            <p:cNvPicPr>
              <a:picLocks noChangeAspect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34231" y="3049416"/>
              <a:ext cx="323537" cy="305739"/>
            </a:xfrm>
            <a:prstGeom prst="rect">
              <a:avLst/>
            </a:prstGeom>
          </p:spPr>
        </p:pic>
        <p:sp>
          <p:nvSpPr>
            <p:cNvPr id="125" name="Rectangle à coins arrondis 124"/>
            <p:cNvSpPr/>
            <p:nvPr/>
          </p:nvSpPr>
          <p:spPr>
            <a:xfrm>
              <a:off x="8617125" y="3026690"/>
              <a:ext cx="384975" cy="367892"/>
            </a:xfrm>
            <a:prstGeom prst="roundRect">
              <a:avLst>
                <a:gd name="adj" fmla="val 4135"/>
              </a:avLst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/>
            </a:p>
          </p:txBody>
        </p:sp>
      </p:grpSp>
      <p:cxnSp>
        <p:nvCxnSpPr>
          <p:cNvPr id="126" name="Connecteur en angle 125"/>
          <p:cNvCxnSpPr/>
          <p:nvPr/>
        </p:nvCxnSpPr>
        <p:spPr>
          <a:xfrm rot="5400000">
            <a:off x="4630763" y="3624811"/>
            <a:ext cx="1005259" cy="1001996"/>
          </a:xfrm>
          <a:prstGeom prst="bentConnector3">
            <a:avLst>
              <a:gd name="adj1" fmla="val 41010"/>
            </a:avLst>
          </a:prstGeom>
          <a:ln w="127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avec flèche 126"/>
          <p:cNvCxnSpPr/>
          <p:nvPr/>
        </p:nvCxnSpPr>
        <p:spPr>
          <a:xfrm>
            <a:off x="2956138" y="4781430"/>
            <a:ext cx="1531892" cy="0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eur en angle 127"/>
          <p:cNvCxnSpPr/>
          <p:nvPr/>
        </p:nvCxnSpPr>
        <p:spPr>
          <a:xfrm rot="16200000" flipH="1">
            <a:off x="3698913" y="3992411"/>
            <a:ext cx="1147500" cy="417108"/>
          </a:xfrm>
          <a:prstGeom prst="bentConnector2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ZoneTexte 128"/>
          <p:cNvSpPr txBox="1"/>
          <p:nvPr/>
        </p:nvSpPr>
        <p:spPr>
          <a:xfrm>
            <a:off x="6966824" y="1700355"/>
            <a:ext cx="979340" cy="400110"/>
          </a:xfrm>
          <a:prstGeom prst="rect">
            <a:avLst/>
          </a:prstGeom>
          <a:solidFill>
            <a:schemeClr val="bg2"/>
          </a:solidFill>
          <a:ln>
            <a:solidFill>
              <a:srgbClr val="262626"/>
            </a:solidFill>
          </a:ln>
        </p:spPr>
        <p:txBody>
          <a:bodyPr wrap="square" rtlCol="0">
            <a:spAutoFit/>
          </a:bodyPr>
          <a:lstStyle>
            <a:defPPr>
              <a:defRPr lang="fr-FR"/>
            </a:defPPr>
            <a:lvl1pPr algn="ctr">
              <a:defRPr sz="1600"/>
            </a:lvl1pPr>
          </a:lstStyle>
          <a:p>
            <a:pPr defTabSz="514350"/>
            <a:r>
              <a:rPr lang="fr-FR" sz="1000" b="1" dirty="0" err="1">
                <a:latin typeface="Calibri" panose="020F0502020204030204"/>
              </a:rPr>
              <a:t>Drinking</a:t>
            </a:r>
            <a:r>
              <a:rPr lang="fr-FR" sz="1000" b="1" dirty="0">
                <a:latin typeface="Calibri" panose="020F0502020204030204"/>
              </a:rPr>
              <a:t> </a:t>
            </a:r>
            <a:r>
              <a:rPr lang="fr-FR" sz="1000" b="1" dirty="0" smtClean="0">
                <a:latin typeface="Calibri" panose="020F0502020204030204"/>
              </a:rPr>
              <a:t>water</a:t>
            </a:r>
          </a:p>
          <a:p>
            <a:pPr defTabSz="514350"/>
            <a:r>
              <a:rPr lang="fr-FR" sz="1000" b="1" dirty="0" err="1">
                <a:latin typeface="Calibri" panose="020F0502020204030204"/>
              </a:rPr>
              <a:t>t</a:t>
            </a:r>
            <a:r>
              <a:rPr lang="fr-FR" sz="1000" b="1" dirty="0" err="1" smtClean="0">
                <a:latin typeface="Calibri" panose="020F0502020204030204"/>
              </a:rPr>
              <a:t>reatment</a:t>
            </a:r>
            <a:r>
              <a:rPr lang="fr-FR" sz="1000" b="1" dirty="0" smtClean="0">
                <a:latin typeface="Calibri" panose="020F0502020204030204"/>
              </a:rPr>
              <a:t> </a:t>
            </a:r>
            <a:endParaRPr lang="fr-FR" sz="1000" b="1" dirty="0">
              <a:latin typeface="Calibri" panose="020F0502020204030204"/>
            </a:endParaRPr>
          </a:p>
        </p:txBody>
      </p:sp>
      <p:pic>
        <p:nvPicPr>
          <p:cNvPr id="130" name="Image 129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401" y="1658817"/>
            <a:ext cx="287534" cy="380006"/>
          </a:xfrm>
          <a:prstGeom prst="rect">
            <a:avLst/>
          </a:prstGeom>
        </p:spPr>
      </p:pic>
      <p:pic>
        <p:nvPicPr>
          <p:cNvPr id="131" name="Image 130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951" y="1675279"/>
            <a:ext cx="340447" cy="369101"/>
          </a:xfrm>
          <a:prstGeom prst="rect">
            <a:avLst/>
          </a:prstGeom>
        </p:spPr>
      </p:pic>
      <p:cxnSp>
        <p:nvCxnSpPr>
          <p:cNvPr id="132" name="Connecteur droit avec flèche 131"/>
          <p:cNvCxnSpPr/>
          <p:nvPr/>
        </p:nvCxnSpPr>
        <p:spPr>
          <a:xfrm flipV="1">
            <a:off x="5817851" y="1825532"/>
            <a:ext cx="348918" cy="569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Image 132"/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380" y="4617453"/>
            <a:ext cx="300386" cy="301269"/>
          </a:xfrm>
          <a:prstGeom prst="rect">
            <a:avLst/>
          </a:prstGeom>
        </p:spPr>
      </p:pic>
      <p:cxnSp>
        <p:nvCxnSpPr>
          <p:cNvPr id="134" name="Connecteur en arc 133"/>
          <p:cNvCxnSpPr>
            <a:stCxn id="133" idx="0"/>
            <a:endCxn id="57" idx="3"/>
          </p:cNvCxnSpPr>
          <p:nvPr/>
        </p:nvCxnSpPr>
        <p:spPr>
          <a:xfrm rot="5400000" flipH="1" flipV="1">
            <a:off x="1108776" y="3923298"/>
            <a:ext cx="1000952" cy="387358"/>
          </a:xfrm>
          <a:prstGeom prst="curvedConnector4">
            <a:avLst>
              <a:gd name="adj1" fmla="val 29070"/>
              <a:gd name="adj2" fmla="val 19508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 en arc 134"/>
          <p:cNvCxnSpPr>
            <a:stCxn id="133" idx="0"/>
            <a:endCxn id="119" idx="0"/>
          </p:cNvCxnSpPr>
          <p:nvPr/>
        </p:nvCxnSpPr>
        <p:spPr>
          <a:xfrm rot="16200000" flipH="1">
            <a:off x="1922569" y="4110456"/>
            <a:ext cx="17423" cy="1031417"/>
          </a:xfrm>
          <a:prstGeom prst="curvedConnector3">
            <a:avLst>
              <a:gd name="adj1" fmla="val -1312059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itre 2"/>
          <p:cNvSpPr txBox="1">
            <a:spLocks/>
          </p:cNvSpPr>
          <p:nvPr/>
        </p:nvSpPr>
        <p:spPr>
          <a:xfrm>
            <a:off x="275431" y="254327"/>
            <a:ext cx="8157703" cy="6369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b="1" dirty="0" err="1" smtClean="0">
                <a:solidFill>
                  <a:srgbClr val="009F79"/>
                </a:solidFill>
                <a:latin typeface="Marianne Medium" panose="02000000000000000000" pitchFamily="50" charset="0"/>
              </a:rPr>
              <a:t>Multipathway</a:t>
            </a:r>
            <a:r>
              <a:rPr lang="fr-FR" sz="3600" b="1" dirty="0" smtClean="0">
                <a:solidFill>
                  <a:srgbClr val="009F79"/>
                </a:solidFill>
                <a:latin typeface="Marianne Medium" panose="02000000000000000000" pitchFamily="50" charset="0"/>
              </a:rPr>
              <a:t> QMRA model</a:t>
            </a:r>
            <a:endParaRPr lang="fr-FR" sz="3600" b="1" dirty="0">
              <a:solidFill>
                <a:srgbClr val="009F79"/>
              </a:solidFill>
              <a:latin typeface="Marianne Medium" panose="02000000000000000000" pitchFamily="50" charset="0"/>
            </a:endParaRPr>
          </a:p>
        </p:txBody>
      </p:sp>
      <p:sp>
        <p:nvSpPr>
          <p:cNvPr id="146" name="Rectangle à coins arrondis 145"/>
          <p:cNvSpPr/>
          <p:nvPr/>
        </p:nvSpPr>
        <p:spPr>
          <a:xfrm>
            <a:off x="2016947" y="5684100"/>
            <a:ext cx="889381" cy="3624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Ɵ</a:t>
            </a:r>
            <a:r>
              <a:rPr lang="fr-FR" sz="9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farm</a:t>
            </a:r>
            <a:endParaRPr lang="fr-FR" sz="2100" dirty="0">
              <a:solidFill>
                <a:schemeClr val="tx1"/>
              </a:solidFill>
            </a:endParaRPr>
          </a:p>
        </p:txBody>
      </p:sp>
      <p:sp>
        <p:nvSpPr>
          <p:cNvPr id="147" name="Rectangle à coins arrondis 146"/>
          <p:cNvSpPr/>
          <p:nvPr/>
        </p:nvSpPr>
        <p:spPr>
          <a:xfrm>
            <a:off x="4360792" y="5685426"/>
            <a:ext cx="939840" cy="3624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Ɵ</a:t>
            </a:r>
            <a:r>
              <a:rPr lang="fr-FR" sz="788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environmental</a:t>
            </a:r>
            <a:endParaRPr lang="fr-FR" sz="2100" dirty="0">
              <a:solidFill>
                <a:schemeClr val="tx1"/>
              </a:solidFill>
            </a:endParaRPr>
          </a:p>
        </p:txBody>
      </p:sp>
      <p:sp>
        <p:nvSpPr>
          <p:cNvPr id="148" name="Rectangle à coins arrondis 147"/>
          <p:cNvSpPr/>
          <p:nvPr/>
        </p:nvSpPr>
        <p:spPr>
          <a:xfrm>
            <a:off x="5729102" y="5684100"/>
            <a:ext cx="928427" cy="3624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Ɵ</a:t>
            </a:r>
            <a:r>
              <a:rPr lang="fr-FR" sz="9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foodborne</a:t>
            </a:r>
            <a:endParaRPr lang="fr-FR" sz="2100" dirty="0">
              <a:solidFill>
                <a:schemeClr val="tx1"/>
              </a:solidFill>
            </a:endParaRPr>
          </a:p>
        </p:txBody>
      </p:sp>
      <p:sp>
        <p:nvSpPr>
          <p:cNvPr id="149" name="Rectangle à coins arrondis 148"/>
          <p:cNvSpPr/>
          <p:nvPr/>
        </p:nvSpPr>
        <p:spPr>
          <a:xfrm>
            <a:off x="7085999" y="5684100"/>
            <a:ext cx="951253" cy="3624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Ɵ</a:t>
            </a:r>
            <a:r>
              <a:rPr lang="fr-FR" sz="9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occupational</a:t>
            </a:r>
            <a:endParaRPr lang="fr-FR" sz="2700" dirty="0">
              <a:solidFill>
                <a:schemeClr val="tx1"/>
              </a:solidFill>
            </a:endParaRPr>
          </a:p>
        </p:txBody>
      </p:sp>
      <p:sp>
        <p:nvSpPr>
          <p:cNvPr id="150" name="Rectangle 149"/>
          <p:cNvSpPr/>
          <p:nvPr/>
        </p:nvSpPr>
        <p:spPr>
          <a:xfrm>
            <a:off x="8629807" y="3094013"/>
            <a:ext cx="1428541" cy="39213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 smtClean="0">
                <a:solidFill>
                  <a:schemeClr val="tx1"/>
                </a:solidFill>
              </a:rPr>
              <a:t>Consumption</a:t>
            </a:r>
            <a:r>
              <a:rPr lang="fr-FR" sz="1200" dirty="0" smtClean="0">
                <a:solidFill>
                  <a:schemeClr val="tx1"/>
                </a:solidFill>
              </a:rPr>
              <a:t> of </a:t>
            </a:r>
            <a:r>
              <a:rPr lang="fr-FR" sz="1200" dirty="0" err="1" smtClean="0">
                <a:solidFill>
                  <a:schemeClr val="tx1"/>
                </a:solidFill>
              </a:rPr>
              <a:t>contaminated</a:t>
            </a:r>
            <a:r>
              <a:rPr lang="fr-FR" sz="1200" dirty="0" smtClean="0">
                <a:solidFill>
                  <a:schemeClr val="tx1"/>
                </a:solidFill>
              </a:rPr>
              <a:t> </a:t>
            </a:r>
            <a:r>
              <a:rPr lang="fr-FR" sz="1200" dirty="0" err="1" smtClean="0">
                <a:solidFill>
                  <a:schemeClr val="tx1"/>
                </a:solidFill>
              </a:rPr>
              <a:t>meat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8557798" y="4467182"/>
            <a:ext cx="1653001" cy="52165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 smtClean="0">
                <a:solidFill>
                  <a:schemeClr val="tx1"/>
                </a:solidFill>
                <a:cs typeface="Calibri" panose="020F0502020204030204" pitchFamily="34" charset="0"/>
              </a:rPr>
              <a:t>Accidental</a:t>
            </a:r>
            <a:r>
              <a:rPr lang="fr-FR" sz="1200" dirty="0" smtClean="0">
                <a:solidFill>
                  <a:schemeClr val="tx1"/>
                </a:solidFill>
                <a:cs typeface="Calibri" panose="020F0502020204030204" pitchFamily="34" charset="0"/>
              </a:rPr>
              <a:t> contact between hands and </a:t>
            </a:r>
            <a:r>
              <a:rPr lang="fr-FR" sz="1200" dirty="0" err="1" smtClean="0">
                <a:solidFill>
                  <a:schemeClr val="tx1"/>
                </a:solidFill>
                <a:cs typeface="Calibri" panose="020F0502020204030204" pitchFamily="34" charset="0"/>
              </a:rPr>
              <a:t>lips</a:t>
            </a:r>
            <a:endParaRPr lang="fr-FR" sz="1200" b="1" i="1" dirty="0">
              <a:solidFill>
                <a:schemeClr val="tx1"/>
              </a:solidFill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8563181" y="1193234"/>
            <a:ext cx="1567176" cy="30697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 smtClean="0">
                <a:solidFill>
                  <a:schemeClr val="tx1"/>
                </a:solidFill>
              </a:rPr>
              <a:t>Accidental</a:t>
            </a:r>
            <a:r>
              <a:rPr lang="fr-FR" sz="1200" dirty="0" smtClean="0">
                <a:solidFill>
                  <a:schemeClr val="tx1"/>
                </a:solidFill>
              </a:rPr>
              <a:t> ingestion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8557799" y="2001622"/>
            <a:ext cx="1572559" cy="43748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 smtClean="0">
                <a:solidFill>
                  <a:schemeClr val="tx1"/>
                </a:solidFill>
                <a:cs typeface="Calibri" panose="020F0502020204030204" pitchFamily="34" charset="0"/>
              </a:rPr>
              <a:t>Consumption</a:t>
            </a:r>
            <a:r>
              <a:rPr lang="fr-FR" sz="1200" dirty="0" smtClean="0">
                <a:solidFill>
                  <a:schemeClr val="tx1"/>
                </a:solidFill>
                <a:cs typeface="Calibri" panose="020F0502020204030204" pitchFamily="34" charset="0"/>
              </a:rPr>
              <a:t> of </a:t>
            </a:r>
            <a:r>
              <a:rPr lang="fr-FR" sz="1200" dirty="0" err="1" smtClean="0">
                <a:solidFill>
                  <a:schemeClr val="tx1"/>
                </a:solidFill>
                <a:cs typeface="Calibri" panose="020F0502020204030204" pitchFamily="34" charset="0"/>
              </a:rPr>
              <a:t>fresh</a:t>
            </a:r>
            <a:r>
              <a:rPr lang="fr-FR" sz="1200" dirty="0" smtClean="0">
                <a:solidFill>
                  <a:schemeClr val="tx1"/>
                </a:solidFill>
                <a:cs typeface="Calibri" panose="020F0502020204030204" pitchFamily="34" charset="0"/>
              </a:rPr>
              <a:t> </a:t>
            </a:r>
            <a:r>
              <a:rPr lang="fr-FR" sz="1200" dirty="0" err="1" smtClean="0">
                <a:solidFill>
                  <a:schemeClr val="tx1"/>
                </a:solidFill>
              </a:rPr>
              <a:t>vegetables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8557799" y="1604622"/>
            <a:ext cx="1572559" cy="30697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 smtClean="0">
                <a:solidFill>
                  <a:schemeClr val="tx1"/>
                </a:solidFill>
              </a:rPr>
              <a:t>Drinking</a:t>
            </a:r>
            <a:r>
              <a:rPr lang="fr-FR" sz="1200" dirty="0" smtClean="0">
                <a:solidFill>
                  <a:schemeClr val="tx1"/>
                </a:solidFill>
              </a:rPr>
              <a:t> </a:t>
            </a:r>
            <a:r>
              <a:rPr lang="fr-FR" sz="1200" dirty="0" err="1" smtClean="0">
                <a:solidFill>
                  <a:schemeClr val="tx1"/>
                </a:solidFill>
              </a:rPr>
              <a:t>tap</a:t>
            </a:r>
            <a:r>
              <a:rPr lang="fr-FR" sz="1200" dirty="0" smtClean="0">
                <a:solidFill>
                  <a:schemeClr val="tx1"/>
                </a:solidFill>
              </a:rPr>
              <a:t> water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55" name="ZoneTexte 154"/>
          <p:cNvSpPr txBox="1"/>
          <p:nvPr/>
        </p:nvSpPr>
        <p:spPr>
          <a:xfrm>
            <a:off x="8557798" y="538332"/>
            <a:ext cx="15725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 smtClean="0"/>
              <a:t>Dose </a:t>
            </a:r>
            <a:r>
              <a:rPr lang="fr-FR" sz="1400" b="1" dirty="0" smtClean="0"/>
              <a:t>(CFU) </a:t>
            </a:r>
            <a:r>
              <a:rPr lang="fr-FR" sz="1600" b="1" dirty="0" smtClean="0"/>
              <a:t>per </a:t>
            </a:r>
            <a:r>
              <a:rPr lang="fr-FR" sz="1600" b="1" dirty="0" err="1" smtClean="0"/>
              <a:t>Encounter</a:t>
            </a:r>
            <a:endParaRPr lang="en-US" sz="1400" b="1" dirty="0"/>
          </a:p>
        </p:txBody>
      </p:sp>
      <p:sp>
        <p:nvSpPr>
          <p:cNvPr id="157" name="Rectangle à coins arrondis 156"/>
          <p:cNvSpPr/>
          <p:nvPr/>
        </p:nvSpPr>
        <p:spPr>
          <a:xfrm>
            <a:off x="10345939" y="1193234"/>
            <a:ext cx="315703" cy="3795607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latin typeface="Marianne Medium" panose="02000000000000000000" pitchFamily="50" charset="0"/>
              </a:rPr>
              <a:t>D</a:t>
            </a:r>
          </a:p>
          <a:p>
            <a:pPr algn="ctr"/>
            <a:r>
              <a:rPr lang="fr-FR" b="1" dirty="0" smtClean="0">
                <a:latin typeface="Marianne Medium" panose="02000000000000000000" pitchFamily="50" charset="0"/>
              </a:rPr>
              <a:t>O</a:t>
            </a:r>
          </a:p>
          <a:p>
            <a:pPr algn="ctr"/>
            <a:r>
              <a:rPr lang="fr-FR" b="1" dirty="0" smtClean="0">
                <a:latin typeface="Marianne Medium" panose="02000000000000000000" pitchFamily="50" charset="0"/>
              </a:rPr>
              <a:t>S</a:t>
            </a:r>
          </a:p>
          <a:p>
            <a:pPr algn="ctr"/>
            <a:r>
              <a:rPr lang="fr-FR" b="1" dirty="0" smtClean="0">
                <a:latin typeface="Marianne Medium" panose="02000000000000000000" pitchFamily="50" charset="0"/>
              </a:rPr>
              <a:t>E</a:t>
            </a:r>
          </a:p>
          <a:p>
            <a:pPr algn="ctr"/>
            <a:endParaRPr lang="fr-FR" b="1" dirty="0">
              <a:latin typeface="Marianne Medium" panose="02000000000000000000" pitchFamily="50" charset="0"/>
            </a:endParaRPr>
          </a:p>
          <a:p>
            <a:pPr algn="ctr"/>
            <a:r>
              <a:rPr lang="fr-FR" b="1" dirty="0" smtClean="0">
                <a:latin typeface="Marianne Medium" panose="02000000000000000000" pitchFamily="50" charset="0"/>
              </a:rPr>
              <a:t>R</a:t>
            </a:r>
          </a:p>
          <a:p>
            <a:pPr algn="ctr"/>
            <a:r>
              <a:rPr lang="fr-FR" b="1" dirty="0" smtClean="0">
                <a:latin typeface="Marianne Medium" panose="02000000000000000000" pitchFamily="50" charset="0"/>
              </a:rPr>
              <a:t>E</a:t>
            </a:r>
          </a:p>
          <a:p>
            <a:pPr algn="ctr"/>
            <a:r>
              <a:rPr lang="fr-FR" b="1" dirty="0" smtClean="0">
                <a:latin typeface="Marianne Medium" panose="02000000000000000000" pitchFamily="50" charset="0"/>
              </a:rPr>
              <a:t>S</a:t>
            </a:r>
          </a:p>
          <a:p>
            <a:pPr algn="ctr"/>
            <a:r>
              <a:rPr lang="fr-FR" b="1" dirty="0" smtClean="0">
                <a:latin typeface="Marianne Medium" panose="02000000000000000000" pitchFamily="50" charset="0"/>
              </a:rPr>
              <a:t>P</a:t>
            </a:r>
          </a:p>
          <a:p>
            <a:pPr algn="ctr"/>
            <a:r>
              <a:rPr lang="fr-FR" b="1" dirty="0" smtClean="0">
                <a:latin typeface="Marianne Medium" panose="02000000000000000000" pitchFamily="50" charset="0"/>
              </a:rPr>
              <a:t>O</a:t>
            </a:r>
          </a:p>
          <a:p>
            <a:pPr algn="ctr"/>
            <a:r>
              <a:rPr lang="fr-FR" b="1" dirty="0" smtClean="0">
                <a:latin typeface="Marianne Medium" panose="02000000000000000000" pitchFamily="50" charset="0"/>
              </a:rPr>
              <a:t>N</a:t>
            </a:r>
          </a:p>
          <a:p>
            <a:pPr algn="ctr"/>
            <a:r>
              <a:rPr lang="fr-FR" b="1" dirty="0" smtClean="0">
                <a:latin typeface="Marianne Medium" panose="02000000000000000000" pitchFamily="50" charset="0"/>
              </a:rPr>
              <a:t>S</a:t>
            </a:r>
          </a:p>
          <a:p>
            <a:pPr algn="ctr"/>
            <a:r>
              <a:rPr lang="fr-FR" b="1" dirty="0" smtClean="0">
                <a:latin typeface="Marianne Medium" panose="02000000000000000000" pitchFamily="50" charset="0"/>
              </a:rPr>
              <a:t>E</a:t>
            </a:r>
          </a:p>
        </p:txBody>
      </p:sp>
      <p:pic>
        <p:nvPicPr>
          <p:cNvPr id="158" name="Image 157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2271" y="3008455"/>
            <a:ext cx="572715" cy="322152"/>
          </a:xfrm>
          <a:prstGeom prst="rect">
            <a:avLst/>
          </a:prstGeom>
        </p:spPr>
      </p:pic>
      <p:sp>
        <p:nvSpPr>
          <p:cNvPr id="159" name="ZoneTexte 158"/>
          <p:cNvSpPr txBox="1"/>
          <p:nvPr/>
        </p:nvSpPr>
        <p:spPr>
          <a:xfrm>
            <a:off x="10676236" y="2466545"/>
            <a:ext cx="12847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 err="1" smtClean="0">
                <a:solidFill>
                  <a:srgbClr val="C00000"/>
                </a:solidFill>
                <a:latin typeface="Marianne Medium" panose="02000000000000000000" pitchFamily="50" charset="0"/>
              </a:rPr>
              <a:t>Probability</a:t>
            </a:r>
            <a:r>
              <a:rPr lang="fr-FR" sz="1200" b="1" dirty="0" smtClean="0">
                <a:solidFill>
                  <a:srgbClr val="C00000"/>
                </a:solidFill>
                <a:latin typeface="Marianne Medium" panose="02000000000000000000" pitchFamily="50" charset="0"/>
              </a:rPr>
              <a:t> of </a:t>
            </a:r>
            <a:r>
              <a:rPr lang="fr-FR" sz="1200" b="1" dirty="0" err="1" smtClean="0">
                <a:solidFill>
                  <a:srgbClr val="C00000"/>
                </a:solidFill>
                <a:latin typeface="Marianne Medium" panose="02000000000000000000" pitchFamily="50" charset="0"/>
              </a:rPr>
              <a:t>colonization</a:t>
            </a:r>
            <a:endParaRPr lang="fr-FR" sz="1200" b="1" dirty="0" smtClean="0">
              <a:solidFill>
                <a:srgbClr val="C00000"/>
              </a:solidFill>
              <a:latin typeface="Marianne Medium" panose="02000000000000000000" pitchFamily="50" charset="0"/>
            </a:endParaRPr>
          </a:p>
          <a:p>
            <a:pPr algn="ctr"/>
            <a:endParaRPr lang="fr-FR" sz="1200" b="1" dirty="0">
              <a:solidFill>
                <a:srgbClr val="C00000"/>
              </a:solidFill>
              <a:latin typeface="Marianne Medium" panose="02000000000000000000" pitchFamily="50" charset="0"/>
            </a:endParaRPr>
          </a:p>
          <a:p>
            <a:pPr algn="ctr"/>
            <a:endParaRPr lang="fr-FR" sz="1200" b="1" dirty="0" smtClean="0">
              <a:solidFill>
                <a:srgbClr val="C00000"/>
              </a:solidFill>
              <a:latin typeface="Marianne Medium" panose="02000000000000000000" pitchFamily="50" charset="0"/>
            </a:endParaRPr>
          </a:p>
          <a:p>
            <a:pPr algn="ctr"/>
            <a:endParaRPr lang="fr-FR" sz="1200" b="1" dirty="0">
              <a:solidFill>
                <a:srgbClr val="C00000"/>
              </a:solidFill>
              <a:latin typeface="Marianne Medium" panose="02000000000000000000" pitchFamily="50" charset="0"/>
            </a:endParaRPr>
          </a:p>
          <a:p>
            <a:pPr algn="ctr"/>
            <a:r>
              <a:rPr lang="fr-FR" sz="1200" dirty="0" smtClean="0">
                <a:solidFill>
                  <a:srgbClr val="C00000"/>
                </a:solidFill>
                <a:latin typeface="Marianne Medium" panose="02000000000000000000" pitchFamily="50" charset="0"/>
              </a:rPr>
              <a:t>Per </a:t>
            </a:r>
            <a:r>
              <a:rPr lang="fr-FR" sz="1200" dirty="0" err="1" smtClean="0">
                <a:solidFill>
                  <a:srgbClr val="C00000"/>
                </a:solidFill>
                <a:latin typeface="Marianne Medium" panose="02000000000000000000" pitchFamily="50" charset="0"/>
              </a:rPr>
              <a:t>encounter</a:t>
            </a:r>
            <a:r>
              <a:rPr lang="fr-FR" sz="1200" dirty="0" smtClean="0">
                <a:solidFill>
                  <a:srgbClr val="C00000"/>
                </a:solidFill>
                <a:latin typeface="Marianne Medium" panose="02000000000000000000" pitchFamily="50" charset="0"/>
              </a:rPr>
              <a:t> </a:t>
            </a:r>
          </a:p>
          <a:p>
            <a:pPr algn="ctr"/>
            <a:r>
              <a:rPr lang="fr-FR" sz="1200" dirty="0" err="1" smtClean="0">
                <a:solidFill>
                  <a:srgbClr val="C00000"/>
                </a:solidFill>
                <a:latin typeface="Marianne Medium" panose="02000000000000000000" pitchFamily="50" charset="0"/>
              </a:rPr>
              <a:t>from</a:t>
            </a:r>
            <a:r>
              <a:rPr lang="fr-FR" sz="1200" dirty="0" smtClean="0">
                <a:solidFill>
                  <a:srgbClr val="C00000"/>
                </a:solidFill>
                <a:latin typeface="Marianne Medium" panose="02000000000000000000" pitchFamily="50" charset="0"/>
              </a:rPr>
              <a:t> one </a:t>
            </a:r>
            <a:r>
              <a:rPr lang="fr-FR" sz="1200" dirty="0" err="1" smtClean="0">
                <a:solidFill>
                  <a:srgbClr val="C00000"/>
                </a:solidFill>
                <a:latin typeface="Marianne Medium" panose="02000000000000000000" pitchFamily="50" charset="0"/>
              </a:rPr>
              <a:t>flock</a:t>
            </a:r>
            <a:r>
              <a:rPr lang="fr-FR" sz="1200" dirty="0" smtClean="0">
                <a:solidFill>
                  <a:srgbClr val="C00000"/>
                </a:solidFill>
                <a:latin typeface="Marianne Medium" panose="02000000000000000000" pitchFamily="50" charset="0"/>
              </a:rPr>
              <a:t> of </a:t>
            </a:r>
            <a:r>
              <a:rPr lang="fr-FR" sz="1200" dirty="0" err="1" smtClean="0">
                <a:solidFill>
                  <a:srgbClr val="C00000"/>
                </a:solidFill>
                <a:latin typeface="Marianne Medium" panose="02000000000000000000" pitchFamily="50" charset="0"/>
              </a:rPr>
              <a:t>broilers</a:t>
            </a:r>
            <a:endParaRPr lang="fr-FR" sz="1200" dirty="0" smtClean="0">
              <a:solidFill>
                <a:srgbClr val="C00000"/>
              </a:solidFill>
              <a:latin typeface="Marianne Medium" panose="02000000000000000000" pitchFamily="50" charset="0"/>
            </a:endParaRPr>
          </a:p>
        </p:txBody>
      </p:sp>
      <p:sp>
        <p:nvSpPr>
          <p:cNvPr id="160" name="ZoneTexte 159"/>
          <p:cNvSpPr txBox="1"/>
          <p:nvPr/>
        </p:nvSpPr>
        <p:spPr>
          <a:xfrm>
            <a:off x="10744950" y="2069779"/>
            <a:ext cx="1147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 smtClean="0"/>
              <a:t>Flock</a:t>
            </a:r>
            <a:r>
              <a:rPr lang="fr-FR" b="1" dirty="0" smtClean="0"/>
              <a:t> </a:t>
            </a:r>
            <a:r>
              <a:rPr lang="fr-FR" b="1" dirty="0" err="1" smtClean="0"/>
              <a:t>Risk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6652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animBg="1"/>
      <p:bldP spid="40" grpId="0"/>
      <p:bldP spid="41" grpId="0"/>
      <p:bldP spid="129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/>
      <p:bldP spid="157" grpId="0" animBg="1"/>
      <p:bldP spid="159" grpId="0"/>
      <p:bldP spid="16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Connecteur droit avec flèche 13"/>
          <p:cNvCxnSpPr>
            <a:stCxn id="12" idx="1"/>
            <a:endCxn id="13" idx="3"/>
          </p:cNvCxnSpPr>
          <p:nvPr/>
        </p:nvCxnSpPr>
        <p:spPr>
          <a:xfrm flipH="1">
            <a:off x="8207398" y="5599614"/>
            <a:ext cx="17705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BBDA1-DD2A-409E-85DF-632157FD849C}" type="slidenum">
              <a:rPr lang="fr-FR" smtClean="0"/>
              <a:pPr/>
              <a:t>4</a:t>
            </a:fld>
            <a:endParaRPr lang="fr-FR"/>
          </a:p>
        </p:txBody>
      </p:sp>
      <p:grpSp>
        <p:nvGrpSpPr>
          <p:cNvPr id="9" name="Groupe 8"/>
          <p:cNvGrpSpPr/>
          <p:nvPr/>
        </p:nvGrpSpPr>
        <p:grpSpPr>
          <a:xfrm>
            <a:off x="5956739" y="1349678"/>
            <a:ext cx="5699874" cy="3850475"/>
            <a:chOff x="5956738" y="1349678"/>
            <a:chExt cx="6717639" cy="4403135"/>
          </a:xfrm>
        </p:grpSpPr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6738" y="1361651"/>
              <a:ext cx="6717639" cy="4379187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5965719" y="1349678"/>
              <a:ext cx="6706688" cy="4403135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itre 2"/>
          <p:cNvSpPr txBox="1">
            <a:spLocks/>
          </p:cNvSpPr>
          <p:nvPr/>
        </p:nvSpPr>
        <p:spPr>
          <a:xfrm>
            <a:off x="275431" y="254327"/>
            <a:ext cx="8157703" cy="6369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b="1" dirty="0" smtClean="0">
                <a:solidFill>
                  <a:srgbClr val="009F79"/>
                </a:solidFill>
                <a:latin typeface="Marianne Medium" panose="02000000000000000000" pitchFamily="50" charset="0"/>
              </a:rPr>
              <a:t>How to </a:t>
            </a:r>
            <a:r>
              <a:rPr lang="fr-FR" sz="3600" b="1" dirty="0" err="1" smtClean="0">
                <a:solidFill>
                  <a:srgbClr val="009F79"/>
                </a:solidFill>
                <a:latin typeface="Marianne Medium" panose="02000000000000000000" pitchFamily="50" charset="0"/>
              </a:rPr>
              <a:t>run</a:t>
            </a:r>
            <a:r>
              <a:rPr lang="fr-FR" sz="3600" b="1" dirty="0" smtClean="0">
                <a:solidFill>
                  <a:srgbClr val="009F79"/>
                </a:solidFill>
                <a:latin typeface="Marianne Medium" panose="02000000000000000000" pitchFamily="50" charset="0"/>
              </a:rPr>
              <a:t> the model ?</a:t>
            </a:r>
            <a:endParaRPr lang="fr-FR" sz="3600" b="1" dirty="0">
              <a:solidFill>
                <a:srgbClr val="009F79"/>
              </a:solidFill>
              <a:latin typeface="Marianne Medium" panose="02000000000000000000" pitchFamily="50" charset="0"/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21" y="1349678"/>
            <a:ext cx="5250808" cy="2359469"/>
          </a:xfrm>
          <a:prstGeom prst="rect">
            <a:avLst/>
          </a:prstGeom>
        </p:spPr>
      </p:pic>
      <p:sp>
        <p:nvSpPr>
          <p:cNvPr id="10" name="Flèche droite 9"/>
          <p:cNvSpPr/>
          <p:nvPr/>
        </p:nvSpPr>
        <p:spPr>
          <a:xfrm>
            <a:off x="5517701" y="2328245"/>
            <a:ext cx="652007" cy="556592"/>
          </a:xfrm>
          <a:prstGeom prst="rightArrow">
            <a:avLst/>
          </a:prstGeom>
          <a:solidFill>
            <a:srgbClr val="009F7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èche droite 10"/>
          <p:cNvSpPr/>
          <p:nvPr/>
        </p:nvSpPr>
        <p:spPr>
          <a:xfrm rot="5400000">
            <a:off x="10935957" y="4995315"/>
            <a:ext cx="652007" cy="556592"/>
          </a:xfrm>
          <a:prstGeom prst="rightArrow">
            <a:avLst/>
          </a:prstGeom>
          <a:solidFill>
            <a:srgbClr val="009F7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à coins arrondis 11"/>
              <p:cNvSpPr/>
              <p:nvPr/>
            </p:nvSpPr>
            <p:spPr>
              <a:xfrm>
                <a:off x="9977939" y="5455598"/>
                <a:ext cx="864096" cy="288032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 dirty="0" smtClean="0">
                    <a:solidFill>
                      <a:schemeClr val="tx1"/>
                    </a:solidFill>
                  </a:rPr>
                  <a:t>R</a:t>
                </a:r>
                <a:r>
                  <a:rPr lang="fr-FR" dirty="0" smtClean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 smtClean="0">
                        <a:solidFill>
                          <a:srgbClr val="FF0000"/>
                        </a:solidFill>
                        <a:cs typeface="Calibri" panose="020F0502020204030204" pitchFamily="34" charset="0"/>
                      </a:rPr>
                      <m:t>ξ</m:t>
                    </m:r>
                  </m:oMath>
                </a14:m>
                <a:r>
                  <a:rPr lang="fr-FR" dirty="0" smtClean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à coins arrondis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7939" y="5455598"/>
                <a:ext cx="864096" cy="288032"/>
              </a:xfrm>
              <a:prstGeom prst="roundRect">
                <a:avLst/>
              </a:prstGeom>
              <a:blipFill>
                <a:blip r:embed="rId4"/>
                <a:stretch>
                  <a:fillRect t="-22449" b="-4489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à coins arrondis 12"/>
          <p:cNvSpPr/>
          <p:nvPr/>
        </p:nvSpPr>
        <p:spPr>
          <a:xfrm>
            <a:off x="7343302" y="5455598"/>
            <a:ext cx="864096" cy="28803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R(</a:t>
            </a:r>
            <a:r>
              <a:rPr lang="fr-FR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Ɵ</a:t>
            </a:r>
            <a:r>
              <a:rPr lang="fr-FR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9836310" y="5803136"/>
            <a:ext cx="1147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 smtClean="0"/>
              <a:t>Flock</a:t>
            </a:r>
            <a:r>
              <a:rPr lang="fr-FR" b="1" dirty="0" smtClean="0"/>
              <a:t> </a:t>
            </a:r>
            <a:r>
              <a:rPr lang="fr-FR" b="1" dirty="0" err="1" smtClean="0"/>
              <a:t>Risk</a:t>
            </a:r>
            <a:endParaRPr lang="en-US" b="1" dirty="0"/>
          </a:p>
        </p:txBody>
      </p:sp>
      <p:sp>
        <p:nvSpPr>
          <p:cNvPr id="21" name="ZoneTexte 20"/>
          <p:cNvSpPr txBox="1"/>
          <p:nvPr/>
        </p:nvSpPr>
        <p:spPr>
          <a:xfrm>
            <a:off x="7083507" y="5803136"/>
            <a:ext cx="1383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 smtClean="0"/>
              <a:t>Average</a:t>
            </a:r>
            <a:r>
              <a:rPr lang="fr-FR" b="1" dirty="0" smtClean="0"/>
              <a:t> </a:t>
            </a:r>
            <a:r>
              <a:rPr lang="fr-FR" b="1" dirty="0" err="1" smtClean="0"/>
              <a:t>Risk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/>
              <p:cNvSpPr txBox="1"/>
              <p:nvPr/>
            </p:nvSpPr>
            <p:spPr>
              <a:xfrm>
                <a:off x="8728204" y="5375346"/>
                <a:ext cx="848312" cy="56643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nor/>
                            </m:rPr>
                            <a:rPr lang="fr-FR" b="1" dirty="0"/>
                            <m:t>R</m:t>
                          </m:r>
                          <m:r>
                            <m:rPr>
                              <m:nor/>
                            </m:rPr>
                            <a:rPr lang="fr-FR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l-GR" b="1" dirty="0" smtClean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m:t>ξ</m:t>
                          </m:r>
                          <m:r>
                            <m:rPr>
                              <m:nor/>
                            </m:rPr>
                            <a:rPr lang="fr-FR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fr-FR" dirty="0"/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nor/>
                            </m:rPr>
                            <a:rPr lang="el-GR" b="1" dirty="0" smtClean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m:t>ξ</m:t>
                          </m:r>
                        </m:e>
                      </m:nary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5" name="ZoneTexte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204" y="5375346"/>
                <a:ext cx="848312" cy="5664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Imag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40" y="3903123"/>
            <a:ext cx="4730993" cy="2152761"/>
          </a:xfrm>
          <a:prstGeom prst="rect">
            <a:avLst/>
          </a:prstGeom>
        </p:spPr>
      </p:pic>
      <p:sp>
        <p:nvSpPr>
          <p:cNvPr id="23" name="Flèche droite 22"/>
          <p:cNvSpPr/>
          <p:nvPr/>
        </p:nvSpPr>
        <p:spPr>
          <a:xfrm rot="10800000">
            <a:off x="5517701" y="5407113"/>
            <a:ext cx="652007" cy="556592"/>
          </a:xfrm>
          <a:prstGeom prst="rightArrow">
            <a:avLst/>
          </a:prstGeom>
          <a:solidFill>
            <a:srgbClr val="009F7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à coins arrondis 23"/>
          <p:cNvSpPr/>
          <p:nvPr/>
        </p:nvSpPr>
        <p:spPr>
          <a:xfrm>
            <a:off x="504120" y="2441050"/>
            <a:ext cx="1873121" cy="818985"/>
          </a:xfrm>
          <a:prstGeom prst="wedgeRoundRectCallout">
            <a:avLst>
              <a:gd name="adj1" fmla="val 44723"/>
              <a:gd name="adj2" fmla="val 135831"/>
              <a:gd name="adj3" fmla="val 16667"/>
            </a:avLst>
          </a:prstGeom>
          <a:solidFill>
            <a:srgbClr val="009F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 smtClean="0"/>
              <a:t>Annual</a:t>
            </a:r>
            <a:r>
              <a:rPr lang="fr-FR" sz="1600" b="1" dirty="0" smtClean="0"/>
              <a:t> </a:t>
            </a:r>
            <a:r>
              <a:rPr lang="fr-FR" sz="1600" b="1" dirty="0" err="1" smtClean="0"/>
              <a:t>encounter</a:t>
            </a:r>
            <a:r>
              <a:rPr lang="fr-FR" sz="1600" b="1" dirty="0" smtClean="0"/>
              <a:t> </a:t>
            </a:r>
            <a:r>
              <a:rPr lang="fr-FR" sz="1600" b="1" dirty="0" err="1" smtClean="0"/>
              <a:t>events</a:t>
            </a:r>
            <a:r>
              <a:rPr lang="fr-FR" sz="1600" b="1" dirty="0" smtClean="0"/>
              <a:t> per </a:t>
            </a:r>
            <a:r>
              <a:rPr lang="fr-FR" sz="1600" b="1" dirty="0" err="1" smtClean="0"/>
              <a:t>person</a:t>
            </a:r>
            <a:endParaRPr lang="en-US" sz="1600" b="1" dirty="0"/>
          </a:p>
        </p:txBody>
      </p:sp>
      <p:sp>
        <p:nvSpPr>
          <p:cNvPr id="25" name="Rectangle à coins arrondis 24"/>
          <p:cNvSpPr/>
          <p:nvPr/>
        </p:nvSpPr>
        <p:spPr>
          <a:xfrm>
            <a:off x="2618551" y="2627597"/>
            <a:ext cx="1215135" cy="785692"/>
          </a:xfrm>
          <a:prstGeom prst="wedgeRoundRectCallout">
            <a:avLst>
              <a:gd name="adj1" fmla="val -26090"/>
              <a:gd name="adj2" fmla="val 125168"/>
              <a:gd name="adj3" fmla="val 16667"/>
            </a:avLst>
          </a:prstGeom>
          <a:solidFill>
            <a:srgbClr val="009F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smtClean="0"/>
              <a:t>Total population </a:t>
            </a:r>
            <a:r>
              <a:rPr lang="fr-FR" sz="1600" b="1" dirty="0" err="1" smtClean="0"/>
              <a:t>exposed</a:t>
            </a:r>
            <a:endParaRPr lang="en-US" sz="1600" b="1" dirty="0"/>
          </a:p>
        </p:txBody>
      </p:sp>
      <p:sp>
        <p:nvSpPr>
          <p:cNvPr id="26" name="Rectangle à coins arrondis 25"/>
          <p:cNvSpPr/>
          <p:nvPr/>
        </p:nvSpPr>
        <p:spPr>
          <a:xfrm>
            <a:off x="4079020" y="2806810"/>
            <a:ext cx="1364592" cy="795130"/>
          </a:xfrm>
          <a:prstGeom prst="wedgeRoundRectCallout">
            <a:avLst>
              <a:gd name="adj1" fmla="val 12590"/>
              <a:gd name="adj2" fmla="val 94819"/>
              <a:gd name="adj3" fmla="val 16667"/>
            </a:avLst>
          </a:prstGeom>
          <a:solidFill>
            <a:srgbClr val="009F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 smtClean="0"/>
              <a:t>Annual</a:t>
            </a:r>
            <a:r>
              <a:rPr lang="fr-FR" sz="1600" b="1" dirty="0" smtClean="0"/>
              <a:t> ESBL </a:t>
            </a:r>
            <a:r>
              <a:rPr lang="fr-FR" sz="1600" b="1" dirty="0" err="1" smtClean="0"/>
              <a:t>colonization</a:t>
            </a:r>
            <a:r>
              <a:rPr lang="fr-FR" sz="1600" b="1" dirty="0" smtClean="0"/>
              <a:t> cases</a:t>
            </a:r>
            <a:endParaRPr lang="en-US" sz="1600" b="1" dirty="0"/>
          </a:p>
        </p:txBody>
      </p:sp>
      <p:sp>
        <p:nvSpPr>
          <p:cNvPr id="27" name="Rectangle à coins arrondis 26"/>
          <p:cNvSpPr/>
          <p:nvPr/>
        </p:nvSpPr>
        <p:spPr>
          <a:xfrm>
            <a:off x="3339548" y="3903123"/>
            <a:ext cx="1383527" cy="2152761"/>
          </a:xfrm>
          <a:prstGeom prst="roundRect">
            <a:avLst>
              <a:gd name="adj" fmla="val 4023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66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20" grpId="0"/>
      <p:bldP spid="21" grpId="0"/>
      <p:bldP spid="15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BBDA1-DD2A-409E-85DF-632157FD849C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4" name="Espace réservé du texte 4"/>
          <p:cNvSpPr txBox="1">
            <a:spLocks/>
          </p:cNvSpPr>
          <p:nvPr/>
        </p:nvSpPr>
        <p:spPr>
          <a:xfrm>
            <a:off x="349218" y="1179296"/>
            <a:ext cx="11259686" cy="315878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 smtClean="0">
                <a:latin typeface="Marianne Medium" panose="02000000000000000000" pitchFamily="50" charset="0"/>
              </a:rPr>
              <a:t>“</a:t>
            </a:r>
            <a:r>
              <a:rPr lang="en-US" sz="2400" i="1" dirty="0" smtClean="0">
                <a:latin typeface="Marianne Medium" panose="02000000000000000000" pitchFamily="50" charset="0"/>
              </a:rPr>
              <a:t>Models are always incomplete representations of the system they are intended to model, but they can still be useful</a:t>
            </a:r>
            <a:r>
              <a:rPr lang="en-US" sz="2400" dirty="0" smtClean="0">
                <a:latin typeface="Marianne Medium" panose="02000000000000000000" pitchFamily="50" charset="0"/>
              </a:rPr>
              <a:t>” – </a:t>
            </a:r>
            <a:r>
              <a:rPr lang="en-US" sz="2400" dirty="0" smtClean="0">
                <a:solidFill>
                  <a:srgbClr val="FF0000"/>
                </a:solidFill>
                <a:latin typeface="Marianne Medium" panose="02000000000000000000" pitchFamily="50" charset="0"/>
              </a:rPr>
              <a:t>WHO (2021)</a:t>
            </a:r>
          </a:p>
          <a:p>
            <a:pPr marL="285750" indent="-285750"/>
            <a:endParaRPr lang="en-US" sz="2400" dirty="0">
              <a:latin typeface="Marianne Medium" panose="02000000000000000000" pitchFamily="50" charset="0"/>
            </a:endParaRPr>
          </a:p>
          <a:p>
            <a:pPr marL="285750" indent="-285750"/>
            <a:r>
              <a:rPr lang="en-US" sz="2400" dirty="0" smtClean="0">
                <a:latin typeface="Marianne Medium" panose="02000000000000000000" pitchFamily="50" charset="0"/>
              </a:rPr>
              <a:t>Testing expensive </a:t>
            </a:r>
            <a:r>
              <a:rPr lang="en-US" sz="2400" dirty="0" smtClean="0">
                <a:solidFill>
                  <a:srgbClr val="009F79"/>
                </a:solidFill>
                <a:latin typeface="Marianne Medium" panose="02000000000000000000" pitchFamily="50" charset="0"/>
              </a:rPr>
              <a:t>intervention</a:t>
            </a:r>
            <a:r>
              <a:rPr lang="en-US" sz="2400" dirty="0" smtClean="0">
                <a:latin typeface="Marianne Medium" panose="02000000000000000000" pitchFamily="50" charset="0"/>
              </a:rPr>
              <a:t> protocols</a:t>
            </a:r>
          </a:p>
          <a:p>
            <a:pPr marL="285750" indent="-285750"/>
            <a:r>
              <a:rPr lang="en-US" sz="2400" dirty="0" smtClean="0">
                <a:latin typeface="Marianne Medium" panose="02000000000000000000" pitchFamily="50" charset="0"/>
              </a:rPr>
              <a:t>Identifying influential </a:t>
            </a:r>
            <a:r>
              <a:rPr lang="en-US" sz="2400" dirty="0" smtClean="0">
                <a:solidFill>
                  <a:srgbClr val="009F79"/>
                </a:solidFill>
                <a:latin typeface="Marianne Medium" panose="02000000000000000000" pitchFamily="50" charset="0"/>
              </a:rPr>
              <a:t>parameters</a:t>
            </a:r>
          </a:p>
          <a:p>
            <a:pPr marL="285750" indent="-285750"/>
            <a:r>
              <a:rPr lang="en-US" sz="2400" dirty="0" smtClean="0">
                <a:latin typeface="Marianne Medium" panose="02000000000000000000" pitchFamily="50" charset="0"/>
              </a:rPr>
              <a:t>Compare different </a:t>
            </a:r>
            <a:r>
              <a:rPr lang="en-US" sz="2400" dirty="0" smtClean="0">
                <a:solidFill>
                  <a:srgbClr val="009F79"/>
                </a:solidFill>
                <a:latin typeface="Marianne Medium" panose="02000000000000000000" pitchFamily="50" charset="0"/>
              </a:rPr>
              <a:t>production</a:t>
            </a:r>
            <a:r>
              <a:rPr lang="en-US" sz="2400" dirty="0" smtClean="0">
                <a:latin typeface="Marianne Medium" panose="02000000000000000000" pitchFamily="50" charset="0"/>
              </a:rPr>
              <a:t> scenarios</a:t>
            </a:r>
          </a:p>
          <a:p>
            <a:pPr marL="285750" indent="-285750"/>
            <a:r>
              <a:rPr lang="en-US" sz="2400" dirty="0" smtClean="0">
                <a:latin typeface="Marianne Medium" panose="02000000000000000000" pitchFamily="50" charset="0"/>
              </a:rPr>
              <a:t>Categorize </a:t>
            </a:r>
            <a:r>
              <a:rPr lang="en-US" sz="2400" dirty="0" smtClean="0">
                <a:solidFill>
                  <a:srgbClr val="009F79"/>
                </a:solidFill>
                <a:latin typeface="Marianne Medium" panose="02000000000000000000" pitchFamily="50" charset="0"/>
              </a:rPr>
              <a:t>pathways</a:t>
            </a:r>
            <a:r>
              <a:rPr lang="en-US" sz="2400" dirty="0" smtClean="0">
                <a:latin typeface="Marianne Medium" panose="02000000000000000000" pitchFamily="50" charset="0"/>
              </a:rPr>
              <a:t> with high exposure </a:t>
            </a:r>
            <a:endParaRPr lang="en-US" sz="2400" dirty="0">
              <a:latin typeface="Marianne Medium" panose="02000000000000000000" pitchFamily="50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2568922" y="5243591"/>
            <a:ext cx="1800200" cy="576064"/>
          </a:xfrm>
          <a:prstGeom prst="roundRect">
            <a:avLst/>
          </a:prstGeom>
          <a:solidFill>
            <a:srgbClr val="009F7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QMRA</a:t>
            </a:r>
            <a:endParaRPr lang="fr-FR" sz="1600" b="1" dirty="0">
              <a:solidFill>
                <a:schemeClr val="tx1"/>
              </a:solidFill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5437128" y="5243591"/>
            <a:ext cx="1800200" cy="576064"/>
          </a:xfrm>
          <a:prstGeom prst="roundRect">
            <a:avLst/>
          </a:prstGeom>
          <a:solidFill>
            <a:srgbClr val="009F7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 smtClean="0">
                <a:solidFill>
                  <a:schemeClr val="tx1"/>
                </a:solidFill>
              </a:rPr>
              <a:t>Risk</a:t>
            </a:r>
            <a:r>
              <a:rPr lang="fr-FR" b="1" dirty="0" smtClean="0">
                <a:solidFill>
                  <a:schemeClr val="tx1"/>
                </a:solidFill>
              </a:rPr>
              <a:t> management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49218" y="4456199"/>
            <a:ext cx="10536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rgbClr val="009F79"/>
                </a:solidFill>
              </a:rPr>
              <a:t>Guidelines by Codex </a:t>
            </a:r>
            <a:r>
              <a:rPr lang="fr-FR" sz="2400" dirty="0" err="1" smtClean="0">
                <a:solidFill>
                  <a:srgbClr val="009F79"/>
                </a:solidFill>
              </a:rPr>
              <a:t>Alimentarius</a:t>
            </a:r>
            <a:r>
              <a:rPr lang="fr-FR" sz="2400" dirty="0" smtClean="0">
                <a:solidFill>
                  <a:srgbClr val="009F79"/>
                </a:solidFill>
              </a:rPr>
              <a:t> Commission </a:t>
            </a:r>
            <a:r>
              <a:rPr lang="fr-FR" sz="2400" dirty="0" smtClean="0"/>
              <a:t>– </a:t>
            </a:r>
            <a:r>
              <a:rPr lang="fr-FR" sz="2400" dirty="0" smtClean="0">
                <a:solidFill>
                  <a:srgbClr val="FF0000"/>
                </a:solidFill>
              </a:rPr>
              <a:t>FAO and WHO (1999)</a:t>
            </a:r>
            <a:endParaRPr lang="fr-FR" sz="2400" dirty="0">
              <a:solidFill>
                <a:srgbClr val="FF0000"/>
              </a:solidFill>
            </a:endParaRPr>
          </a:p>
        </p:txBody>
      </p:sp>
      <p:cxnSp>
        <p:nvCxnSpPr>
          <p:cNvPr id="9" name="Connecteur droit avec flèche 8"/>
          <p:cNvCxnSpPr>
            <a:stCxn id="6" idx="3"/>
            <a:endCxn id="7" idx="1"/>
          </p:cNvCxnSpPr>
          <p:nvPr/>
        </p:nvCxnSpPr>
        <p:spPr>
          <a:xfrm>
            <a:off x="4369122" y="5531623"/>
            <a:ext cx="106800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/>
        </p:nvSpPr>
        <p:spPr>
          <a:xfrm>
            <a:off x="7934970" y="5181895"/>
            <a:ext cx="1179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Policy </a:t>
            </a:r>
            <a:r>
              <a:rPr lang="fr-FR" dirty="0" err="1" smtClean="0"/>
              <a:t>making</a:t>
            </a:r>
            <a:endParaRPr lang="fr-FR" dirty="0"/>
          </a:p>
        </p:txBody>
      </p:sp>
      <p:sp>
        <p:nvSpPr>
          <p:cNvPr id="11" name="Flèche droite 10"/>
          <p:cNvSpPr/>
          <p:nvPr/>
        </p:nvSpPr>
        <p:spPr>
          <a:xfrm>
            <a:off x="7606087" y="5423611"/>
            <a:ext cx="288032" cy="21602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itre 2"/>
          <p:cNvSpPr txBox="1">
            <a:spLocks/>
          </p:cNvSpPr>
          <p:nvPr/>
        </p:nvSpPr>
        <p:spPr>
          <a:xfrm>
            <a:off x="275431" y="254327"/>
            <a:ext cx="8157703" cy="6369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b="1" dirty="0" smtClean="0">
                <a:solidFill>
                  <a:srgbClr val="009F79"/>
                </a:solidFill>
                <a:latin typeface="Marianne Medium" panose="02000000000000000000" pitchFamily="50" charset="0"/>
              </a:rPr>
              <a:t>Use of QMRA model</a:t>
            </a:r>
            <a:endParaRPr lang="fr-FR" sz="3600" b="1" dirty="0">
              <a:solidFill>
                <a:srgbClr val="009F79"/>
              </a:solidFill>
              <a:latin typeface="Marianne Medium" panose="02000000000000000000" pitchFamily="50" charset="0"/>
            </a:endParaRPr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427" y="5134411"/>
            <a:ext cx="872115" cy="741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38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animBg="1"/>
      <p:bldP spid="7" grpId="0" animBg="1"/>
      <p:bldP spid="8" grpId="0"/>
      <p:bldP spid="10" grpId="0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/>
          <p:cNvGrpSpPr/>
          <p:nvPr/>
        </p:nvGrpSpPr>
        <p:grpSpPr>
          <a:xfrm>
            <a:off x="0" y="0"/>
            <a:ext cx="12187206" cy="664916"/>
            <a:chOff x="0" y="0"/>
            <a:chExt cx="12187206" cy="664916"/>
          </a:xfrm>
        </p:grpSpPr>
        <p:pic>
          <p:nvPicPr>
            <p:cNvPr id="37" name="Image 3"/>
            <p:cNvPicPr preferRelativeResize="0"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826"/>
            <a:stretch/>
          </p:blipFill>
          <p:spPr bwMode="auto">
            <a:xfrm rot="10800000">
              <a:off x="7086215" y="0"/>
              <a:ext cx="5100991" cy="649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" name="Image 4"/>
            <p:cNvPicPr preferRelativeResize="0"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132" t="8752"/>
            <a:stretch/>
          </p:blipFill>
          <p:spPr bwMode="auto">
            <a:xfrm rot="10800000">
              <a:off x="0" y="519"/>
              <a:ext cx="3716991" cy="664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" name="Image 3"/>
            <p:cNvPicPr preferRelativeResize="0"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091" t="23420"/>
            <a:stretch/>
          </p:blipFill>
          <p:spPr bwMode="auto">
            <a:xfrm rot="10800000">
              <a:off x="3670891" y="1764"/>
              <a:ext cx="3461925" cy="557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4" name="Image 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64" t="7500" r="9162" b="10330"/>
          <a:stretch/>
        </p:blipFill>
        <p:spPr bwMode="auto">
          <a:xfrm>
            <a:off x="10724701" y="684662"/>
            <a:ext cx="1354793" cy="10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5" name="Tableau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46964"/>
              </p:ext>
            </p:extLst>
          </p:nvPr>
        </p:nvGraphicFramePr>
        <p:xfrm>
          <a:off x="1459759" y="5109844"/>
          <a:ext cx="9237700" cy="5762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36893">
                  <a:extLst>
                    <a:ext uri="{9D8B030D-6E8A-4147-A177-3AD203B41FA5}">
                      <a16:colId xmlns:a16="http://schemas.microsoft.com/office/drawing/2014/main" val="3703706416"/>
                    </a:ext>
                  </a:extLst>
                </a:gridCol>
                <a:gridCol w="4000807">
                  <a:extLst>
                    <a:ext uri="{9D8B030D-6E8A-4147-A177-3AD203B41FA5}">
                      <a16:colId xmlns:a16="http://schemas.microsoft.com/office/drawing/2014/main" val="2224208295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algn="ctr"/>
                      <a:r>
                        <a:rPr lang="fr-FR" sz="2800" b="1" kern="1200" dirty="0">
                          <a:solidFill>
                            <a:schemeClr val="tx1"/>
                          </a:solidFill>
                          <a:effectLst/>
                          <a:latin typeface="Marianne Medium" panose="02000000000000000000" pitchFamily="50" charset="0"/>
                          <a:ea typeface="+mn-ea"/>
                          <a:cs typeface="Nirmala UI" panose="020B0502040204020203" pitchFamily="34" charset="0"/>
                        </a:rPr>
                        <a:t>4 &amp; 5 June 2025</a:t>
                      </a:r>
                    </a:p>
                  </a:txBody>
                  <a:tcPr marL="68584" marR="6858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1200"/>
                        </a:spcAft>
                      </a:pPr>
                      <a:r>
                        <a:rPr lang="fr-FR" sz="2400" b="1" kern="1200" dirty="0">
                          <a:solidFill>
                            <a:schemeClr val="tx1"/>
                          </a:solidFill>
                          <a:effectLst/>
                          <a:latin typeface="Marianne Medium" panose="02000000000000000000" pitchFamily="50" charset="0"/>
                          <a:ea typeface="+mn-ea"/>
                          <a:cs typeface="Nirmala UI" panose="020B0502040204020203" pitchFamily="34" charset="0"/>
                        </a:rPr>
                        <a:t>Anses – Maisons-Alfort</a:t>
                      </a:r>
                      <a:endParaRPr lang="fr-FR" sz="2400" b="0" kern="1200" dirty="0">
                        <a:solidFill>
                          <a:schemeClr val="tx1"/>
                        </a:solidFill>
                        <a:effectLst/>
                        <a:latin typeface="Marianne Medium" panose="02000000000000000000" pitchFamily="50" charset="0"/>
                        <a:ea typeface="+mn-ea"/>
                        <a:cs typeface="Nirmala UI" panose="020B0502040204020203" pitchFamily="34" charset="0"/>
                      </a:endParaRPr>
                    </a:p>
                  </a:txBody>
                  <a:tcPr marL="68584" marR="68584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1730"/>
                  </a:ext>
                </a:extLst>
              </a:tr>
            </a:tbl>
          </a:graphicData>
        </a:graphic>
      </p:graphicFrame>
      <p:sp>
        <p:nvSpPr>
          <p:cNvPr id="26" name="Rectangle 1"/>
          <p:cNvSpPr>
            <a:spLocks noChangeArrowheads="1"/>
          </p:cNvSpPr>
          <p:nvPr/>
        </p:nvSpPr>
        <p:spPr bwMode="auto">
          <a:xfrm>
            <a:off x="230258" y="2469402"/>
            <a:ext cx="1169669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fr-FR" sz="3600" b="1" dirty="0" err="1" smtClean="0">
                <a:solidFill>
                  <a:srgbClr val="00AB95"/>
                </a:solidFill>
                <a:latin typeface="Marianne Medium" panose="02000000000000000000" pitchFamily="50" charset="0"/>
              </a:rPr>
              <a:t>Thank</a:t>
            </a:r>
            <a:r>
              <a:rPr lang="fr-FR" sz="3600" b="1" dirty="0" smtClean="0">
                <a:solidFill>
                  <a:srgbClr val="00AB95"/>
                </a:solidFill>
                <a:latin typeface="Marianne Medium" panose="02000000000000000000" pitchFamily="50" charset="0"/>
              </a:rPr>
              <a:t> </a:t>
            </a:r>
            <a:r>
              <a:rPr lang="fr-FR" sz="3600" b="1" dirty="0" err="1" smtClean="0">
                <a:solidFill>
                  <a:srgbClr val="00AB95"/>
                </a:solidFill>
                <a:latin typeface="Marianne Medium" panose="02000000000000000000" pitchFamily="50" charset="0"/>
              </a:rPr>
              <a:t>you</a:t>
            </a:r>
            <a:r>
              <a:rPr lang="fr-FR" sz="3600" b="1" dirty="0" smtClean="0">
                <a:solidFill>
                  <a:srgbClr val="00AB95"/>
                </a:solidFill>
                <a:latin typeface="Marianne Medium" panose="02000000000000000000" pitchFamily="50" charset="0"/>
              </a:rPr>
              <a:t> for </a:t>
            </a:r>
            <a:r>
              <a:rPr lang="fr-FR" sz="3600" b="1" dirty="0" err="1" smtClean="0">
                <a:solidFill>
                  <a:srgbClr val="00AB95"/>
                </a:solidFill>
                <a:latin typeface="Marianne Medium" panose="02000000000000000000" pitchFamily="50" charset="0"/>
              </a:rPr>
              <a:t>your</a:t>
            </a:r>
            <a:r>
              <a:rPr lang="fr-FR" sz="3600" b="1" dirty="0" smtClean="0">
                <a:solidFill>
                  <a:srgbClr val="00AB95"/>
                </a:solidFill>
                <a:latin typeface="Marianne Medium" panose="02000000000000000000" pitchFamily="50" charset="0"/>
              </a:rPr>
              <a:t> attention !</a:t>
            </a:r>
            <a:endParaRPr lang="en-US" sz="3600" b="1" dirty="0">
              <a:solidFill>
                <a:srgbClr val="00AB95"/>
              </a:solidFill>
              <a:latin typeface="Marianne Medium" panose="02000000000000000000" pitchFamily="50" charset="0"/>
            </a:endParaRPr>
          </a:p>
        </p:txBody>
      </p:sp>
      <p:grpSp>
        <p:nvGrpSpPr>
          <p:cNvPr id="3" name="Groupe 2"/>
          <p:cNvGrpSpPr/>
          <p:nvPr/>
        </p:nvGrpSpPr>
        <p:grpSpPr>
          <a:xfrm>
            <a:off x="-3444" y="6200740"/>
            <a:ext cx="12187206" cy="664397"/>
            <a:chOff x="-3444" y="6200740"/>
            <a:chExt cx="12187206" cy="664397"/>
          </a:xfrm>
        </p:grpSpPr>
        <p:pic>
          <p:nvPicPr>
            <p:cNvPr id="11" name="Image 3"/>
            <p:cNvPicPr preferRelativeResize="0"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826"/>
            <a:stretch/>
          </p:blipFill>
          <p:spPr bwMode="auto">
            <a:xfrm>
              <a:off x="-3444" y="6212880"/>
              <a:ext cx="5100991" cy="649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Image 4"/>
            <p:cNvPicPr preferRelativeResize="0"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132" t="8752"/>
            <a:stretch/>
          </p:blipFill>
          <p:spPr bwMode="auto">
            <a:xfrm>
              <a:off x="8466771" y="6200740"/>
              <a:ext cx="3716991" cy="664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Image 3"/>
            <p:cNvPicPr preferRelativeResize="0"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091" t="23420"/>
            <a:stretch/>
          </p:blipFill>
          <p:spPr bwMode="auto">
            <a:xfrm>
              <a:off x="5050946" y="6305134"/>
              <a:ext cx="3461925" cy="557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" name="ZoneTexte 13"/>
          <p:cNvSpPr txBox="1"/>
          <p:nvPr/>
        </p:nvSpPr>
        <p:spPr>
          <a:xfrm>
            <a:off x="4150747" y="3441820"/>
            <a:ext cx="38557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latin typeface="Marianne Medium" panose="02000000000000000000" pitchFamily="50" charset="0"/>
              </a:rPr>
              <a:t>Subhasish BASAK</a:t>
            </a:r>
            <a:r>
              <a:rPr lang="fr-FR" sz="2400" dirty="0" smtClean="0">
                <a:solidFill>
                  <a:srgbClr val="CC0000"/>
                </a:solidFill>
                <a:latin typeface="Marianne Medium" panose="02000000000000000000" pitchFamily="50" charset="0"/>
              </a:rPr>
              <a:t/>
            </a:r>
            <a:br>
              <a:rPr lang="fr-FR" sz="2400" dirty="0" smtClean="0">
                <a:solidFill>
                  <a:srgbClr val="CC0000"/>
                </a:solidFill>
                <a:latin typeface="Marianne Medium" panose="02000000000000000000" pitchFamily="50" charset="0"/>
              </a:rPr>
            </a:br>
            <a:r>
              <a:rPr lang="fr-FR" sz="1600" b="1" dirty="0" smtClean="0">
                <a:solidFill>
                  <a:srgbClr val="009F79"/>
                </a:solidFill>
                <a:latin typeface="Marianne Medium" panose="02000000000000000000" pitchFamily="50" charset="0"/>
              </a:rPr>
              <a:t>ANSES - Laboratoire de Lyon</a:t>
            </a:r>
            <a:br>
              <a:rPr lang="fr-FR" sz="1600" b="1" dirty="0" smtClean="0">
                <a:solidFill>
                  <a:srgbClr val="009F79"/>
                </a:solidFill>
                <a:latin typeface="Marianne Medium" panose="02000000000000000000" pitchFamily="50" charset="0"/>
              </a:rPr>
            </a:br>
            <a:r>
              <a:rPr lang="fr-FR" dirty="0" smtClean="0">
                <a:latin typeface="Marianne Medium" panose="02000000000000000000" pitchFamily="50" charset="0"/>
              </a:rPr>
              <a:t>subhasish.basak@anses.fr</a:t>
            </a:r>
            <a:endParaRPr lang="fr-FR" sz="1600" dirty="0">
              <a:latin typeface="Marianne Medium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218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290</Words>
  <Application>Microsoft Office PowerPoint</Application>
  <PresentationFormat>Grand écran</PresentationFormat>
  <Paragraphs>85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Marianne Medium</vt:lpstr>
      <vt:lpstr>Nirmala UI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ANSES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CHARRON Laetitia</dc:creator>
  <cp:lastModifiedBy>BASAK Subhasish</cp:lastModifiedBy>
  <cp:revision>81</cp:revision>
  <dcterms:created xsi:type="dcterms:W3CDTF">2021-07-27T15:09:46Z</dcterms:created>
  <dcterms:modified xsi:type="dcterms:W3CDTF">2025-05-26T12:03:33Z</dcterms:modified>
</cp:coreProperties>
</file>