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75" r:id="rId5"/>
    <p:sldId id="276" r:id="rId6"/>
    <p:sldId id="277" r:id="rId7"/>
    <p:sldId id="27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FFF"/>
    <a:srgbClr val="3C3C64"/>
    <a:srgbClr val="E6E6F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2" d="100"/>
          <a:sy n="72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FCE72-B38F-447B-9C80-EEE76D258505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77B5B-37D9-40BD-AD3E-CABEA765D11A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4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30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423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992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254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149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583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677B5B-37D9-40BD-AD3E-CABEA765D11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601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67E8B-B4F2-4731-AEA6-532BAC3071EA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819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7F75A-5EAB-4F5C-A89C-AA275552D76C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65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DE04E-CF5C-406A-982A-40CE1BED8155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58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A3C7-8B5A-4AB6-BA12-9B8622BB4C2D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311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CE701-8A95-4843-97EA-0AAFEF091AA1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932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D7082-C92C-4A1E-ABCF-414C1AB19F49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787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2CBC-EF22-4DA3-9C94-E1D01CC27742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851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7AAD-8068-4ABB-9C25-C01F2C91C761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535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DCB9-52BB-4097-BBE2-FA0EC96C0FF4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909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5B92-B14F-4AFE-AE43-AC73F6E97BF5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630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35465-A130-4E66-B6D3-FA4AAB741E64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049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BF02E-73C3-4D64-B06F-F55064864EBE}" type="datetime1">
              <a:rPr lang="fr-FR" smtClean="0"/>
              <a:t>17/02/2026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426DF-CA3C-4FFE-AEBA-47BB89F5427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31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00566" y="1383737"/>
            <a:ext cx="11590867" cy="448171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400" dirty="0" err="1">
                <a:solidFill>
                  <a:schemeClr val="bg1"/>
                </a:solidFill>
                <a:latin typeface="Adobe Devanagari" panose="02040503050201020203"/>
              </a:rPr>
              <a:t>Parcours</a:t>
            </a:r>
            <a:r>
              <a:rPr lang="en-US" sz="4400" dirty="0">
                <a:solidFill>
                  <a:schemeClr val="bg1"/>
                </a:solidFill>
                <a:latin typeface="Adobe Devanagari" panose="02040503050201020203"/>
              </a:rPr>
              <a:t> et premiers </a:t>
            </a:r>
            <a:r>
              <a:rPr lang="en-US" sz="4400" dirty="0" err="1">
                <a:solidFill>
                  <a:schemeClr val="bg1"/>
                </a:solidFill>
                <a:latin typeface="Adobe Devanagari" panose="02040503050201020203"/>
              </a:rPr>
              <a:t>pistes</a:t>
            </a:r>
            <a:r>
              <a:rPr lang="en-US" sz="4400" dirty="0">
                <a:solidFill>
                  <a:schemeClr val="bg1"/>
                </a:solidFill>
                <a:latin typeface="Adobe Devanagari" panose="02040503050201020203"/>
              </a:rPr>
              <a:t> sur le project COMBINE</a:t>
            </a:r>
            <a:br>
              <a:rPr lang="fr-FR" sz="4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br>
              <a:rPr lang="fr-FR" sz="4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r>
              <a:rPr lang="fr-FR" sz="32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</a:t>
            </a:r>
            <a:r>
              <a:rPr lang="fr-FR" sz="3200" baseline="30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1,2</a:t>
            </a:r>
            <a:br>
              <a:rPr lang="fr-FR" sz="4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br>
              <a:rPr lang="fr-FR" sz="2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r>
              <a:rPr lang="fr-FR" sz="2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Février 17, 2026</a:t>
            </a:r>
            <a:br>
              <a:rPr lang="fr-FR" sz="24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br>
              <a:rPr lang="fr-FR" sz="28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r>
              <a:rPr lang="en-US" sz="2400" i="0" u="none" strike="noStrike" baseline="0" dirty="0">
                <a:solidFill>
                  <a:schemeClr val="bg1"/>
                </a:solidFill>
                <a:latin typeface="Adobe Devanagari" panose="02040503050201020203"/>
              </a:rPr>
              <a:t>COMBINE - Réunion </a:t>
            </a:r>
            <a:r>
              <a:rPr lang="en-US" sz="2400" i="0" u="none" strike="noStrike" baseline="0" dirty="0" err="1">
                <a:solidFill>
                  <a:schemeClr val="bg1"/>
                </a:solidFill>
                <a:latin typeface="Adobe Devanagari" panose="02040503050201020203"/>
              </a:rPr>
              <a:t>plénière</a:t>
            </a:r>
            <a:r>
              <a:rPr lang="en-US" sz="2400" i="0" u="none" strike="noStrike" baseline="0" dirty="0">
                <a:solidFill>
                  <a:schemeClr val="bg1"/>
                </a:solidFill>
                <a:latin typeface="Adobe Devanagari" panose="02040503050201020203"/>
              </a:rPr>
              <a:t> </a:t>
            </a:r>
            <a:r>
              <a:rPr lang="en-US" sz="2400" i="0" u="none" strike="noStrike" baseline="0" dirty="0" err="1">
                <a:solidFill>
                  <a:schemeClr val="bg1"/>
                </a:solidFill>
                <a:latin typeface="Adobe Devanagari" panose="02040503050201020203"/>
              </a:rPr>
              <a:t>allégée</a:t>
            </a:r>
            <a:br>
              <a:rPr lang="fr-FR" sz="4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br>
              <a:rPr lang="fr-FR" sz="2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r>
              <a:rPr lang="fr-FR" sz="2000" baseline="30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1</a:t>
            </a:r>
            <a:r>
              <a:rPr lang="fr-FR" sz="2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INRAE SAVE – Bordeaux Aquitaine</a:t>
            </a:r>
            <a:br>
              <a:rPr lang="fr-FR" sz="2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r>
              <a:rPr lang="fr-FR" sz="2000" baseline="30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2</a:t>
            </a:r>
            <a:r>
              <a:rPr lang="fr-FR" sz="2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INRAE BIOGER– Paris Saclay</a:t>
            </a:r>
            <a:br>
              <a:rPr lang="fr-FR" sz="20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endParaRPr lang="fr-FR" sz="2400" dirty="0">
              <a:solidFill>
                <a:schemeClr val="bg1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12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388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/>
              <a:t>Présentation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765464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2</a:t>
            </a:fld>
            <a:endParaRPr lang="fr-FR" dirty="0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94F89EFD-3862-4ED0-B60C-25625828480B}"/>
              </a:ext>
            </a:extLst>
          </p:cNvPr>
          <p:cNvSpPr txBox="1">
            <a:spLocks/>
          </p:cNvSpPr>
          <p:nvPr/>
        </p:nvSpPr>
        <p:spPr>
          <a:xfrm>
            <a:off x="1417117" y="6510867"/>
            <a:ext cx="9453492" cy="347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 - Bordeaux Aquitaine |  SAVE - Santé et Agroécologie du Vignoble |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COMBINE - Réunion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plénière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allégée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 Février 17, 2026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96A1E46B-E1CC-4108-9F3C-AE7AC1112845}"/>
              </a:ext>
            </a:extLst>
          </p:cNvPr>
          <p:cNvGrpSpPr/>
          <p:nvPr/>
        </p:nvGrpSpPr>
        <p:grpSpPr>
          <a:xfrm>
            <a:off x="4844515" y="1443186"/>
            <a:ext cx="6289750" cy="4910565"/>
            <a:chOff x="5164634" y="1413063"/>
            <a:chExt cx="6289750" cy="4910565"/>
          </a:xfrm>
        </p:grpSpPr>
        <p:sp>
          <p:nvSpPr>
            <p:cNvPr id="10" name="ZoneTexte 9"/>
            <p:cNvSpPr txBox="1"/>
            <p:nvPr/>
          </p:nvSpPr>
          <p:spPr>
            <a:xfrm>
              <a:off x="5175504" y="1413063"/>
              <a:ext cx="6278880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24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Postdoc à l’</a:t>
              </a:r>
              <a:r>
                <a:rPr lang="fr-FR" sz="2400" b="1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INRAE SAVE </a:t>
              </a:r>
              <a:r>
                <a:rPr lang="fr-FR" sz="20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(depuis Septembre 2025)</a:t>
              </a:r>
            </a:p>
            <a:p>
              <a:endParaRPr lang="fr-FR" sz="1600" b="1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24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Expérience professionnelle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24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24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24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24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24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endParaRPr lang="fr-FR" sz="24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sz="24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Mes parcours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fr-FR" sz="24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5164634" y="2567869"/>
              <a:ext cx="628738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00100" lvl="1" indent="-342900">
                <a:buFont typeface="Adobe Devanagari" panose="02040503050201020203" pitchFamily="18" charset="0"/>
                <a:buChar char="−"/>
              </a:pPr>
              <a:r>
                <a:rPr lang="fr-FR" sz="2000" b="1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Postdoc</a:t>
              </a:r>
              <a:r>
                <a:rPr lang="fr-FR" sz="20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 </a:t>
              </a:r>
            </a:p>
            <a:p>
              <a:pPr lvl="1"/>
              <a:r>
                <a:rPr lang="fr-FR" sz="2000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	</a:t>
              </a:r>
              <a:r>
                <a:rPr lang="fr-FR" sz="20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ANSES – Laboratoire de Lyon</a:t>
              </a:r>
            </a:p>
            <a:p>
              <a:pPr lvl="1"/>
              <a:r>
                <a:rPr lang="fr-FR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	(2024 - June 2025)</a:t>
              </a:r>
            </a:p>
            <a:p>
              <a:pPr marL="800100" lvl="1" indent="-342900">
                <a:buFont typeface="Adobe Devanagari" panose="02040503050201020203" pitchFamily="18" charset="0"/>
                <a:buChar char="−"/>
              </a:pPr>
              <a:r>
                <a:rPr lang="fr-FR" sz="1800" b="1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Doctorat en mathématiques appliquées</a:t>
              </a:r>
              <a:r>
                <a:rPr lang="fr-FR" sz="1800" b="1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 </a:t>
              </a:r>
            </a:p>
            <a:p>
              <a:pPr lvl="1"/>
              <a:r>
                <a:rPr lang="fr-FR" sz="1800" b="1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	</a:t>
              </a:r>
              <a:r>
                <a:rPr lang="fr-FR" sz="18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ANSES &amp; CentraleSupélec, Paris-Saclay</a:t>
              </a:r>
            </a:p>
            <a:p>
              <a:pPr lvl="1"/>
              <a:r>
                <a:rPr lang="fr-FR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	(2021 - 2023)</a:t>
              </a:r>
              <a:endParaRPr lang="fr-FR" sz="18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4D3F5BCA-13D4-4BF2-A45B-0E0AE3F5096E}"/>
                </a:ext>
              </a:extLst>
            </p:cNvPr>
            <p:cNvSpPr txBox="1"/>
            <p:nvPr/>
          </p:nvSpPr>
          <p:spPr>
            <a:xfrm>
              <a:off x="5164634" y="5061744"/>
              <a:ext cx="6287386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00100" lvl="1" indent="-342900">
                <a:buFont typeface="Adobe Devanagari" panose="02040503050201020203" pitchFamily="18" charset="0"/>
                <a:buChar char="−"/>
              </a:pPr>
              <a:r>
                <a:rPr lang="fr-FR" sz="2000" b="1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Masters – </a:t>
              </a:r>
              <a:r>
                <a:rPr lang="fr-FR" sz="2000" i="1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Data Science </a:t>
              </a:r>
              <a:r>
                <a:rPr lang="fr-FR" sz="2000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+ Stage M2 à Paris-Saclay </a:t>
              </a:r>
            </a:p>
            <a:p>
              <a:pPr lvl="1"/>
              <a:r>
                <a:rPr lang="fr-FR" sz="2000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	</a:t>
              </a:r>
              <a:r>
                <a:rPr lang="fr-FR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(2018 - 2020)</a:t>
              </a:r>
            </a:p>
            <a:p>
              <a:pPr marL="800100" lvl="1" indent="-342900">
                <a:buFont typeface="Adobe Devanagari" panose="02040503050201020203" pitchFamily="18" charset="0"/>
                <a:buChar char="−"/>
              </a:pPr>
              <a:r>
                <a:rPr lang="fr-FR" sz="1800" b="1" dirty="0" err="1">
                  <a:latin typeface="Adobe Devanagari" panose="02040503050201020203" pitchFamily="18" charset="0"/>
                  <a:cs typeface="Adobe Devanagari" panose="02040503050201020203" pitchFamily="18" charset="0"/>
                </a:rPr>
                <a:t>Bachelors</a:t>
              </a:r>
              <a:r>
                <a:rPr lang="fr-FR" sz="1800" b="1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 - </a:t>
              </a:r>
              <a:r>
                <a:rPr lang="fr-FR" sz="1800" i="1" dirty="0">
                  <a:latin typeface="Adobe Devanagari" panose="02040503050201020203" pitchFamily="18" charset="0"/>
                  <a:cs typeface="Adobe Devanagari" panose="02040503050201020203" pitchFamily="18" charset="0"/>
                </a:rPr>
                <a:t>Statistiques</a:t>
              </a:r>
              <a:endParaRPr lang="fr-FR" sz="1800" i="1" dirty="0">
                <a:solidFill>
                  <a:schemeClr val="bg1">
                    <a:lumMod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  <a:p>
              <a:pPr lvl="1"/>
              <a:r>
                <a:rPr lang="fr-FR" sz="1800" b="1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	</a:t>
              </a:r>
              <a:r>
                <a:rPr lang="fr-FR" dirty="0">
                  <a:solidFill>
                    <a:schemeClr val="bg1">
                      <a:lumMod val="50000"/>
                    </a:schemeClr>
                  </a:solidFill>
                  <a:latin typeface="Adobe Devanagari" panose="02040503050201020203" pitchFamily="18" charset="0"/>
                  <a:cs typeface="Adobe Devanagari" panose="02040503050201020203" pitchFamily="18" charset="0"/>
                </a:rPr>
                <a:t>(2025 - 2018)</a:t>
              </a:r>
              <a:endParaRPr lang="fr-FR" sz="1800" dirty="0">
                <a:latin typeface="Adobe Devanagari" panose="02040503050201020203" pitchFamily="18" charset="0"/>
                <a:cs typeface="Adobe Devanagari" panose="02040503050201020203" pitchFamily="18" charset="0"/>
              </a:endParaRPr>
            </a:p>
          </p:txBody>
        </p:sp>
      </p:grpSp>
      <p:pic>
        <p:nvPicPr>
          <p:cNvPr id="19" name="Image 18">
            <a:extLst>
              <a:ext uri="{FF2B5EF4-FFF2-40B4-BE49-F238E27FC236}">
                <a16:creationId xmlns:a16="http://schemas.microsoft.com/office/drawing/2014/main" id="{21968203-4426-40F9-A997-17C991AFE7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752" y="4615643"/>
            <a:ext cx="397565" cy="39756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A9318CF-F362-4F83-8EF8-B383E460A65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02" t="12807" r="22804" b="11436"/>
          <a:stretch/>
        </p:blipFill>
        <p:spPr>
          <a:xfrm>
            <a:off x="10870609" y="5151975"/>
            <a:ext cx="386552" cy="282646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ACBD3E3A-1F01-4CC0-A7AB-F98F98882889}"/>
              </a:ext>
            </a:extLst>
          </p:cNvPr>
          <p:cNvGrpSpPr/>
          <p:nvPr/>
        </p:nvGrpSpPr>
        <p:grpSpPr>
          <a:xfrm>
            <a:off x="934839" y="1580875"/>
            <a:ext cx="3652880" cy="4351338"/>
            <a:chOff x="3904386" y="2004265"/>
            <a:chExt cx="3652880" cy="4351338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42A439B1-858C-4C21-B213-D557192959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21"/>
            <a:stretch/>
          </p:blipFill>
          <p:spPr>
            <a:xfrm>
              <a:off x="3904386" y="2004265"/>
              <a:ext cx="3652880" cy="4351338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5EAEF11-3A7A-4447-913E-D39DCFF7CD9A}"/>
                </a:ext>
              </a:extLst>
            </p:cNvPr>
            <p:cNvSpPr/>
            <p:nvPr/>
          </p:nvSpPr>
          <p:spPr>
            <a:xfrm>
              <a:off x="3904386" y="2007011"/>
              <a:ext cx="3652880" cy="434859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ZoneTexte 27">
            <a:extLst>
              <a:ext uri="{FF2B5EF4-FFF2-40B4-BE49-F238E27FC236}">
                <a16:creationId xmlns:a16="http://schemas.microsoft.com/office/drawing/2014/main" id="{C0DC9371-3AAD-4879-BD74-22459FA12F5B}"/>
              </a:ext>
            </a:extLst>
          </p:cNvPr>
          <p:cNvSpPr txBox="1"/>
          <p:nvPr/>
        </p:nvSpPr>
        <p:spPr>
          <a:xfrm>
            <a:off x="1138519" y="5981190"/>
            <a:ext cx="321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Remise du doctorat, June 2025, Paris</a:t>
            </a:r>
            <a:endParaRPr lang="en-US" sz="16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66922D9-5F69-4CDD-89FE-0CB16D9D5C9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02" t="12807" r="22804" b="11436"/>
          <a:stretch/>
        </p:blipFill>
        <p:spPr>
          <a:xfrm>
            <a:off x="8610600" y="2117673"/>
            <a:ext cx="386552" cy="28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8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/>
              <a:t>Projets</a:t>
            </a:r>
            <a:r>
              <a:rPr lang="en-US" sz="3600" b="1" dirty="0"/>
              <a:t> de recherche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330844"/>
            <a:ext cx="10515600" cy="4852806"/>
          </a:xfrm>
        </p:spPr>
        <p:txBody>
          <a:bodyPr>
            <a:normAutofit/>
          </a:bodyPr>
          <a:lstStyle/>
          <a:p>
            <a:endParaRPr lang="fr-FR" sz="1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>
              <a:buFont typeface="Adobe Devanagari" panose="02040503050201020203" pitchFamily="18" charset="0"/>
              <a:buChar char="−"/>
            </a:pPr>
            <a:r>
              <a:rPr lang="fr-FR" sz="22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EU PRIMA </a:t>
            </a:r>
            <a:r>
              <a:rPr lang="fr-FR" sz="2200" b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ArtiSaneFood</a:t>
            </a:r>
            <a:r>
              <a:rPr lang="fr-FR" sz="22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       </a:t>
            </a:r>
            <a:r>
              <a:rPr lang="fr-FR" sz="2000" b="1" dirty="0">
                <a:solidFill>
                  <a:schemeClr val="bg1">
                    <a:lumMod val="75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2021 - 2023</a:t>
            </a:r>
          </a:p>
          <a:p>
            <a:pPr marL="457200" lvl="1" indent="0">
              <a:buNone/>
            </a:pPr>
            <a:r>
              <a:rPr lang="fr-FR" sz="1800" dirty="0">
                <a:solidFill>
                  <a:srgbClr val="0070C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Santé humaine et sécurité des aliments</a:t>
            </a:r>
            <a:r>
              <a:rPr lang="fr-FR" sz="1800" b="1" dirty="0">
                <a:solidFill>
                  <a:srgbClr val="0070C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endParaRPr lang="fr-FR" sz="1800" dirty="0">
              <a:solidFill>
                <a:srgbClr val="0070C0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lvl="2">
              <a:buFont typeface="Adobe Devanagari" panose="02040503050201020203" pitchFamily="18" charset="0"/>
              <a:buChar char="~"/>
            </a:pPr>
            <a:r>
              <a:rPr lang="en-US" sz="1800" dirty="0" err="1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Modélisation</a:t>
            </a:r>
            <a:r>
              <a:rPr lang="en-US" sz="1800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AQRM* </a:t>
            </a:r>
            <a:r>
              <a:rPr lang="en-US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- </a:t>
            </a:r>
            <a:r>
              <a:rPr lang="en-US" sz="1800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Listeria</a:t>
            </a:r>
            <a:r>
              <a:rPr lang="en-US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, </a:t>
            </a:r>
            <a:r>
              <a:rPr lang="en-US" sz="1800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Salmonella</a:t>
            </a:r>
            <a:r>
              <a:rPr lang="en-US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et </a:t>
            </a:r>
            <a:r>
              <a:rPr lang="en-US" sz="1800" i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E. coli</a:t>
            </a:r>
            <a:r>
              <a:rPr lang="en-US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dans le fromage au lait cru </a:t>
            </a:r>
            <a:r>
              <a:rPr lang="fr-FR" sz="1800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(Basak </a:t>
            </a:r>
            <a:r>
              <a:rPr lang="fr-FR" sz="1800" i="1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et al.</a:t>
            </a:r>
            <a:r>
              <a:rPr lang="fr-FR" sz="1800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, 2024)</a:t>
            </a:r>
            <a:endParaRPr lang="en-US" sz="18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lvl="2">
              <a:buFont typeface="Adobe Devanagari" panose="02040503050201020203" pitchFamily="18" charset="0"/>
              <a:buChar char="~"/>
            </a:pPr>
            <a:r>
              <a:rPr lang="en-US" sz="1800" dirty="0" err="1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Optimisation</a:t>
            </a:r>
            <a:r>
              <a:rPr lang="en-US" sz="1800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Bayésienne</a:t>
            </a:r>
            <a:r>
              <a:rPr lang="en-US" sz="1800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multiobjective</a:t>
            </a:r>
            <a:r>
              <a:rPr lang="en-US" sz="1800" dirty="0">
                <a:solidFill>
                  <a:schemeClr val="accent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(Pareto)</a:t>
            </a:r>
            <a:r>
              <a:rPr lang="fr-FR" sz="1800" dirty="0">
                <a:solidFill>
                  <a:schemeClr val="accent1"/>
                </a:solidFill>
              </a:rPr>
              <a:t> </a:t>
            </a:r>
            <a:r>
              <a:rPr lang="fr-FR" sz="1800" dirty="0"/>
              <a:t>- stratégies d’intervention en filière fromagère </a:t>
            </a:r>
            <a:br>
              <a:rPr lang="fr-FR" sz="1800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endParaRPr lang="fr-FR" sz="1800" dirty="0">
              <a:solidFill>
                <a:srgbClr val="3F3FFF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>
              <a:buFont typeface="Adobe Devanagari" panose="02040503050201020203" pitchFamily="18" charset="0"/>
              <a:buChar char="−"/>
            </a:pPr>
            <a:r>
              <a:rPr lang="fr-FR" sz="22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JPIAMR ENVIRE       </a:t>
            </a:r>
            <a:r>
              <a:rPr lang="fr-FR" sz="2000" b="1" dirty="0">
                <a:solidFill>
                  <a:schemeClr val="bg1">
                    <a:lumMod val="75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2024 - June 2025</a:t>
            </a:r>
            <a:endParaRPr lang="fr-FR" sz="20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marL="457200" lvl="1" indent="0">
              <a:buNone/>
            </a:pPr>
            <a:r>
              <a:rPr lang="fr-FR" sz="1800" dirty="0">
                <a:solidFill>
                  <a:srgbClr val="0070C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Santé animale et environnemental</a:t>
            </a:r>
          </a:p>
          <a:p>
            <a:pPr lvl="2">
              <a:buFont typeface="Adobe Devanagari" panose="02040503050201020203" pitchFamily="18" charset="0"/>
              <a:buChar char="~"/>
            </a:pPr>
            <a:r>
              <a:rPr lang="en-US" sz="1800" dirty="0" err="1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Modélisation</a:t>
            </a:r>
            <a:r>
              <a:rPr lang="en-US" sz="1800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AQRM </a:t>
            </a:r>
            <a:r>
              <a:rPr lang="fr-FR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- </a:t>
            </a:r>
            <a:r>
              <a:rPr lang="fr-FR" sz="1800" dirty="0"/>
              <a:t>Exposition à la résistance aux antimicrobiens (</a:t>
            </a:r>
            <a:r>
              <a:rPr lang="fr-FR" sz="1800" dirty="0">
                <a:solidFill>
                  <a:srgbClr val="FF0000"/>
                </a:solidFill>
              </a:rPr>
              <a:t>AMR</a:t>
            </a:r>
            <a:r>
              <a:rPr lang="fr-FR" sz="1800" dirty="0"/>
              <a:t>) chez les poulets </a:t>
            </a:r>
          </a:p>
          <a:p>
            <a:pPr lvl="2">
              <a:buFont typeface="Adobe Devanagari" panose="02040503050201020203" pitchFamily="18" charset="0"/>
              <a:buChar char="~"/>
            </a:pPr>
            <a:r>
              <a:rPr lang="fr-FR" sz="1800" dirty="0"/>
              <a:t>Test de stratégies d’intervention contre l’</a:t>
            </a:r>
            <a:r>
              <a:rPr lang="fr-FR" sz="1800" dirty="0">
                <a:solidFill>
                  <a:srgbClr val="FF0000"/>
                </a:solidFill>
              </a:rPr>
              <a:t>AMR</a:t>
            </a:r>
            <a:r>
              <a:rPr lang="fr-FR" sz="1800" dirty="0"/>
              <a:t> </a:t>
            </a:r>
            <a:r>
              <a:rPr lang="fr-FR" sz="1800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(Basak </a:t>
            </a:r>
            <a:r>
              <a:rPr lang="fr-FR" sz="1800" i="1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et al.</a:t>
            </a:r>
            <a:r>
              <a:rPr lang="fr-FR" sz="1800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, 2025)</a:t>
            </a:r>
            <a:br>
              <a:rPr lang="fr-FR" sz="1800" dirty="0">
                <a:solidFill>
                  <a:srgbClr val="3F3FFF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</a:br>
            <a:endParaRPr lang="fr-FR" sz="18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>
              <a:buFont typeface="Adobe Devanagari" panose="02040503050201020203" pitchFamily="18" charset="0"/>
              <a:buChar char="−"/>
            </a:pPr>
            <a:r>
              <a:rPr lang="fr-FR" sz="22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CIVC     </a:t>
            </a:r>
            <a:r>
              <a:rPr lang="fr-FR" sz="2000" b="1" dirty="0">
                <a:solidFill>
                  <a:schemeClr val="bg1">
                    <a:lumMod val="75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Septembre 2025 – Janvier 2026 </a:t>
            </a:r>
            <a:r>
              <a:rPr lang="fr-FR" sz="2200" b="1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et COMBINE       </a:t>
            </a:r>
            <a:r>
              <a:rPr lang="fr-FR" sz="2000" b="1" dirty="0">
                <a:solidFill>
                  <a:schemeClr val="bg1">
                    <a:lumMod val="75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Février 2026 – Septembre 2026</a:t>
            </a:r>
            <a:endParaRPr lang="fr-FR" sz="2200" b="1" dirty="0">
              <a:solidFill>
                <a:schemeClr val="bg1">
                  <a:lumMod val="75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marL="457200" lvl="1" indent="0">
              <a:buNone/>
            </a:pPr>
            <a:r>
              <a:rPr lang="fr-FR" sz="1800" dirty="0">
                <a:solidFill>
                  <a:srgbClr val="0070C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Santé végétale</a:t>
            </a:r>
            <a:r>
              <a:rPr lang="fr-FR" sz="1800" b="1" dirty="0">
                <a:solidFill>
                  <a:srgbClr val="0070C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endParaRPr lang="fr-FR" sz="1800" dirty="0">
              <a:solidFill>
                <a:srgbClr val="0070C0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lvl="2">
              <a:buFont typeface="Adobe Devanagari" panose="02040503050201020203" pitchFamily="18" charset="0"/>
              <a:buChar char="~"/>
            </a:pPr>
            <a:r>
              <a:rPr lang="en-US" sz="1800" dirty="0">
                <a:solidFill>
                  <a:srgbClr val="FF0000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Estimation de la dispersion </a:t>
            </a:r>
            <a:r>
              <a:rPr lang="en-US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de </a:t>
            </a:r>
            <a:r>
              <a:rPr lang="en-US" sz="18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Flavéscence</a:t>
            </a:r>
            <a:r>
              <a:rPr lang="en-US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dorée dans les </a:t>
            </a:r>
            <a:r>
              <a:rPr lang="en-US" sz="18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vignoble</a:t>
            </a:r>
            <a:r>
              <a:rPr lang="en-US" sz="18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de champagne</a:t>
            </a:r>
          </a:p>
          <a:p>
            <a:pPr lvl="2">
              <a:buFont typeface="Adobe Devanagari" panose="02040503050201020203" pitchFamily="18" charset="0"/>
              <a:buChar char="~"/>
            </a:pPr>
            <a:r>
              <a:rPr lang="fr-FR" sz="1800" dirty="0">
                <a:solidFill>
                  <a:srgbClr val="FF0000"/>
                </a:solidFill>
              </a:rPr>
              <a:t>Évaluation des stratégies </a:t>
            </a:r>
            <a:r>
              <a:rPr lang="fr-FR" sz="1800" dirty="0"/>
              <a:t>de déploiement de variétés de blé résistantes à la </a:t>
            </a:r>
            <a:r>
              <a:rPr lang="fr-FR" sz="1800" i="1" dirty="0"/>
              <a:t>Septoriose</a:t>
            </a:r>
            <a:endParaRPr lang="en-US" sz="1800" i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479" y="3043505"/>
            <a:ext cx="348401" cy="34091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469" y="1406309"/>
            <a:ext cx="384931" cy="384931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769409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3</a:t>
            </a:fld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9C32DAF-0B97-4E35-8DBD-7FE3F42F3CDA}"/>
              </a:ext>
            </a:extLst>
          </p:cNvPr>
          <p:cNvSpPr txBox="1">
            <a:spLocks/>
          </p:cNvSpPr>
          <p:nvPr/>
        </p:nvSpPr>
        <p:spPr>
          <a:xfrm>
            <a:off x="1417117" y="6510867"/>
            <a:ext cx="9394318" cy="347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 - Bordeaux Aquitaine |  SAVE - Santé et Agroécologie du Vignoble |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COMBINE - Réunion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plénière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allégée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 Février 17, 2026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02A0EF3-687E-4D7C-9698-E38EE1933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753" y="4594408"/>
            <a:ext cx="428059" cy="42805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781082B-7BCE-435C-BC26-051492C476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897" y="4675334"/>
            <a:ext cx="347133" cy="347133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E8E3828-CD01-4E80-917D-9525D9753EB5}"/>
              </a:ext>
            </a:extLst>
          </p:cNvPr>
          <p:cNvSpPr txBox="1"/>
          <p:nvPr/>
        </p:nvSpPr>
        <p:spPr>
          <a:xfrm>
            <a:off x="7525871" y="6256951"/>
            <a:ext cx="382792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rgbClr val="FF0000"/>
                </a:solidFill>
              </a:rPr>
              <a:t>*AQRM : Appréciation Quantitative des Risques Microbiologiques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8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/>
              <a:t>Projet</a:t>
            </a:r>
            <a:r>
              <a:rPr lang="en-US" sz="3600" b="1" dirty="0"/>
              <a:t> COMBINE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769409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4</a:t>
            </a:fld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9C32DAF-0B97-4E35-8DBD-7FE3F42F3CDA}"/>
              </a:ext>
            </a:extLst>
          </p:cNvPr>
          <p:cNvSpPr txBox="1">
            <a:spLocks/>
          </p:cNvSpPr>
          <p:nvPr/>
        </p:nvSpPr>
        <p:spPr>
          <a:xfrm>
            <a:off x="1417117" y="6510867"/>
            <a:ext cx="9394318" cy="347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 - Bordeaux Aquitaine |  SAVE - Santé et Agroécologie du Vignoble |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COMBINE - Réunion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plénière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allégée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 Février 17, 2026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C8DDE7-EF32-4B5E-9642-4B21A59B92B7}"/>
              </a:ext>
            </a:extLst>
          </p:cNvPr>
          <p:cNvSpPr txBox="1"/>
          <p:nvPr/>
        </p:nvSpPr>
        <p:spPr>
          <a:xfrm>
            <a:off x="955087" y="1344396"/>
            <a:ext cx="103183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L’objectif</a:t>
            </a:r>
            <a:r>
              <a:rPr lang="fr-FR" dirty="0"/>
              <a:t> : </a:t>
            </a:r>
            <a:r>
              <a:rPr lang="en-US" dirty="0" err="1">
                <a:latin typeface="CambriaMath"/>
              </a:rPr>
              <a:t>lutter</a:t>
            </a:r>
            <a:r>
              <a:rPr lang="en-US" dirty="0">
                <a:latin typeface="CambriaMath"/>
              </a:rPr>
              <a:t> </a:t>
            </a:r>
            <a:r>
              <a:rPr lang="en-US" dirty="0" err="1">
                <a:latin typeface="CambriaMath"/>
              </a:rPr>
              <a:t>contre</a:t>
            </a:r>
            <a:r>
              <a:rPr lang="en-US" dirty="0">
                <a:latin typeface="CambriaMath"/>
              </a:rPr>
              <a:t> la </a:t>
            </a:r>
            <a:r>
              <a:rPr lang="en-US" sz="1800" b="0" i="0" u="none" strike="noStrike" baseline="0" dirty="0" err="1">
                <a:solidFill>
                  <a:srgbClr val="FF0000"/>
                </a:solidFill>
                <a:latin typeface="CambriaMath"/>
              </a:rPr>
              <a:t>Septoriose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ambriaMath"/>
              </a:rPr>
              <a:t> du </a:t>
            </a:r>
            <a:r>
              <a:rPr lang="en-US" sz="1800" b="0" i="0" u="none" strike="noStrike" baseline="0" dirty="0" err="1">
                <a:solidFill>
                  <a:srgbClr val="FF0000"/>
                </a:solidFill>
                <a:latin typeface="CambriaMath"/>
              </a:rPr>
              <a:t>blé</a:t>
            </a:r>
            <a:r>
              <a:rPr lang="en-US" sz="1800" b="0" i="0" u="none" strike="noStrike" baseline="0" dirty="0">
                <a:solidFill>
                  <a:srgbClr val="FF0000"/>
                </a:solidFill>
                <a:latin typeface="CambriaMath"/>
              </a:rPr>
              <a:t> </a:t>
            </a:r>
            <a:r>
              <a:rPr lang="en-US" sz="1800" b="0" i="0" u="none" strike="noStrike" baseline="0" dirty="0" err="1">
                <a:latin typeface="CambriaMath"/>
              </a:rPr>
              <a:t>causée</a:t>
            </a:r>
            <a:r>
              <a:rPr lang="en-US" sz="1800" b="0" i="0" u="none" strike="noStrike" baseline="0" dirty="0">
                <a:solidFill>
                  <a:srgbClr val="C00000"/>
                </a:solidFill>
                <a:latin typeface="CambriaMath"/>
              </a:rPr>
              <a:t> </a:t>
            </a:r>
            <a:r>
              <a:rPr lang="en-US" sz="1800" b="0" i="0" u="none" strike="noStrike" baseline="0" dirty="0">
                <a:latin typeface="Adobe Devanagari" panose="02040503050201020203"/>
              </a:rPr>
              <a:t>par le champignon </a:t>
            </a:r>
            <a:r>
              <a:rPr lang="en-US" sz="1800" b="0" i="1" u="none" strike="noStrike" baseline="0" dirty="0" err="1">
                <a:solidFill>
                  <a:schemeClr val="accent1"/>
                </a:solidFill>
                <a:latin typeface="Adobe Devanagari" panose="02040503050201020203"/>
              </a:rPr>
              <a:t>Zymoseptoria</a:t>
            </a:r>
            <a:r>
              <a:rPr lang="en-US" sz="1800" b="0" i="1" u="none" strike="noStrike" baseline="0" dirty="0">
                <a:solidFill>
                  <a:schemeClr val="accent1"/>
                </a:solidFill>
                <a:latin typeface="Adobe Devanagari" panose="02040503050201020203"/>
              </a:rPr>
              <a:t> </a:t>
            </a:r>
            <a:r>
              <a:rPr lang="en-US" sz="1800" b="0" i="1" u="none" strike="noStrike" baseline="0" dirty="0" err="1">
                <a:solidFill>
                  <a:schemeClr val="accent1"/>
                </a:solidFill>
                <a:latin typeface="Adobe Devanagari" panose="02040503050201020203"/>
              </a:rPr>
              <a:t>tritici</a:t>
            </a:r>
            <a:endParaRPr lang="en-US" sz="1800" b="0" i="0" u="none" strike="noStrike" baseline="0" dirty="0">
              <a:solidFill>
                <a:schemeClr val="accent1"/>
              </a:solidFill>
              <a:latin typeface="Adobe Devanagari" panose="02040503050201020203"/>
            </a:endParaRPr>
          </a:p>
          <a:p>
            <a:endParaRPr lang="en-US" dirty="0">
              <a:latin typeface="Adobe Devanagari" panose="02040503050201020203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Fongicides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largement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utilisés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résistances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de </a:t>
            </a:r>
            <a:r>
              <a:rPr lang="en-US" sz="1800" b="0" i="1" u="none" strike="noStrike" baseline="0" dirty="0" err="1">
                <a:solidFill>
                  <a:schemeClr val="accent1"/>
                </a:solidFill>
                <a:latin typeface="Adobe Devanagari" panose="02040503050201020203"/>
              </a:rPr>
              <a:t>Zymoseptoria</a:t>
            </a:r>
            <a:r>
              <a:rPr lang="en-US" sz="1800" b="0" i="1" u="none" strike="noStrike" baseline="0" dirty="0">
                <a:solidFill>
                  <a:schemeClr val="accent1"/>
                </a:solidFill>
                <a:latin typeface="Adobe Devanagari" panose="02040503050201020203"/>
              </a:rPr>
              <a:t> </a:t>
            </a:r>
            <a:r>
              <a:rPr lang="en-US" sz="1800" b="0" i="1" u="none" strike="noStrike" baseline="0" dirty="0" err="1">
                <a:solidFill>
                  <a:schemeClr val="accent1"/>
                </a:solidFill>
                <a:latin typeface="Adobe Devanagari" panose="02040503050201020203"/>
              </a:rPr>
              <a:t>tritici</a:t>
            </a:r>
            <a:r>
              <a:rPr lang="en-US" sz="1800" b="0" i="1" u="none" strike="noStrike" baseline="0" dirty="0">
                <a:solidFill>
                  <a:schemeClr val="accent1"/>
                </a:solidFill>
                <a:latin typeface="Adobe Devanagari" panose="02040503050201020203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apparues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Devanagari" panose="02040503050201020203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dobe Devanagari" panose="02040503050201020203"/>
              </a:rPr>
              <a:t>Alternative 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fr-F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utiliser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des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variété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blé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avec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gènes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de resistance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dobe Devanagari" panose="02040503050201020203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Adobe Devanagari" panose="02040503050201020203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b="1" dirty="0"/>
              <a:t>Gènes de résistance : qu’est-ce que c’est ?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dirty="0"/>
              <a:t>gènes de la plante qui aident à se </a:t>
            </a:r>
            <a:r>
              <a:rPr lang="fr-FR" dirty="0">
                <a:solidFill>
                  <a:srgbClr val="FF0000"/>
                </a:solidFill>
              </a:rPr>
              <a:t>défendre contre les maladies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fr-FR" altLang="en-US" sz="18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dobe Devanagari" panose="02040503050201020203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fr-FR" altLang="en-US" sz="18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dobe Devanagari" panose="02040503050201020203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b="1" dirty="0"/>
              <a:t>Comment </a:t>
            </a:r>
            <a:r>
              <a:rPr lang="en-US" b="1" dirty="0" err="1"/>
              <a:t>ça</a:t>
            </a:r>
            <a:r>
              <a:rPr lang="en-US" b="1" dirty="0"/>
              <a:t> </a:t>
            </a:r>
            <a:r>
              <a:rPr lang="en-US" b="1" dirty="0" err="1"/>
              <a:t>marche</a:t>
            </a:r>
            <a:r>
              <a:rPr lang="en-US" b="1" dirty="0"/>
              <a:t> ?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dobe Devanagari" panose="02040503050201020203"/>
              </a:rPr>
              <a:t>Résistance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dobe Devanagari" panose="02040503050201020203"/>
              </a:rPr>
              <a:t> qualitative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: </a:t>
            </a:r>
            <a:r>
              <a:rPr lang="en-US" dirty="0" err="1"/>
              <a:t>immunité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VS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dobe Devanagari" panose="02040503050201020203"/>
              </a:rPr>
              <a:t>Résistance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dobe Devanagari" panose="02040503050201020203"/>
              </a:rPr>
              <a:t> quantitative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Devanagari" panose="02040503050201020203"/>
              </a:rPr>
              <a:t>: </a:t>
            </a:r>
            <a:r>
              <a:rPr lang="en-US" dirty="0" err="1"/>
              <a:t>immunité</a:t>
            </a:r>
            <a:r>
              <a:rPr lang="en-US" dirty="0"/>
              <a:t> </a:t>
            </a:r>
            <a:r>
              <a:rPr lang="en-US" dirty="0" err="1"/>
              <a:t>partielle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Devanagari" panose="02040503050201020203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dobe Devanagari" panose="02040503050201020203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dobe Devanagari" panose="02040503050201020203"/>
            </a:endParaRPr>
          </a:p>
          <a:p>
            <a:r>
              <a:rPr lang="fr-FR" b="1" dirty="0"/>
              <a:t>La limite :</a:t>
            </a:r>
            <a:endParaRPr lang="fr-FR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1" u="none" strike="noStrike" baseline="0" dirty="0" err="1">
                <a:solidFill>
                  <a:schemeClr val="accent1"/>
                </a:solidFill>
                <a:latin typeface="Adobe Devanagari" panose="02040503050201020203"/>
              </a:rPr>
              <a:t>Zymoseptoria</a:t>
            </a:r>
            <a:r>
              <a:rPr lang="en-US" sz="1800" b="0" i="1" u="none" strike="noStrike" baseline="0" dirty="0">
                <a:solidFill>
                  <a:schemeClr val="accent1"/>
                </a:solidFill>
                <a:latin typeface="Adobe Devanagari" panose="02040503050201020203"/>
              </a:rPr>
              <a:t> </a:t>
            </a:r>
            <a:r>
              <a:rPr lang="en-US" sz="1800" b="0" i="1" u="none" strike="noStrike" baseline="0" dirty="0" err="1">
                <a:solidFill>
                  <a:schemeClr val="accent1"/>
                </a:solidFill>
                <a:latin typeface="Adobe Devanagari" panose="02040503050201020203"/>
              </a:rPr>
              <a:t>tritici</a:t>
            </a:r>
            <a:r>
              <a:rPr lang="en-US" sz="1800" b="0" i="1" u="none" strike="noStrike" baseline="0" dirty="0">
                <a:solidFill>
                  <a:schemeClr val="accent1"/>
                </a:solidFill>
                <a:latin typeface="Adobe Devanagari" panose="02040503050201020203"/>
              </a:rPr>
              <a:t> </a:t>
            </a:r>
            <a:r>
              <a:rPr lang="fr-FR" dirty="0"/>
              <a:t>peut contourner certains gènes : la résistance n’est plus efficace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B050"/>
                </a:solidFill>
              </a:rPr>
              <a:t>Solution</a:t>
            </a:r>
            <a:r>
              <a:rPr lang="fr-FR" dirty="0"/>
              <a:t> : </a:t>
            </a:r>
            <a:r>
              <a:rPr lang="fr-FR" b="1" dirty="0"/>
              <a:t>mélanger différentes variétés</a:t>
            </a:r>
            <a:r>
              <a:rPr lang="fr-FR" dirty="0"/>
              <a:t> pour ralentir l’adaptation du champignon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obe Devanagari" panose="02040503050201020203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B7654CD-F972-4A04-8B90-5CD7648174A2}"/>
              </a:ext>
            </a:extLst>
          </p:cNvPr>
          <p:cNvSpPr/>
          <p:nvPr/>
        </p:nvSpPr>
        <p:spPr>
          <a:xfrm>
            <a:off x="9834282" y="4333091"/>
            <a:ext cx="1152311" cy="44823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Efficacité</a:t>
            </a:r>
            <a:endParaRPr kumimoji="0" lang="fr-F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dobe Devanagari" panose="02040503050201020203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CC589C7-1D82-4875-8293-E83A82CB1E76}"/>
              </a:ext>
            </a:extLst>
          </p:cNvPr>
          <p:cNvSpPr/>
          <p:nvPr/>
        </p:nvSpPr>
        <p:spPr>
          <a:xfrm>
            <a:off x="9834282" y="5606146"/>
            <a:ext cx="1152311" cy="448230"/>
          </a:xfrm>
          <a:prstGeom prst="round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Durabilité</a:t>
            </a:r>
            <a:endParaRPr kumimoji="0" lang="fr-FR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dobe Devanagari" panose="02040503050201020203"/>
            </a:endParaRPr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93FAA7AD-1052-4418-870F-A6A1C72E8EF9}"/>
              </a:ext>
            </a:extLst>
          </p:cNvPr>
          <p:cNvSpPr/>
          <p:nvPr/>
        </p:nvSpPr>
        <p:spPr>
          <a:xfrm>
            <a:off x="10094258" y="4960620"/>
            <a:ext cx="286871" cy="448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F77D2533-CA6F-40C7-A5F7-C7190E78DE7E}"/>
              </a:ext>
            </a:extLst>
          </p:cNvPr>
          <p:cNvSpPr/>
          <p:nvPr/>
        </p:nvSpPr>
        <p:spPr>
          <a:xfrm rot="10800000">
            <a:off x="10524564" y="4956770"/>
            <a:ext cx="286871" cy="4482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5D3C3DC-1184-4852-88C3-B0DB82B6C0F9}"/>
              </a:ext>
            </a:extLst>
          </p:cNvPr>
          <p:cNvSpPr txBox="1"/>
          <p:nvPr/>
        </p:nvSpPr>
        <p:spPr>
          <a:xfrm>
            <a:off x="9455943" y="4978617"/>
            <a:ext cx="199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Trade                off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5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Plan de travail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769409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5</a:t>
            </a:fld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9C32DAF-0B97-4E35-8DBD-7FE3F42F3CDA}"/>
              </a:ext>
            </a:extLst>
          </p:cNvPr>
          <p:cNvSpPr txBox="1">
            <a:spLocks/>
          </p:cNvSpPr>
          <p:nvPr/>
        </p:nvSpPr>
        <p:spPr>
          <a:xfrm>
            <a:off x="1417117" y="6510867"/>
            <a:ext cx="9394318" cy="347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 - Bordeaux Aquitaine |  SAVE - Santé et Agroécologie du Vignoble |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COMBINE - Réunion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plénière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allégée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 Février 17, 2026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DC8DDE7-EF32-4B5E-9642-4B21A59B92B7}"/>
              </a:ext>
            </a:extLst>
          </p:cNvPr>
          <p:cNvSpPr txBox="1"/>
          <p:nvPr/>
        </p:nvSpPr>
        <p:spPr>
          <a:xfrm>
            <a:off x="941294" y="1470212"/>
            <a:ext cx="1031837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L’objectif</a:t>
            </a:r>
            <a:r>
              <a:rPr lang="fr-FR" dirty="0"/>
              <a:t> : </a:t>
            </a:r>
            <a:r>
              <a:rPr lang="fr-FR" sz="1800" dirty="0">
                <a:solidFill>
                  <a:srgbClr val="FF0000"/>
                </a:solidFill>
              </a:rPr>
              <a:t>Évaluation des stratégies </a:t>
            </a:r>
            <a:r>
              <a:rPr lang="fr-FR" sz="1800" dirty="0"/>
              <a:t>de </a:t>
            </a:r>
            <a:r>
              <a:rPr lang="fr-FR" sz="1800" dirty="0">
                <a:solidFill>
                  <a:srgbClr val="0070C0"/>
                </a:solidFill>
              </a:rPr>
              <a:t>déploiement variétal </a:t>
            </a:r>
            <a:r>
              <a:rPr lang="fr-FR" sz="1800" dirty="0"/>
              <a:t>en production de blé</a:t>
            </a:r>
            <a:endParaRPr lang="en-US" dirty="0">
              <a:latin typeface="CambriaMath"/>
            </a:endParaRPr>
          </a:p>
          <a:p>
            <a:endParaRPr lang="en-US" dirty="0">
              <a:latin typeface="CambriaMath"/>
            </a:endParaRPr>
          </a:p>
          <a:p>
            <a:r>
              <a:rPr lang="fr-FR" b="1" dirty="0"/>
              <a:t>L’outil :</a:t>
            </a:r>
            <a:r>
              <a:rPr lang="fr-FR" dirty="0"/>
              <a:t> Modèle </a:t>
            </a:r>
            <a:r>
              <a:rPr lang="fr-FR" dirty="0" err="1"/>
              <a:t>Landsepi</a:t>
            </a:r>
            <a:r>
              <a:rPr lang="fr-FR" dirty="0"/>
              <a:t> </a:t>
            </a:r>
            <a:r>
              <a:rPr lang="en-US" sz="1800" b="0" i="0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(Rimbaud </a:t>
            </a:r>
            <a:r>
              <a:rPr lang="en-US" sz="1800" b="0" i="1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et al.</a:t>
            </a:r>
            <a:r>
              <a:rPr lang="en-US" sz="1800" b="0" i="0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, 2018)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b="0" i="0" u="none" strike="noStrike" baseline="0" dirty="0">
                <a:latin typeface="Adobe Devanagari" panose="02040503050201020203"/>
              </a:rPr>
              <a:t>Initialement paramétré pour la </a:t>
            </a:r>
            <a:r>
              <a:rPr lang="fr-FR" sz="1800" b="0" i="0" u="none" strike="noStrike" baseline="0" dirty="0">
                <a:solidFill>
                  <a:srgbClr val="FF0000"/>
                </a:solidFill>
                <a:latin typeface="Adobe Devanagari" panose="02040503050201020203"/>
              </a:rPr>
              <a:t>rouille du blé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800" b="0" i="0" u="none" strike="noStrike" baseline="0" dirty="0">
                <a:latin typeface="Adobe Devanagari" panose="02040503050201020203"/>
              </a:rPr>
              <a:t>l’ajout de la reproduction sexuée</a:t>
            </a:r>
            <a:r>
              <a:rPr lang="fr-FR" dirty="0">
                <a:latin typeface="Adobe Devanagari" panose="02040503050201020203"/>
              </a:rPr>
              <a:t>, </a:t>
            </a:r>
            <a:r>
              <a:rPr lang="en-US" sz="1800" b="0" i="0" u="none" strike="noStrike" baseline="0" dirty="0" err="1">
                <a:latin typeface="Adobe Devanagari" panose="02040503050201020203"/>
              </a:rPr>
              <a:t>l’impact</a:t>
            </a:r>
            <a:r>
              <a:rPr lang="en-US" dirty="0">
                <a:latin typeface="Adobe Devanagari" panose="02040503050201020203"/>
              </a:rPr>
              <a:t> </a:t>
            </a:r>
            <a:r>
              <a:rPr lang="en-US" sz="1800" b="0" i="0" u="none" strike="noStrike" baseline="0" dirty="0" err="1">
                <a:latin typeface="Adobe Devanagari" panose="02040503050201020203"/>
              </a:rPr>
              <a:t>économique</a:t>
            </a:r>
            <a:r>
              <a:rPr lang="en-US" sz="1800" b="0" i="0" u="none" strike="noStrike" baseline="0" dirty="0">
                <a:latin typeface="Adobe Devanagari" panose="02040503050201020203"/>
              </a:rPr>
              <a:t>, </a:t>
            </a:r>
            <a:r>
              <a:rPr lang="en-US" sz="1800" b="0" i="0" u="none" strike="noStrike" baseline="0" dirty="0" err="1">
                <a:latin typeface="Adobe Devanagari" panose="02040503050201020203"/>
              </a:rPr>
              <a:t>l’utilisation</a:t>
            </a:r>
            <a:r>
              <a:rPr lang="en-US" sz="1800" b="0" i="0" u="none" strike="noStrike" baseline="0" dirty="0">
                <a:latin typeface="Adobe Devanagari" panose="02040503050201020203"/>
              </a:rPr>
              <a:t> de pesticides </a:t>
            </a:r>
            <a:r>
              <a:rPr lang="en-US" sz="1800" b="0" i="0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(</a:t>
            </a:r>
            <a:r>
              <a:rPr lang="en-US" sz="1800" b="0" i="0" u="none" strike="noStrike" baseline="0" dirty="0" err="1">
                <a:solidFill>
                  <a:srgbClr val="3F3FFF"/>
                </a:solidFill>
                <a:latin typeface="Adobe Devanagari" panose="02040503050201020203"/>
              </a:rPr>
              <a:t>Zaffaroni</a:t>
            </a:r>
            <a:r>
              <a:rPr lang="en-US" sz="1800" b="0" i="0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 </a:t>
            </a:r>
            <a:r>
              <a:rPr lang="en-US" sz="1800" b="0" i="1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et al.</a:t>
            </a:r>
            <a:r>
              <a:rPr lang="en-US" sz="1800" b="0" i="0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, 2024)</a:t>
            </a:r>
            <a:endParaRPr lang="en-US" dirty="0">
              <a:solidFill>
                <a:srgbClr val="3F3FFF"/>
              </a:solidFill>
              <a:latin typeface="Adobe Devanagari" panose="02040503050201020203"/>
            </a:endParaRP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1"/>
                </a:solidFill>
                <a:latin typeface="Adobe Devanagari" panose="02040503050201020203"/>
              </a:rPr>
              <a:t>Première réunion à BIOGER le 09/02/2026</a:t>
            </a:r>
          </a:p>
          <a:p>
            <a:endParaRPr lang="fr-FR" dirty="0">
              <a:solidFill>
                <a:srgbClr val="3F3FFF"/>
              </a:solidFill>
              <a:latin typeface="Adobe Devanagari" panose="02040503050201020203"/>
            </a:endParaRPr>
          </a:p>
          <a:p>
            <a:r>
              <a:rPr lang="fr-FR" b="1" dirty="0"/>
              <a:t>TODO liste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Se familiariser avec le </a:t>
            </a:r>
            <a:r>
              <a:rPr lang="fr-FR" b="1" dirty="0"/>
              <a:t>vocabulaire </a:t>
            </a:r>
            <a:r>
              <a:rPr lang="fr-FR" dirty="0"/>
              <a:t>et les </a:t>
            </a:r>
            <a:r>
              <a:rPr lang="fr-FR" b="1" dirty="0"/>
              <a:t>notions </a:t>
            </a:r>
            <a:r>
              <a:rPr lang="fr-FR" dirty="0"/>
              <a:t>de</a:t>
            </a:r>
            <a:r>
              <a:rPr lang="fr-FR" b="1" dirty="0"/>
              <a:t> </a:t>
            </a:r>
            <a:r>
              <a:rPr lang="fr-FR" dirty="0">
                <a:solidFill>
                  <a:srgbClr val="FF0000"/>
                </a:solidFill>
              </a:rPr>
              <a:t>pathologie végétale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Lecture : rapport de stage </a:t>
            </a:r>
            <a:r>
              <a:rPr lang="fr-FR" dirty="0">
                <a:solidFill>
                  <a:srgbClr val="3F3FFF"/>
                </a:solidFill>
                <a:latin typeface="Adobe Devanagari" panose="02040503050201020203"/>
              </a:rPr>
              <a:t>Sesia M. (2024) </a:t>
            </a:r>
            <a:r>
              <a:rPr lang="fr-FR" dirty="0"/>
              <a:t>et article de </a:t>
            </a:r>
            <a:r>
              <a:rPr lang="en-US" sz="1800" b="0" i="0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(Rimbaud </a:t>
            </a:r>
            <a:r>
              <a:rPr lang="en-US" sz="1800" b="0" i="1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et al.</a:t>
            </a:r>
            <a:r>
              <a:rPr lang="en-US" sz="1800" b="0" i="0" u="none" strike="noStrike" baseline="0" dirty="0">
                <a:solidFill>
                  <a:srgbClr val="3F3FFF"/>
                </a:solidFill>
                <a:latin typeface="Adobe Devanagari" panose="02040503050201020203"/>
              </a:rPr>
              <a:t>, 2018)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Première </a:t>
            </a:r>
            <a:r>
              <a:rPr lang="fr-FR" dirty="0">
                <a:solidFill>
                  <a:srgbClr val="FF0000"/>
                </a:solidFill>
              </a:rPr>
              <a:t>paramétrisation</a:t>
            </a:r>
            <a:r>
              <a:rPr lang="fr-FR" dirty="0"/>
              <a:t> du modèle pour la septoriose du blé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Tester le modèle avec le code de </a:t>
            </a:r>
            <a:r>
              <a:rPr lang="fr-FR" dirty="0">
                <a:solidFill>
                  <a:srgbClr val="3F3FFF"/>
                </a:solidFill>
                <a:latin typeface="Adobe Devanagari" panose="02040503050201020203"/>
              </a:rPr>
              <a:t>Sesia M. (2024)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Adobe Devanagari" panose="02040503050201020203"/>
              </a:rPr>
              <a:t>Discuter les hypothèses à tester avec </a:t>
            </a:r>
            <a:r>
              <a:rPr lang="fr-FR" dirty="0" err="1">
                <a:latin typeface="Adobe Devanagari" panose="02040503050201020203"/>
              </a:rPr>
              <a:t>landsepi</a:t>
            </a:r>
            <a:r>
              <a:rPr lang="fr-FR" dirty="0">
                <a:latin typeface="Adobe Devanagari" panose="02040503050201020203"/>
              </a:rPr>
              <a:t>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Mélange intra-parcelle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fr-FR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ariété population de la 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Tunisie</a:t>
            </a:r>
            <a:endParaRPr lang="fr-FR" dirty="0"/>
          </a:p>
          <a:p>
            <a:endParaRPr lang="en-US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738C6E0-3250-4460-864D-F59EE8E855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445" y="4512428"/>
            <a:ext cx="337969" cy="3379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8BC925E-5B5E-4340-99D1-070EDC805C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48" y="4825040"/>
            <a:ext cx="247550" cy="22627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1BC4B0E-8B6A-429F-8411-FA6467466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414" y="3935118"/>
            <a:ext cx="337969" cy="33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50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/>
        </p:nvCxnSpPr>
        <p:spPr>
          <a:xfrm>
            <a:off x="838200" y="1134534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38200" y="332940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Plan de travail</a:t>
            </a:r>
            <a:endParaRPr lang="en-US" sz="3600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769409"/>
            <a:ext cx="2743200" cy="365125"/>
          </a:xfrm>
        </p:spPr>
        <p:txBody>
          <a:bodyPr/>
          <a:lstStyle/>
          <a:p>
            <a:fld id="{959426DF-CA3C-4FFE-AEBA-47BB89F54273}" type="slidenum">
              <a:rPr lang="fr-FR" smtClean="0"/>
              <a:t>6</a:t>
            </a:fld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9C32DAF-0B97-4E35-8DBD-7FE3F42F3CDA}"/>
              </a:ext>
            </a:extLst>
          </p:cNvPr>
          <p:cNvSpPr txBox="1">
            <a:spLocks/>
          </p:cNvSpPr>
          <p:nvPr/>
        </p:nvSpPr>
        <p:spPr>
          <a:xfrm>
            <a:off x="1417117" y="6510867"/>
            <a:ext cx="9394318" cy="3471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 - Bordeaux Aquitaine |  SAVE - Santé et Agroécologie du Vignoble |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COMBINE - Réunion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plénière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allégée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/>
              </a:rPr>
              <a:t> </a:t>
            </a:r>
            <a:r>
              <a:rPr lang="fr-F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 Février 17, 2026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A8D71F-4F43-448E-B125-544834A47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528" y="2598671"/>
            <a:ext cx="5372850" cy="294363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4B2A455-C20D-43DE-B665-ADFD425D18E2}"/>
              </a:ext>
            </a:extLst>
          </p:cNvPr>
          <p:cNvSpPr txBox="1"/>
          <p:nvPr/>
        </p:nvSpPr>
        <p:spPr>
          <a:xfrm>
            <a:off x="838200" y="1452282"/>
            <a:ext cx="8422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Dans un premier temps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l’étude portera sur les </a:t>
            </a:r>
            <a:r>
              <a:rPr lang="fr-FR" dirty="0">
                <a:solidFill>
                  <a:srgbClr val="C00000"/>
                </a:solidFill>
              </a:rPr>
              <a:t>4 cultivars </a:t>
            </a:r>
            <a:r>
              <a:rPr lang="fr-FR" dirty="0"/>
              <a:t>possédant ces gènes de résistance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Avoir une paramétrisation plus fine du modèle</a:t>
            </a:r>
            <a:endParaRPr lang="en-US" dirty="0"/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022B36BB-F450-49D1-A1D3-3C493E763F6F}"/>
              </a:ext>
            </a:extLst>
          </p:cNvPr>
          <p:cNvSpPr/>
          <p:nvPr/>
        </p:nvSpPr>
        <p:spPr>
          <a:xfrm rot="16200000">
            <a:off x="6025496" y="4294283"/>
            <a:ext cx="233082" cy="2884208"/>
          </a:xfrm>
          <a:prstGeom prst="leftBrace">
            <a:avLst>
              <a:gd name="adj1" fmla="val 58333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ccolade ouvrante 13">
            <a:extLst>
              <a:ext uri="{FF2B5EF4-FFF2-40B4-BE49-F238E27FC236}">
                <a16:creationId xmlns:a16="http://schemas.microsoft.com/office/drawing/2014/main" id="{76903E2B-6065-494E-BAD7-AE2704556712}"/>
              </a:ext>
            </a:extLst>
          </p:cNvPr>
          <p:cNvSpPr/>
          <p:nvPr/>
        </p:nvSpPr>
        <p:spPr>
          <a:xfrm rot="16200000">
            <a:off x="7936546" y="5267443"/>
            <a:ext cx="251429" cy="956237"/>
          </a:xfrm>
          <a:prstGeom prst="leftBrace">
            <a:avLst>
              <a:gd name="adj1" fmla="val 58333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B722777-21CC-484B-8399-EAAC08088F85}"/>
              </a:ext>
            </a:extLst>
          </p:cNvPr>
          <p:cNvSpPr txBox="1"/>
          <p:nvPr/>
        </p:nvSpPr>
        <p:spPr>
          <a:xfrm>
            <a:off x="5635531" y="5981764"/>
            <a:ext cx="1013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1"/>
                </a:solidFill>
              </a:rPr>
              <a:t>Qualitative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643CA00-C038-4128-A452-DF8DE110AC87}"/>
              </a:ext>
            </a:extLst>
          </p:cNvPr>
          <p:cNvSpPr txBox="1"/>
          <p:nvPr/>
        </p:nvSpPr>
        <p:spPr>
          <a:xfrm>
            <a:off x="7513172" y="5981764"/>
            <a:ext cx="1098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C00000"/>
                </a:solidFill>
              </a:rPr>
              <a:t>Quantitative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6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9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17117" y="6510867"/>
            <a:ext cx="9394318" cy="347133"/>
          </a:xfrm>
        </p:spPr>
        <p:txBody>
          <a:bodyPr>
            <a:no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Subhasish Basak  | INRAE - Bordeaux Aquitaine |  SAVE - Santé et Agroécologie du Vignoble | 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Adobe Devanagari" panose="02040503050201020203"/>
              </a:rPr>
              <a:t>COMBINE - Réunion </a:t>
            </a:r>
            <a:r>
              <a:rPr lang="en-US" sz="1200" i="0" u="none" strike="noStrike" baseline="0" dirty="0" err="1">
                <a:solidFill>
                  <a:schemeClr val="bg1"/>
                </a:solidFill>
                <a:latin typeface="Adobe Devanagari" panose="02040503050201020203"/>
              </a:rPr>
              <a:t>plénière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Adobe Devanagari" panose="02040503050201020203"/>
              </a:rPr>
              <a:t> </a:t>
            </a:r>
            <a:r>
              <a:rPr lang="en-US" sz="1200" i="0" u="none" strike="noStrike" baseline="0" dirty="0" err="1">
                <a:solidFill>
                  <a:schemeClr val="bg1"/>
                </a:solidFill>
                <a:latin typeface="Adobe Devanagari" panose="02040503050201020203"/>
              </a:rPr>
              <a:t>allégée</a:t>
            </a:r>
            <a:r>
              <a:rPr lang="en-US" sz="1200" i="0" u="none" strike="noStrike" baseline="0" dirty="0">
                <a:solidFill>
                  <a:schemeClr val="bg1"/>
                </a:solidFill>
                <a:latin typeface="Adobe Devanagari" panose="02040503050201020203"/>
              </a:rPr>
              <a:t> </a:t>
            </a:r>
            <a:r>
              <a:rPr lang="fr-FR" sz="1200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|  Février 17, 2026</a:t>
            </a:r>
            <a:endParaRPr lang="en-US" sz="1200" dirty="0">
              <a:solidFill>
                <a:schemeClr val="bg1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85914" y="2967767"/>
            <a:ext cx="552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  <a:latin typeface="Adobe Devanagari" panose="02040503050201020203" pitchFamily="18" charset="0"/>
                <a:cs typeface="Adobe Devanagari" panose="02040503050201020203" pitchFamily="18" charset="0"/>
              </a:rPr>
              <a:t>Merci pour votre attention !</a:t>
            </a:r>
            <a:endParaRPr lang="en-US" sz="3600" b="1" dirty="0">
              <a:solidFill>
                <a:schemeClr val="bg1"/>
              </a:solidFill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5275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2974</TotalTime>
  <Words>686</Words>
  <Application>Microsoft Office PowerPoint</Application>
  <PresentationFormat>Grand écran</PresentationFormat>
  <Paragraphs>101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Adobe Devanagari</vt:lpstr>
      <vt:lpstr>Arial</vt:lpstr>
      <vt:lpstr>Calibri</vt:lpstr>
      <vt:lpstr>Calibri Light</vt:lpstr>
      <vt:lpstr>CambriaMath</vt:lpstr>
      <vt:lpstr>Thème Office</vt:lpstr>
      <vt:lpstr>Parcours et premiers pistes sur le project COMBINE  Subhasish BASAK1,2  Février 17, 2026  COMBINE - Réunion plénière allégée  1INRAE SAVE – Bordeaux Aquitaine 2INRAE BIOGER– Paris Saclay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Subhasish Basak  | INRAE - Bordeaux Aquitaine |  SAVE - Santé et Agroécologie du Vignoble | COMBINE - Réunion plénière allégée |  Février 17, 2026</vt:lpstr>
    </vt:vector>
  </TitlesOfParts>
  <Company>ANSES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Entretien projet ENVIRE Subhasish BASAK July 11, 2023  1. Agence Nationale de Sécurité Sanitaire (ANSES), Maison-Alfort, France 2. Université Paris-Saclay, CNRS, CentraleSupeléc, L2S, Gif-sur-yvette, France</dc:title>
  <dc:creator>BASAK Subhasish</dc:creator>
  <cp:lastModifiedBy>Subhasish Basak</cp:lastModifiedBy>
  <cp:revision>633</cp:revision>
  <dcterms:created xsi:type="dcterms:W3CDTF">2025-03-16T20:22:16Z</dcterms:created>
  <dcterms:modified xsi:type="dcterms:W3CDTF">2026-02-17T14:37:03Z</dcterms:modified>
</cp:coreProperties>
</file>