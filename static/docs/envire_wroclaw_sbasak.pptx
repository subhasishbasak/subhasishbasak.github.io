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9"/>
  </p:notesMasterIdLst>
  <p:handoutMasterIdLst>
    <p:handoutMasterId r:id="rId20"/>
  </p:handoutMasterIdLst>
  <p:sldIdLst>
    <p:sldId id="345" r:id="rId5"/>
    <p:sldId id="406" r:id="rId6"/>
    <p:sldId id="423" r:id="rId7"/>
    <p:sldId id="438" r:id="rId8"/>
    <p:sldId id="340" r:id="rId9"/>
    <p:sldId id="439" r:id="rId10"/>
    <p:sldId id="426" r:id="rId11"/>
    <p:sldId id="440" r:id="rId12"/>
    <p:sldId id="437" r:id="rId13"/>
    <p:sldId id="436" r:id="rId14"/>
    <p:sldId id="429" r:id="rId15"/>
    <p:sldId id="430" r:id="rId16"/>
    <p:sldId id="421" r:id="rId17"/>
    <p:sldId id="417" r:id="rId18"/>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orient="horz" pos="169" userDrawn="1">
          <p15:clr>
            <a:srgbClr val="A4A3A4"/>
          </p15:clr>
        </p15:guide>
        <p15:guide id="3" orient="horz" pos="854">
          <p15:clr>
            <a:srgbClr val="A4A3A4"/>
          </p15:clr>
        </p15:guide>
        <p15:guide id="4" orient="horz" pos="821">
          <p15:clr>
            <a:srgbClr val="A4A3A4"/>
          </p15:clr>
        </p15:guide>
        <p15:guide id="5" orient="horz" pos="3072" userDrawn="1">
          <p15:clr>
            <a:srgbClr val="A4A3A4"/>
          </p15:clr>
        </p15:guide>
        <p15:guide id="6" orient="horz" pos="3162" userDrawn="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UTUREAU Fabrice" initials="CF" lastIdx="2" clrIdx="0">
    <p:extLst>
      <p:ext uri="{19B8F6BF-5375-455C-9EA6-DF929625EA0E}">
        <p15:presenceInfo xmlns:p15="http://schemas.microsoft.com/office/powerpoint/2012/main" userId="S-1-5-21-1482476501-1993962763-1801674531-2679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70BE"/>
    <a:srgbClr val="E1000F"/>
    <a:srgbClr val="3C3C3C"/>
    <a:srgbClr val="A5E9F9"/>
    <a:srgbClr val="2082C8"/>
    <a:srgbClr val="FFE800"/>
    <a:srgbClr val="262626"/>
    <a:srgbClr val="FF9940"/>
    <a:srgbClr val="00AC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6" autoAdjust="0"/>
    <p:restoredTop sz="93552" autoAdjust="0"/>
  </p:normalViewPr>
  <p:slideViewPr>
    <p:cSldViewPr showGuides="1">
      <p:cViewPr varScale="1">
        <p:scale>
          <a:sx n="99" d="100"/>
          <a:sy n="99" d="100"/>
        </p:scale>
        <p:origin x="280" y="56"/>
      </p:cViewPr>
      <p:guideLst>
        <p:guide orient="horz" pos="1620"/>
        <p:guide orient="horz" pos="169"/>
        <p:guide orient="horz" pos="854"/>
        <p:guide orient="horz" pos="821"/>
        <p:guide orient="horz" pos="3072"/>
        <p:guide orient="horz" pos="3162"/>
        <p:guide pos="2880"/>
        <p:guide pos="476"/>
        <p:guide pos="5193"/>
        <p:guide pos="5465"/>
      </p:guideLst>
    </p:cSldViewPr>
  </p:slideViewPr>
  <p:notesTextViewPr>
    <p:cViewPr>
      <p:scale>
        <a:sx n="3" d="2"/>
        <a:sy n="3" d="2"/>
      </p:scale>
      <p:origin x="0" y="0"/>
    </p:cViewPr>
  </p:notesTextViewPr>
  <p:sorterViewPr>
    <p:cViewPr>
      <p:scale>
        <a:sx n="66" d="100"/>
        <a:sy n="66" d="100"/>
      </p:scale>
      <p:origin x="0" y="0"/>
    </p:cViewPr>
  </p:sorterViewPr>
  <p:notesViewPr>
    <p:cSldViewPr showGuides="1">
      <p:cViewPr varScale="1">
        <p:scale>
          <a:sx n="120" d="100"/>
          <a:sy n="120" d="100"/>
        </p:scale>
        <p:origin x="4104"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F6C3628-2A48-4943-8648-4659D1A5CA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EF460C9-DF9F-4989-A4D9-A059B7CFE0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636196-C1AC-42F1-B592-7AC34CBEE52F}" type="datetimeFigureOut">
              <a:rPr lang="fr-FR" smtClean="0"/>
              <a:t>06/05/2025</a:t>
            </a:fld>
            <a:endParaRPr lang="fr-FR"/>
          </a:p>
        </p:txBody>
      </p:sp>
      <p:sp>
        <p:nvSpPr>
          <p:cNvPr id="4" name="Espace réservé du pied de page 3">
            <a:extLst>
              <a:ext uri="{FF2B5EF4-FFF2-40B4-BE49-F238E27FC236}">
                <a16:creationId xmlns:a16="http://schemas.microsoft.com/office/drawing/2014/main" id="{9A5AF1BB-B908-4986-B23C-39197069DB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841F8CC-480B-4DF2-9E55-F7042905EE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69DB08-8E7B-42B6-93D7-7F21B1C03E4C}" type="slidenum">
              <a:rPr lang="fr-FR" smtClean="0"/>
              <a:t>‹N°›</a:t>
            </a:fld>
            <a:endParaRPr lang="fr-FR"/>
          </a:p>
        </p:txBody>
      </p:sp>
    </p:spTree>
    <p:extLst>
      <p:ext uri="{BB962C8B-B14F-4D97-AF65-F5344CB8AC3E}">
        <p14:creationId xmlns:p14="http://schemas.microsoft.com/office/powerpoint/2010/main" val="4028104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06/05/2025</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1B06CD8F-B7ED-4A05-9FB1-A01CC0EF02CC}" type="slidenum">
              <a:rPr lang="fr-FR" smtClean="0"/>
              <a:pPr/>
              <a:t>3</a:t>
            </a:fld>
            <a:endParaRPr lang="fr-FR" dirty="0"/>
          </a:p>
        </p:txBody>
      </p:sp>
    </p:spTree>
    <p:extLst>
      <p:ext uri="{BB962C8B-B14F-4D97-AF65-F5344CB8AC3E}">
        <p14:creationId xmlns:p14="http://schemas.microsoft.com/office/powerpoint/2010/main" val="284389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1B06CD8F-B7ED-4A05-9FB1-A01CC0EF02CC}" type="slidenum">
              <a:rPr lang="fr-FR" smtClean="0"/>
              <a:pPr/>
              <a:t>4</a:t>
            </a:fld>
            <a:endParaRPr lang="fr-FR" dirty="0"/>
          </a:p>
        </p:txBody>
      </p:sp>
    </p:spTree>
    <p:extLst>
      <p:ext uri="{BB962C8B-B14F-4D97-AF65-F5344CB8AC3E}">
        <p14:creationId xmlns:p14="http://schemas.microsoft.com/office/powerpoint/2010/main" val="943438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B06CD8F-B7ED-4A05-9FB1-A01CC0EF02CC}" type="slidenum">
              <a:rPr lang="fr-FR" smtClean="0"/>
              <a:pPr/>
              <a:t>5</a:t>
            </a:fld>
            <a:endParaRPr lang="fr-FR" dirty="0"/>
          </a:p>
        </p:txBody>
      </p:sp>
    </p:spTree>
    <p:extLst>
      <p:ext uri="{BB962C8B-B14F-4D97-AF65-F5344CB8AC3E}">
        <p14:creationId xmlns:p14="http://schemas.microsoft.com/office/powerpoint/2010/main" val="2855768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B06CD8F-B7ED-4A05-9FB1-A01CC0EF02CC}" type="slidenum">
              <a:rPr lang="fr-FR" smtClean="0"/>
              <a:pPr/>
              <a:t>13</a:t>
            </a:fld>
            <a:endParaRPr lang="fr-FR" dirty="0"/>
          </a:p>
        </p:txBody>
      </p:sp>
    </p:spTree>
    <p:extLst>
      <p:ext uri="{BB962C8B-B14F-4D97-AF65-F5344CB8AC3E}">
        <p14:creationId xmlns:p14="http://schemas.microsoft.com/office/powerpoint/2010/main" val="1309526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1B06CD8F-B7ED-4A05-9FB1-A01CC0EF02CC}" type="slidenum">
              <a:rPr lang="fr-FR" smtClean="0"/>
              <a:pPr/>
              <a:t>14</a:t>
            </a:fld>
            <a:endParaRPr lang="fr-FR" dirty="0"/>
          </a:p>
        </p:txBody>
      </p:sp>
    </p:spTree>
    <p:extLst>
      <p:ext uri="{BB962C8B-B14F-4D97-AF65-F5344CB8AC3E}">
        <p14:creationId xmlns:p14="http://schemas.microsoft.com/office/powerpoint/2010/main" val="4076309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uverture FR">
    <p:spTree>
      <p:nvGrpSpPr>
        <p:cNvPr id="1" name=""/>
        <p:cNvGrpSpPr/>
        <p:nvPr/>
      </p:nvGrpSpPr>
      <p:grpSpPr>
        <a:xfrm>
          <a:off x="0" y="0"/>
          <a:ext cx="0" cy="0"/>
          <a:chOff x="0" y="0"/>
          <a:chExt cx="0" cy="0"/>
        </a:xfrm>
      </p:grpSpPr>
      <p:sp>
        <p:nvSpPr>
          <p:cNvPr id="2" name="ZoneTexte 1"/>
          <p:cNvSpPr txBox="1"/>
          <p:nvPr userDrawn="1"/>
        </p:nvSpPr>
        <p:spPr>
          <a:xfrm>
            <a:off x="273892" y="4544261"/>
            <a:ext cx="3427372" cy="594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60" b="1" kern="1200" cap="all" baseline="0" dirty="0" smtClean="0">
                <a:solidFill>
                  <a:schemeClr val="tx2"/>
                </a:solidFill>
                <a:latin typeface="+mn-lt"/>
                <a:ea typeface="+mn-ea"/>
                <a:cs typeface="+mn-cs"/>
              </a:rPr>
              <a:t>Connaître, évaluer, protéger</a:t>
            </a:r>
          </a:p>
          <a:p>
            <a:endParaRPr lang="fr-FR"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364087" y="367725"/>
            <a:ext cx="1825625" cy="1275049"/>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360000" y="2346046"/>
            <a:ext cx="8424000" cy="2077200"/>
          </a:xfrm>
        </p:spPr>
        <p:txBody>
          <a:bodyPr/>
          <a:lstStyle>
            <a:lvl1pPr>
              <a:lnSpc>
                <a:spcPct val="90000"/>
              </a:lnSpc>
              <a:spcAft>
                <a:spcPts val="0"/>
              </a:spcAft>
              <a:defRPr sz="3250" b="1" cap="all" baseline="0">
                <a:solidFill>
                  <a:srgbClr val="262626"/>
                </a:solidFill>
              </a:defRPr>
            </a:lvl1pPr>
            <a:lvl2pPr marL="0" indent="0">
              <a:spcBef>
                <a:spcPts val="500"/>
              </a:spcBef>
              <a:spcAft>
                <a:spcPts val="0"/>
              </a:spcAft>
              <a:buNone/>
              <a:defRPr sz="1850" baseline="0"/>
            </a:lvl2pPr>
          </a:lstStyle>
          <a:p>
            <a:pPr lvl="0"/>
            <a:r>
              <a:rPr lang="fr-FR" dirty="0" smtClean="0"/>
              <a:t>Titre de la présentation </a:t>
            </a:r>
            <a:br>
              <a:rPr lang="fr-FR" dirty="0" smtClean="0"/>
            </a:br>
            <a:r>
              <a:rPr lang="fr-FR" dirty="0" smtClean="0"/>
              <a:t>sur deux lignes maximum</a:t>
            </a:r>
            <a:endParaRPr lang="fr-FR" dirty="0"/>
          </a:p>
          <a:p>
            <a:pPr lvl="1"/>
            <a:r>
              <a:rPr lang="fr-FR" dirty="0" smtClean="0"/>
              <a:t>Sous-titre de la présentation </a:t>
            </a:r>
            <a:br>
              <a:rPr lang="fr-FR" dirty="0" smtClean="0"/>
            </a:br>
            <a:r>
              <a:rPr lang="fr-FR" dirty="0" smtClean="0"/>
              <a:t>sur deux lignes maximum</a:t>
            </a:r>
            <a:endParaRPr lang="fr-FR" dirty="0"/>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7699725" y="4659675"/>
            <a:ext cx="1170000" cy="211929"/>
          </a:xfrm>
        </p:spPr>
        <p:txBody>
          <a:bodyPr>
            <a:noAutofit/>
          </a:bodyPr>
          <a:lstStyle/>
          <a:p>
            <a:pPr algn="r"/>
            <a:r>
              <a:rPr lang="fr-FR" cap="all" dirty="0" smtClean="0"/>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2261490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Couverture GB">
    <p:spTree>
      <p:nvGrpSpPr>
        <p:cNvPr id="1" name=""/>
        <p:cNvGrpSpPr/>
        <p:nvPr/>
      </p:nvGrpSpPr>
      <p:grpSpPr>
        <a:xfrm>
          <a:off x="0" y="0"/>
          <a:ext cx="0" cy="0"/>
          <a:chOff x="0" y="0"/>
          <a:chExt cx="0" cy="0"/>
        </a:xfrm>
      </p:grpSpPr>
      <p:sp>
        <p:nvSpPr>
          <p:cNvPr id="26" name="ZoneTexte 25"/>
          <p:cNvSpPr txBox="1"/>
          <p:nvPr userDrawn="1"/>
        </p:nvSpPr>
        <p:spPr>
          <a:xfrm>
            <a:off x="273892" y="4544261"/>
            <a:ext cx="3722044" cy="594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60" b="1" kern="1200" cap="all" baseline="0" dirty="0" err="1" smtClean="0">
                <a:solidFill>
                  <a:schemeClr val="tx2"/>
                </a:solidFill>
                <a:latin typeface="+mn-lt"/>
                <a:ea typeface="+mn-ea"/>
                <a:cs typeface="+mn-cs"/>
              </a:rPr>
              <a:t>Investigate</a:t>
            </a:r>
            <a:r>
              <a:rPr lang="fr-FR" sz="1460" b="1" kern="1200" cap="all" baseline="0" dirty="0" smtClean="0">
                <a:solidFill>
                  <a:schemeClr val="tx2"/>
                </a:solidFill>
                <a:latin typeface="+mn-lt"/>
                <a:ea typeface="+mn-ea"/>
                <a:cs typeface="+mn-cs"/>
              </a:rPr>
              <a:t>, </a:t>
            </a:r>
            <a:r>
              <a:rPr lang="fr-FR" sz="1460" b="1" kern="1200" cap="all" baseline="0" dirty="0" err="1" smtClean="0">
                <a:solidFill>
                  <a:schemeClr val="tx2"/>
                </a:solidFill>
                <a:latin typeface="+mn-lt"/>
                <a:ea typeface="+mn-ea"/>
                <a:cs typeface="+mn-cs"/>
              </a:rPr>
              <a:t>evaluate</a:t>
            </a:r>
            <a:r>
              <a:rPr lang="fr-FR" sz="1460" b="1" kern="1200" cap="all" baseline="0" dirty="0" smtClean="0">
                <a:solidFill>
                  <a:schemeClr val="tx2"/>
                </a:solidFill>
                <a:latin typeface="+mn-lt"/>
                <a:ea typeface="+mn-ea"/>
                <a:cs typeface="+mn-cs"/>
              </a:rPr>
              <a:t>, </a:t>
            </a:r>
            <a:r>
              <a:rPr lang="fr-FR" sz="1460" b="1" kern="1200" cap="all" baseline="0" dirty="0" err="1" smtClean="0">
                <a:solidFill>
                  <a:schemeClr val="tx2"/>
                </a:solidFill>
                <a:latin typeface="+mn-lt"/>
                <a:ea typeface="+mn-ea"/>
                <a:cs typeface="+mn-cs"/>
              </a:rPr>
              <a:t>protect</a:t>
            </a:r>
            <a:endParaRPr lang="fr-FR" sz="1460" b="1" kern="1200" cap="all" baseline="0" dirty="0" smtClean="0">
              <a:solidFill>
                <a:schemeClr val="tx2"/>
              </a:solidFill>
              <a:latin typeface="+mn-lt"/>
              <a:ea typeface="+mn-ea"/>
              <a:cs typeface="+mn-cs"/>
            </a:endParaRPr>
          </a:p>
          <a:p>
            <a:endParaRPr lang="fr-FR"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364087" y="367725"/>
            <a:ext cx="1825625" cy="1275049"/>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360000" y="2346046"/>
            <a:ext cx="8424000" cy="2077200"/>
          </a:xfrm>
        </p:spPr>
        <p:txBody>
          <a:bodyPr/>
          <a:lstStyle>
            <a:lvl1pPr>
              <a:lnSpc>
                <a:spcPct val="90000"/>
              </a:lnSpc>
              <a:spcAft>
                <a:spcPts val="0"/>
              </a:spcAft>
              <a:defRPr sz="3250" b="1" cap="all" baseline="0">
                <a:solidFill>
                  <a:srgbClr val="262626"/>
                </a:solidFill>
              </a:defRPr>
            </a:lvl1pPr>
            <a:lvl2pPr marL="0" indent="0">
              <a:spcBef>
                <a:spcPts val="500"/>
              </a:spcBef>
              <a:spcAft>
                <a:spcPts val="0"/>
              </a:spcAft>
              <a:buNone/>
              <a:defRPr sz="1850" baseline="0"/>
            </a:lvl2pPr>
          </a:lstStyle>
          <a:p>
            <a:pPr lvl="0"/>
            <a:r>
              <a:rPr lang="fr-FR" dirty="0" smtClean="0"/>
              <a:t>Titre de la présentation </a:t>
            </a:r>
            <a:br>
              <a:rPr lang="fr-FR" dirty="0" smtClean="0"/>
            </a:br>
            <a:r>
              <a:rPr lang="fr-FR" dirty="0" smtClean="0"/>
              <a:t>sur deux lignes maximum</a:t>
            </a:r>
            <a:endParaRPr lang="fr-FR" dirty="0"/>
          </a:p>
          <a:p>
            <a:pPr lvl="1"/>
            <a:r>
              <a:rPr lang="fr-FR" dirty="0" smtClean="0"/>
              <a:t>Sous-titre de la présentation </a:t>
            </a:r>
            <a:br>
              <a:rPr lang="fr-FR" dirty="0" smtClean="0"/>
            </a:br>
            <a:r>
              <a:rPr lang="fr-FR" dirty="0" smtClean="0"/>
              <a:t>sur deux lignes maximum</a:t>
            </a:r>
            <a:endParaRPr lang="fr-FR" dirty="0"/>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7699725" y="4659675"/>
            <a:ext cx="1170000" cy="211929"/>
          </a:xfrm>
        </p:spPr>
        <p:txBody>
          <a:bodyPr>
            <a:noAutofit/>
          </a:bodyPr>
          <a:lstStyle/>
          <a:p>
            <a:pPr algn="r"/>
            <a:r>
              <a:rPr lang="fr-FR" cap="all" dirty="0" smtClean="0"/>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300724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solidFill>
                  <a:srgbClr val="262626"/>
                </a:solidFill>
              </a:defRPr>
            </a:lvl1pPr>
          </a:lstStyle>
          <a:p>
            <a:r>
              <a:rPr lang="fr-FR" dirty="0" smtClean="0"/>
              <a:t>Sommaire</a:t>
            </a:r>
            <a:endParaRPr lang="fr-FR" dirty="0"/>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None/>
              <a:defRPr b="1">
                <a:solidFill>
                  <a:schemeClr val="tx2"/>
                </a:solidFill>
              </a:defRPr>
            </a:lvl1pPr>
            <a:lvl2pPr marL="324000" indent="-144000">
              <a:spcBef>
                <a:spcPts val="600"/>
              </a:spcBef>
              <a:spcAft>
                <a:spcPts val="800"/>
              </a:spcAft>
              <a:buFont typeface="+mj-lt"/>
              <a:buAutoNum type="alphaLcPeriod"/>
              <a:defRPr>
                <a:solidFill>
                  <a:srgbClr val="262626"/>
                </a:solidFill>
              </a:defRPr>
            </a:lvl2pPr>
          </a:lstStyle>
          <a:p>
            <a:pPr lvl="0"/>
            <a:r>
              <a:rPr lang="fr-FR" dirty="0" smtClean="0"/>
              <a:t>1. Titre </a:t>
            </a:r>
            <a:r>
              <a:rPr lang="fr-FR" dirty="0"/>
              <a:t>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None/>
              <a:defRPr b="1">
                <a:solidFill>
                  <a:schemeClr val="accent2"/>
                </a:solidFill>
              </a:defRPr>
            </a:lvl1pPr>
            <a:lvl2pPr marL="324000" indent="-144000">
              <a:spcBef>
                <a:spcPts val="600"/>
              </a:spcBef>
              <a:spcAft>
                <a:spcPts val="800"/>
              </a:spcAft>
              <a:buFont typeface="+mj-lt"/>
              <a:buAutoNum type="alphaLcPeriod"/>
              <a:defRPr>
                <a:solidFill>
                  <a:srgbClr val="262626"/>
                </a:solidFill>
              </a:defRPr>
            </a:lvl2pPr>
          </a:lstStyle>
          <a:p>
            <a:pPr lvl="0"/>
            <a:r>
              <a:rPr lang="fr-FR" dirty="0" smtClean="0"/>
              <a:t>2. Titre </a:t>
            </a:r>
            <a:r>
              <a:rPr lang="fr-FR" dirty="0"/>
              <a:t>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None/>
              <a:defRPr b="1">
                <a:solidFill>
                  <a:srgbClr val="5770BE"/>
                </a:solidFill>
              </a:defRPr>
            </a:lvl1pPr>
            <a:lvl2pPr marL="324000" indent="-144000">
              <a:spcBef>
                <a:spcPts val="600"/>
              </a:spcBef>
              <a:spcAft>
                <a:spcPts val="800"/>
              </a:spcAft>
              <a:buFont typeface="+mj-lt"/>
              <a:buAutoNum type="alphaLcPeriod"/>
              <a:defRPr>
                <a:solidFill>
                  <a:srgbClr val="262626"/>
                </a:solidFill>
              </a:defRPr>
            </a:lvl2pPr>
          </a:lstStyle>
          <a:p>
            <a:pPr lvl="0"/>
            <a:r>
              <a:rPr lang="fr-FR" dirty="0" smtClean="0"/>
              <a:t>3. Titre </a:t>
            </a:r>
            <a:r>
              <a:rPr lang="fr-FR" dirty="0"/>
              <a:t>de la partie</a:t>
            </a:r>
          </a:p>
          <a:p>
            <a:pPr lvl="1"/>
            <a:r>
              <a:rPr lang="fr-FR" dirty="0"/>
              <a:t>Deuxième niveau</a:t>
            </a:r>
          </a:p>
        </p:txBody>
      </p:sp>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lvl1pPr>
              <a:defRPr>
                <a:solidFill>
                  <a:srgbClr val="262626"/>
                </a:solidFill>
              </a:defRPr>
            </a:lvl1pPr>
          </a:lstStyle>
          <a:p>
            <a:pPr algn="r"/>
            <a:r>
              <a:rPr lang="fr-FR" cap="all" dirty="0" smtClean="0"/>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lvl1pPr>
              <a:defRPr>
                <a:solidFill>
                  <a:srgbClr val="262626"/>
                </a:solidFill>
              </a:defRPr>
            </a:lvl1pPr>
          </a:lstStyle>
          <a:p>
            <a:r>
              <a:rPr lang="fr-FR" dirty="0" smtClean="0"/>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lvl1pPr>
              <a:defRPr>
                <a:solidFill>
                  <a:srgbClr val="262626"/>
                </a:solidFill>
              </a:defRPr>
            </a:lvl1pPr>
          </a:lstStyle>
          <a:p>
            <a:fld id="{733122C9-A0B9-462F-8757-0847AD287B63}" type="slidenum">
              <a:rPr lang="fr-FR" smtClean="0"/>
              <a:pPr/>
              <a:t>‹N°›</a:t>
            </a:fld>
            <a:endParaRPr lang="fr-FR" dirty="0"/>
          </a:p>
        </p:txBody>
      </p:sp>
      <p:grpSp>
        <p:nvGrpSpPr>
          <p:cNvPr id="42" name="Groupe 41">
            <a:extLst>
              <a:ext uri="{FF2B5EF4-FFF2-40B4-BE49-F238E27FC236}">
                <a16:creationId xmlns:a16="http://schemas.microsoft.com/office/drawing/2014/main" id="{DD31BDFD-FADC-44D8-B829-1A31B7858F66}"/>
              </a:ext>
            </a:extLst>
          </p:cNvPr>
          <p:cNvGrpSpPr/>
          <p:nvPr userDrawn="1"/>
        </p:nvGrpSpPr>
        <p:grpSpPr>
          <a:xfrm>
            <a:off x="8503443" y="178606"/>
            <a:ext cx="273845" cy="380988"/>
            <a:chOff x="2724335" y="0"/>
            <a:chExt cx="3694565" cy="5140087"/>
          </a:xfrm>
        </p:grpSpPr>
        <p:grpSp>
          <p:nvGrpSpPr>
            <p:cNvPr id="43" name="Groupe 42">
              <a:extLst>
                <a:ext uri="{FF2B5EF4-FFF2-40B4-BE49-F238E27FC236}">
                  <a16:creationId xmlns:a16="http://schemas.microsoft.com/office/drawing/2014/main" id="{68948EC5-1067-4566-82C7-B6A31FB381EE}"/>
                </a:ext>
              </a:extLst>
            </p:cNvPr>
            <p:cNvGrpSpPr/>
            <p:nvPr userDrawn="1"/>
          </p:nvGrpSpPr>
          <p:grpSpPr>
            <a:xfrm>
              <a:off x="2724335" y="4398358"/>
              <a:ext cx="3694565" cy="741729"/>
              <a:chOff x="2724335" y="4398358"/>
              <a:chExt cx="3694565" cy="741729"/>
            </a:xfrm>
          </p:grpSpPr>
          <p:sp>
            <p:nvSpPr>
              <p:cNvPr id="50" name="Forme libre : forme 49">
                <a:extLst>
                  <a:ext uri="{FF2B5EF4-FFF2-40B4-BE49-F238E27FC236}">
                    <a16:creationId xmlns:a16="http://schemas.microsoft.com/office/drawing/2014/main" id="{A9721D01-449C-4E27-8D95-CB388E166391}"/>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D4EF4E18-1600-4951-B2D3-81EA9BB0A9D0}"/>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3284962D-7A7F-4349-9250-20D40BD3FEC1}"/>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53" name="Forme libre : forme 52">
                <a:extLst>
                  <a:ext uri="{FF2B5EF4-FFF2-40B4-BE49-F238E27FC236}">
                    <a16:creationId xmlns:a16="http://schemas.microsoft.com/office/drawing/2014/main" id="{476FCF11-4108-40BC-8178-ADD787625181}"/>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54" name="Forme libre : forme 53">
                <a:extLst>
                  <a:ext uri="{FF2B5EF4-FFF2-40B4-BE49-F238E27FC236}">
                    <a16:creationId xmlns:a16="http://schemas.microsoft.com/office/drawing/2014/main" id="{D22E4527-8C28-490C-A537-25A59F3C9541}"/>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44" name="Groupe 43">
              <a:extLst>
                <a:ext uri="{FF2B5EF4-FFF2-40B4-BE49-F238E27FC236}">
                  <a16:creationId xmlns:a16="http://schemas.microsoft.com/office/drawing/2014/main" id="{7A93ACC7-0FC5-4E42-9A92-E233EF4B3BDD}"/>
                </a:ext>
              </a:extLst>
            </p:cNvPr>
            <p:cNvGrpSpPr/>
            <p:nvPr userDrawn="1"/>
          </p:nvGrpSpPr>
          <p:grpSpPr>
            <a:xfrm>
              <a:off x="2752472" y="0"/>
              <a:ext cx="3638377" cy="3631244"/>
              <a:chOff x="2752472" y="0"/>
              <a:chExt cx="3638377" cy="3631244"/>
            </a:xfrm>
          </p:grpSpPr>
          <p:sp>
            <p:nvSpPr>
              <p:cNvPr id="45" name="Forme libre : forme 44">
                <a:extLst>
                  <a:ext uri="{FF2B5EF4-FFF2-40B4-BE49-F238E27FC236}">
                    <a16:creationId xmlns:a16="http://schemas.microsoft.com/office/drawing/2014/main" id="{57603CFD-4D04-4A34-A606-ACDAC0C83EBE}"/>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43458750-899D-4394-B830-1E9A3B51E930}"/>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091F78CC-3B11-43B4-8B6D-739240B1A3D0}"/>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25815A24-B8B0-4B4D-9625-670E8EA1BFD7}"/>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CC32A3B7-91D8-4CBD-9C74-C8A91E4E80F7}"/>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1885774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 de titre 1">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5080918" y="1787749"/>
            <a:ext cx="2691987" cy="1326926"/>
            <a:chOff x="1876472" y="1243012"/>
            <a:chExt cx="5386683" cy="2655188"/>
          </a:xfrm>
          <a:solidFill>
            <a:schemeClr val="bg2"/>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a:p>
          </p:txBody>
        </p:sp>
      </p:grpSp>
      <p:sp>
        <p:nvSpPr>
          <p:cNvPr id="22"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4208625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 de titre 2">
    <p:bg>
      <p:bgPr>
        <a:solidFill>
          <a:srgbClr val="FFE800"/>
        </a:solid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rgbClr val="262626"/>
                </a:solidFill>
              </a:defRPr>
            </a:lvl1pPr>
          </a:lstStyle>
          <a:p>
            <a:r>
              <a:rPr lang="fr-FR" dirty="0" smtClean="0"/>
              <a:t>1. Titre de partie</a:t>
            </a:r>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rgbClr val="262626"/>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7" name="Groupe 16">
            <a:extLst>
              <a:ext uri="{FF2B5EF4-FFF2-40B4-BE49-F238E27FC236}">
                <a16:creationId xmlns:a16="http://schemas.microsoft.com/office/drawing/2014/main" id="{11EC5EB1-2433-445A-90EB-40A3439D696C}"/>
              </a:ext>
            </a:extLst>
          </p:cNvPr>
          <p:cNvGrpSpPr/>
          <p:nvPr userDrawn="1"/>
        </p:nvGrpSpPr>
        <p:grpSpPr>
          <a:xfrm>
            <a:off x="4770120" y="1277220"/>
            <a:ext cx="2560320" cy="2520422"/>
            <a:chOff x="2024062" y="61912"/>
            <a:chExt cx="5097779" cy="5018340"/>
          </a:xfrm>
          <a:solidFill>
            <a:srgbClr val="FF9940"/>
          </a:solidFill>
        </p:grpSpPr>
        <p:sp>
          <p:nvSpPr>
            <p:cNvPr id="18" name="Forme libre : forme 7">
              <a:extLst>
                <a:ext uri="{FF2B5EF4-FFF2-40B4-BE49-F238E27FC236}">
                  <a16:creationId xmlns:a16="http://schemas.microsoft.com/office/drawing/2014/main" id="{980A77CA-4106-4CFD-9089-5D17008DBD8F}"/>
                </a:ext>
              </a:extLst>
            </p:cNvPr>
            <p:cNvSpPr/>
            <p:nvPr/>
          </p:nvSpPr>
          <p:spPr>
            <a:xfrm>
              <a:off x="4123409" y="3661504"/>
              <a:ext cx="726675" cy="1418748"/>
            </a:xfrm>
            <a:custGeom>
              <a:avLst/>
              <a:gdLst>
                <a:gd name="connsiteX0" fmla="*/ 5487 w 726675"/>
                <a:gd name="connsiteY0" fmla="*/ 635032 h 1418748"/>
                <a:gd name="connsiteX1" fmla="*/ 407442 w 726675"/>
                <a:gd name="connsiteY1" fmla="*/ 1418749 h 1418748"/>
                <a:gd name="connsiteX2" fmla="*/ 712242 w 726675"/>
                <a:gd name="connsiteY2" fmla="*/ 734949 h 1418748"/>
                <a:gd name="connsiteX3" fmla="*/ 617373 w 726675"/>
                <a:gd name="connsiteY3" fmla="*/ 0 h 1418748"/>
                <a:gd name="connsiteX4" fmla="*/ 5487 w 726675"/>
                <a:gd name="connsiteY4" fmla="*/ 635032 h 1418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675" h="1418748">
                  <a:moveTo>
                    <a:pt x="5487" y="635032"/>
                  </a:moveTo>
                  <a:cubicBezTo>
                    <a:pt x="-52996" y="1032129"/>
                    <a:pt x="374581" y="1391888"/>
                    <a:pt x="407442" y="1418749"/>
                  </a:cubicBezTo>
                  <a:cubicBezTo>
                    <a:pt x="565176" y="1229868"/>
                    <a:pt x="674333" y="996315"/>
                    <a:pt x="712242" y="734949"/>
                  </a:cubicBezTo>
                  <a:cubicBezTo>
                    <a:pt x="749771" y="476345"/>
                    <a:pt x="712718" y="224028"/>
                    <a:pt x="617373" y="0"/>
                  </a:cubicBezTo>
                  <a:cubicBezTo>
                    <a:pt x="586512" y="12763"/>
                    <a:pt x="64447" y="234410"/>
                    <a:pt x="5487" y="635032"/>
                  </a:cubicBezTo>
                  <a:close/>
                </a:path>
              </a:pathLst>
            </a:custGeom>
            <a:grpFill/>
            <a:ln w="9525" cap="flat">
              <a:noFill/>
              <a:prstDash val="solid"/>
              <a:miter/>
            </a:ln>
          </p:spPr>
          <p:txBody>
            <a:bodyPr rtlCol="0" anchor="ctr"/>
            <a:lstStyle/>
            <a:p>
              <a:endParaRPr lang="fr-FR"/>
            </a:p>
          </p:txBody>
        </p:sp>
        <p:sp>
          <p:nvSpPr>
            <p:cNvPr id="19" name="Forme libre : forme 10">
              <a:extLst>
                <a:ext uri="{FF2B5EF4-FFF2-40B4-BE49-F238E27FC236}">
                  <a16:creationId xmlns:a16="http://schemas.microsoft.com/office/drawing/2014/main" id="{0249ABE6-2F7B-4AA0-8FB6-54E6BF81A1B2}"/>
                </a:ext>
              </a:extLst>
            </p:cNvPr>
            <p:cNvSpPr/>
            <p:nvPr/>
          </p:nvSpPr>
          <p:spPr>
            <a:xfrm>
              <a:off x="5837681" y="2484253"/>
              <a:ext cx="1284160" cy="839943"/>
            </a:xfrm>
            <a:custGeom>
              <a:avLst/>
              <a:gdLst>
                <a:gd name="connsiteX0" fmla="*/ 414814 w 1284160"/>
                <a:gd name="connsiteY0" fmla="*/ 783012 h 839943"/>
                <a:gd name="connsiteX1" fmla="*/ 1284161 w 1284160"/>
                <a:gd name="connsiteY1" fmla="*/ 643185 h 839943"/>
                <a:gd name="connsiteX2" fmla="*/ 316992 w 1284160"/>
                <a:gd name="connsiteY2" fmla="*/ 14345 h 839943"/>
                <a:gd name="connsiteX3" fmla="*/ 0 w 1284160"/>
                <a:gd name="connsiteY3" fmla="*/ 5105 h 839943"/>
                <a:gd name="connsiteX4" fmla="*/ 414814 w 1284160"/>
                <a:gd name="connsiteY4" fmla="*/ 783012 h 839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4160" h="839943">
                  <a:moveTo>
                    <a:pt x="414814" y="783012"/>
                  </a:moveTo>
                  <a:cubicBezTo>
                    <a:pt x="773430" y="960844"/>
                    <a:pt x="1246061" y="667474"/>
                    <a:pt x="1284161" y="643185"/>
                  </a:cubicBezTo>
                  <a:cubicBezTo>
                    <a:pt x="1076801" y="314096"/>
                    <a:pt x="732091" y="74447"/>
                    <a:pt x="316992" y="14345"/>
                  </a:cubicBezTo>
                  <a:cubicBezTo>
                    <a:pt x="209740" y="-1181"/>
                    <a:pt x="103537" y="-3848"/>
                    <a:pt x="0" y="5105"/>
                  </a:cubicBezTo>
                  <a:cubicBezTo>
                    <a:pt x="2572" y="39110"/>
                    <a:pt x="52292" y="603275"/>
                    <a:pt x="414814" y="783012"/>
                  </a:cubicBezTo>
                  <a:close/>
                </a:path>
              </a:pathLst>
            </a:custGeom>
            <a:grpFill/>
            <a:ln w="9525" cap="flat">
              <a:noFill/>
              <a:prstDash val="solid"/>
              <a:miter/>
            </a:ln>
          </p:spPr>
          <p:txBody>
            <a:bodyPr rtlCol="0" anchor="ctr"/>
            <a:lstStyle/>
            <a:p>
              <a:endParaRPr lang="fr-FR"/>
            </a:p>
          </p:txBody>
        </p:sp>
        <p:sp>
          <p:nvSpPr>
            <p:cNvPr id="20" name="Forme libre : forme 11">
              <a:extLst>
                <a:ext uri="{FF2B5EF4-FFF2-40B4-BE49-F238E27FC236}">
                  <a16:creationId xmlns:a16="http://schemas.microsoft.com/office/drawing/2014/main" id="{CF86E031-9A54-4E6A-8774-D463D2F85038}"/>
                </a:ext>
              </a:extLst>
            </p:cNvPr>
            <p:cNvSpPr/>
            <p:nvPr/>
          </p:nvSpPr>
          <p:spPr>
            <a:xfrm>
              <a:off x="5349048" y="61912"/>
              <a:ext cx="1045824" cy="1055342"/>
            </a:xfrm>
            <a:custGeom>
              <a:avLst/>
              <a:gdLst>
                <a:gd name="connsiteX0" fmla="*/ 868775 w 1045824"/>
                <a:gd name="connsiteY0" fmla="*/ 866585 h 1055342"/>
                <a:gd name="connsiteX1" fmla="*/ 1005269 w 1045824"/>
                <a:gd name="connsiteY1" fmla="*/ 0 h 1055342"/>
                <a:gd name="connsiteX2" fmla="*/ 0 w 1045824"/>
                <a:gd name="connsiteY2" fmla="*/ 1020604 h 1055342"/>
                <a:gd name="connsiteX3" fmla="*/ 868775 w 1045824"/>
                <a:gd name="connsiteY3" fmla="*/ 866585 h 1055342"/>
              </a:gdLst>
              <a:ahLst/>
              <a:cxnLst>
                <a:cxn ang="0">
                  <a:pos x="connsiteX0" y="connsiteY0"/>
                </a:cxn>
                <a:cxn ang="0">
                  <a:pos x="connsiteX1" y="connsiteY1"/>
                </a:cxn>
                <a:cxn ang="0">
                  <a:pos x="connsiteX2" y="connsiteY2"/>
                </a:cxn>
                <a:cxn ang="0">
                  <a:pos x="connsiteX3" y="connsiteY3"/>
                </a:cxn>
              </a:cxnLst>
              <a:rect l="l" t="t" r="r" b="b"/>
              <a:pathLst>
                <a:path w="1045824" h="1055342">
                  <a:moveTo>
                    <a:pt x="868775" y="866585"/>
                  </a:moveTo>
                  <a:cubicBezTo>
                    <a:pt x="1142714" y="586645"/>
                    <a:pt x="1021271" y="63341"/>
                    <a:pt x="1005269" y="0"/>
                  </a:cubicBezTo>
                  <a:cubicBezTo>
                    <a:pt x="516731" y="122587"/>
                    <a:pt x="119444" y="509111"/>
                    <a:pt x="0" y="1020604"/>
                  </a:cubicBezTo>
                  <a:cubicBezTo>
                    <a:pt x="24765" y="1026605"/>
                    <a:pt x="583406" y="1158145"/>
                    <a:pt x="868775" y="866585"/>
                  </a:cubicBezTo>
                  <a:close/>
                </a:path>
              </a:pathLst>
            </a:custGeom>
            <a:grpFill/>
            <a:ln w="9525" cap="flat">
              <a:noFill/>
              <a:prstDash val="solid"/>
              <a:miter/>
            </a:ln>
          </p:spPr>
          <p:txBody>
            <a:bodyPr rtlCol="0" anchor="ctr"/>
            <a:lstStyle/>
            <a:p>
              <a:endParaRPr lang="fr-FR"/>
            </a:p>
          </p:txBody>
        </p:sp>
        <p:sp>
          <p:nvSpPr>
            <p:cNvPr id="21" name="Forme libre : forme 12">
              <a:extLst>
                <a:ext uri="{FF2B5EF4-FFF2-40B4-BE49-F238E27FC236}">
                  <a16:creationId xmlns:a16="http://schemas.microsoft.com/office/drawing/2014/main" id="{C59B5725-5F9C-4F97-A8F1-326A63828549}"/>
                </a:ext>
              </a:extLst>
            </p:cNvPr>
            <p:cNvSpPr/>
            <p:nvPr/>
          </p:nvSpPr>
          <p:spPr>
            <a:xfrm>
              <a:off x="2839938" y="68103"/>
              <a:ext cx="853528" cy="1267015"/>
            </a:xfrm>
            <a:custGeom>
              <a:avLst/>
              <a:gdLst>
                <a:gd name="connsiteX0" fmla="*/ 790800 w 853528"/>
                <a:gd name="connsiteY0" fmla="*/ 397955 h 1267015"/>
                <a:gd name="connsiteX1" fmla="*/ 2702 w 853528"/>
                <a:gd name="connsiteY1" fmla="*/ 0 h 1267015"/>
                <a:gd name="connsiteX2" fmla="*/ 671738 w 853528"/>
                <a:gd name="connsiteY2" fmla="*/ 1267016 h 1267015"/>
                <a:gd name="connsiteX3" fmla="*/ 790800 w 853528"/>
                <a:gd name="connsiteY3" fmla="*/ 397955 h 1267015"/>
              </a:gdLst>
              <a:ahLst/>
              <a:cxnLst>
                <a:cxn ang="0">
                  <a:pos x="connsiteX0" y="connsiteY0"/>
                </a:cxn>
                <a:cxn ang="0">
                  <a:pos x="connsiteX1" y="connsiteY1"/>
                </a:cxn>
                <a:cxn ang="0">
                  <a:pos x="connsiteX2" y="connsiteY2"/>
                </a:cxn>
                <a:cxn ang="0">
                  <a:pos x="connsiteX3" y="connsiteY3"/>
                </a:cxn>
              </a:cxnLst>
              <a:rect l="l" t="t" r="r" b="b"/>
              <a:pathLst>
                <a:path w="853528" h="1267015">
                  <a:moveTo>
                    <a:pt x="790800" y="397955"/>
                  </a:moveTo>
                  <a:cubicBezTo>
                    <a:pt x="599824" y="33052"/>
                    <a:pt x="17846" y="762"/>
                    <a:pt x="2702" y="0"/>
                  </a:cubicBezTo>
                  <a:cubicBezTo>
                    <a:pt x="-30160" y="524637"/>
                    <a:pt x="239303" y="1009078"/>
                    <a:pt x="671738" y="1267016"/>
                  </a:cubicBezTo>
                  <a:cubicBezTo>
                    <a:pt x="705456" y="1210723"/>
                    <a:pt x="972347" y="744855"/>
                    <a:pt x="790800" y="397955"/>
                  </a:cubicBezTo>
                  <a:close/>
                </a:path>
              </a:pathLst>
            </a:custGeom>
            <a:grpFill/>
            <a:ln w="9525" cap="flat">
              <a:noFill/>
              <a:prstDash val="solid"/>
              <a:miter/>
            </a:ln>
          </p:spPr>
          <p:txBody>
            <a:bodyPr rtlCol="0" anchor="ctr"/>
            <a:lstStyle/>
            <a:p>
              <a:endParaRPr lang="fr-FR"/>
            </a:p>
          </p:txBody>
        </p:sp>
        <p:sp>
          <p:nvSpPr>
            <p:cNvPr id="22" name="Forme libre : forme 14">
              <a:extLst>
                <a:ext uri="{FF2B5EF4-FFF2-40B4-BE49-F238E27FC236}">
                  <a16:creationId xmlns:a16="http://schemas.microsoft.com/office/drawing/2014/main" id="{FABA9E58-4B46-4EE4-97E2-26E72D584C53}"/>
                </a:ext>
              </a:extLst>
            </p:cNvPr>
            <p:cNvSpPr/>
            <p:nvPr/>
          </p:nvSpPr>
          <p:spPr>
            <a:xfrm>
              <a:off x="2024062" y="2446286"/>
              <a:ext cx="1410176" cy="729358"/>
            </a:xfrm>
            <a:custGeom>
              <a:avLst/>
              <a:gdLst>
                <a:gd name="connsiteX0" fmla="*/ 622173 w 1410176"/>
                <a:gd name="connsiteY0" fmla="*/ 7258 h 729358"/>
                <a:gd name="connsiteX1" fmla="*/ 0 w 1410176"/>
                <a:gd name="connsiteY1" fmla="*/ 634194 h 729358"/>
                <a:gd name="connsiteX2" fmla="*/ 10001 w 1410176"/>
                <a:gd name="connsiteY2" fmla="*/ 638480 h 729358"/>
                <a:gd name="connsiteX3" fmla="*/ 304705 w 1410176"/>
                <a:gd name="connsiteY3" fmla="*/ 714966 h 729358"/>
                <a:gd name="connsiteX4" fmla="*/ 1410176 w 1410176"/>
                <a:gd name="connsiteY4" fmla="*/ 387020 h 729358"/>
                <a:gd name="connsiteX5" fmla="*/ 622173 w 1410176"/>
                <a:gd name="connsiteY5" fmla="*/ 7258 h 729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0176" h="729358">
                  <a:moveTo>
                    <a:pt x="622173" y="7258"/>
                  </a:moveTo>
                  <a:cubicBezTo>
                    <a:pt x="210693" y="76981"/>
                    <a:pt x="0" y="634194"/>
                    <a:pt x="0" y="634194"/>
                  </a:cubicBezTo>
                  <a:cubicBezTo>
                    <a:pt x="3334" y="635718"/>
                    <a:pt x="6668" y="637051"/>
                    <a:pt x="10001" y="638480"/>
                  </a:cubicBezTo>
                  <a:cubicBezTo>
                    <a:pt x="103251" y="674103"/>
                    <a:pt x="201740" y="700106"/>
                    <a:pt x="304705" y="714966"/>
                  </a:cubicBezTo>
                  <a:cubicBezTo>
                    <a:pt x="719614" y="775068"/>
                    <a:pt x="1117949" y="643338"/>
                    <a:pt x="1410176" y="387020"/>
                  </a:cubicBezTo>
                  <a:cubicBezTo>
                    <a:pt x="1359884" y="329870"/>
                    <a:pt x="1003459" y="-57417"/>
                    <a:pt x="622173" y="7258"/>
                  </a:cubicBezTo>
                  <a:close/>
                </a:path>
              </a:pathLst>
            </a:custGeom>
            <a:grpFill/>
            <a:ln w="9525" cap="flat">
              <a:noFill/>
              <a:prstDash val="solid"/>
              <a:miter/>
            </a:ln>
          </p:spPr>
          <p:txBody>
            <a:bodyPr rtlCol="0" anchor="ctr"/>
            <a:lstStyle/>
            <a:p>
              <a:endParaRPr lang="fr-FR"/>
            </a:p>
          </p:txBody>
        </p:sp>
      </p:grpSp>
      <p:sp>
        <p:nvSpPr>
          <p:cNvPr id="23"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a:xfrm>
            <a:off x="6339566" y="4659675"/>
            <a:ext cx="1350000" cy="211929"/>
          </a:xfrm>
        </p:spPr>
        <p:txBody>
          <a:bodyPr/>
          <a:lstStyle>
            <a:lvl1pPr>
              <a:defRPr>
                <a:solidFill>
                  <a:srgbClr val="262626"/>
                </a:solidFill>
              </a:defRPr>
            </a:lvl1pPr>
          </a:lstStyle>
          <a:p>
            <a:fld id="{733122C9-A0B9-462F-8757-0847AD287B63}" type="slidenum">
              <a:rPr lang="fr-FR" smtClean="0"/>
              <a:pPr/>
              <a:t>‹N°›</a:t>
            </a:fld>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rgbClr val="262626"/>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rgbClr val="262626"/>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3073805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 de titre 3">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5251603" y="1275110"/>
            <a:ext cx="2546197" cy="2504410"/>
            <a:chOff x="2019290" y="61899"/>
            <a:chExt cx="5102087" cy="5018353"/>
          </a:xfrm>
          <a:solidFill>
            <a:srgbClr val="FFE800"/>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a:p>
          </p:txBody>
        </p:sp>
      </p:grpSp>
      <p:sp>
        <p:nvSpPr>
          <p:cNvPr id="23"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3210741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 de titre 4">
    <p:bg>
      <p:bgPr>
        <a:solidFill>
          <a:schemeClr val="bg2"/>
        </a:solidFill>
        <a:effectLst/>
      </p:bgPr>
    </p:bg>
    <p:spTree>
      <p:nvGrpSpPr>
        <p:cNvPr id="1" name=""/>
        <p:cNvGrpSpPr/>
        <p:nvPr/>
      </p:nvGrpSpPr>
      <p:grpSpPr>
        <a:xfrm>
          <a:off x="0" y="0"/>
          <a:ext cx="0" cy="0"/>
          <a:chOff x="0" y="0"/>
          <a:chExt cx="0" cy="0"/>
        </a:xfrm>
      </p:grpSpPr>
      <p:grpSp>
        <p:nvGrpSpPr>
          <p:cNvPr id="20" name="Groupe 19"/>
          <p:cNvGrpSpPr/>
          <p:nvPr userDrawn="1"/>
        </p:nvGrpSpPr>
        <p:grpSpPr>
          <a:xfrm>
            <a:off x="2555776" y="1995686"/>
            <a:ext cx="5636124" cy="1221867"/>
            <a:chOff x="4528607" y="2228471"/>
            <a:chExt cx="2978905" cy="645803"/>
          </a:xfrm>
          <a:solidFill>
            <a:srgbClr val="00AC8C"/>
          </a:solidFill>
        </p:grpSpPr>
        <p:sp>
          <p:nvSpPr>
            <p:cNvPr id="2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sp>
          <p:nvSpPr>
            <p:cNvPr id="2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3"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18442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 de titre 5">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5080918" y="1787749"/>
            <a:ext cx="2691987" cy="1326926"/>
            <a:chOff x="1876472" y="1243012"/>
            <a:chExt cx="5386683" cy="2655188"/>
          </a:xfrm>
          <a:solidFill>
            <a:srgbClr val="FF994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a:p>
          </p:txBody>
        </p:sp>
      </p:grpSp>
      <p:sp>
        <p:nvSpPr>
          <p:cNvPr id="22"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3338951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 de titre 6">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5251603" y="1275110"/>
            <a:ext cx="2546197" cy="2504410"/>
            <a:chOff x="2019290" y="61899"/>
            <a:chExt cx="5102087" cy="5018353"/>
          </a:xfrm>
          <a:solidFill>
            <a:srgbClr val="00AC8C"/>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a:p>
          </p:txBody>
        </p:sp>
      </p:grpSp>
      <p:sp>
        <p:nvSpPr>
          <p:cNvPr id="23"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671399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 de titre 7">
    <p:bg>
      <p:bgPr>
        <a:solidFill>
          <a:schemeClr val="bg2"/>
        </a:solidFill>
        <a:effectLst/>
      </p:bgPr>
    </p:bg>
    <p:spTree>
      <p:nvGrpSpPr>
        <p:cNvPr id="1" name=""/>
        <p:cNvGrpSpPr/>
        <p:nvPr/>
      </p:nvGrpSpPr>
      <p:grpSpPr>
        <a:xfrm>
          <a:off x="0" y="0"/>
          <a:ext cx="0" cy="0"/>
          <a:chOff x="0" y="0"/>
          <a:chExt cx="0" cy="0"/>
        </a:xfrm>
      </p:grpSpPr>
      <p:grpSp>
        <p:nvGrpSpPr>
          <p:cNvPr id="40" name="Groupe 39"/>
          <p:cNvGrpSpPr/>
          <p:nvPr userDrawn="1"/>
        </p:nvGrpSpPr>
        <p:grpSpPr>
          <a:xfrm>
            <a:off x="2555776" y="1995686"/>
            <a:ext cx="5636124" cy="1221867"/>
            <a:chOff x="4528607" y="2228471"/>
            <a:chExt cx="2978905" cy="645803"/>
          </a:xfrm>
          <a:solidFill>
            <a:srgbClr val="FF9940"/>
          </a:solidFill>
        </p:grpSpPr>
        <p:sp>
          <p:nvSpPr>
            <p:cNvPr id="4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sp>
          <p:nvSpPr>
            <p:cNvPr id="4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3"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3502721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 de titre 8">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5080918" y="1787749"/>
            <a:ext cx="2691987" cy="1326926"/>
            <a:chOff x="1876472" y="1243012"/>
            <a:chExt cx="5386683" cy="2655188"/>
          </a:xfrm>
          <a:solidFill>
            <a:srgbClr val="FFE80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a:p>
          </p:txBody>
        </p:sp>
      </p:grpSp>
      <p:sp>
        <p:nvSpPr>
          <p:cNvPr id="22"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1479004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 de titre 10">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8505825" y="180105"/>
            <a:ext cx="271463" cy="376632"/>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5251603" y="1275110"/>
            <a:ext cx="2546197" cy="2504410"/>
            <a:chOff x="2019290" y="61899"/>
            <a:chExt cx="5102087" cy="5018353"/>
          </a:xfrm>
          <a:solidFill>
            <a:srgbClr val="5770BE"/>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a:p>
          </p:txBody>
        </p:sp>
      </p:grpSp>
      <p:sp>
        <p:nvSpPr>
          <p:cNvPr id="23"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396000" indent="-396000">
              <a:buFont typeface="+mj-lt"/>
              <a:buNone/>
              <a:defRPr sz="3250">
                <a:solidFill>
                  <a:schemeClr val="bg1"/>
                </a:solidFill>
              </a:defRPr>
            </a:lvl1pPr>
          </a:lstStyle>
          <a:p>
            <a:r>
              <a:rPr lang="fr-FR" dirty="0" smtClean="0"/>
              <a:t>1. Titre de partie</a:t>
            </a:r>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7699725" y="4659675"/>
            <a:ext cx="1170000" cy="211929"/>
          </a:xfrm>
        </p:spPr>
        <p:txBody>
          <a:bodyPr/>
          <a:lstStyle>
            <a:lvl1pPr>
              <a:defRPr>
                <a:solidFill>
                  <a:schemeClr val="bg1"/>
                </a:solidFill>
              </a:defRPr>
            </a:lvl1pPr>
          </a:lstStyle>
          <a:p>
            <a:pPr algn="r"/>
            <a:r>
              <a:rPr lang="fr-FR" cap="all" dirty="0" smtClean="0"/>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275431" y="4659982"/>
            <a:ext cx="3086100" cy="211622"/>
          </a:xfrm>
        </p:spPr>
        <p:txBody>
          <a:bodyPr/>
          <a:lstStyle>
            <a:lvl1pPr>
              <a:defRPr>
                <a:solidFill>
                  <a:schemeClr val="bg1"/>
                </a:solidFill>
              </a:defRPr>
            </a:lvl1pPr>
          </a:lstStyle>
          <a:p>
            <a:r>
              <a:rPr lang="fr-FR" dirty="0" smtClean="0"/>
              <a:t>Titre de la présentation sur une seule ligne</a:t>
            </a:r>
            <a:endParaRPr lang="fr-FR" dirty="0"/>
          </a:p>
        </p:txBody>
      </p:sp>
    </p:spTree>
    <p:extLst>
      <p:ext uri="{BB962C8B-B14F-4D97-AF65-F5344CB8AC3E}">
        <p14:creationId xmlns:p14="http://schemas.microsoft.com/office/powerpoint/2010/main" val="2544050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iapo avec titre + tex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dirty="0" smtClean="0"/>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fr-FR" dirty="0" smtClean="0"/>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sp>
        <p:nvSpPr>
          <p:cNvPr id="28" name="Espace réservé du texte 7"/>
          <p:cNvSpPr>
            <a:spLocks noGrp="1"/>
          </p:cNvSpPr>
          <p:nvPr>
            <p:ph type="body" sz="quarter" idx="13" hasCustomPrompt="1"/>
          </p:nvPr>
        </p:nvSpPr>
        <p:spPr bwMode="gray">
          <a:xfrm>
            <a:off x="275431" y="987574"/>
            <a:ext cx="8594295" cy="3435194"/>
          </a:xfrm>
        </p:spPr>
        <p:txBody>
          <a:bodyPr/>
          <a:lstStyle>
            <a:lvl1pPr marL="0" indent="0">
              <a:spcBef>
                <a:spcPts val="300"/>
              </a:spcBef>
              <a:spcAft>
                <a:spcPts val="600"/>
              </a:spcAft>
              <a:buFontTx/>
              <a:buNone/>
              <a:defRPr b="1">
                <a:solidFill>
                  <a:srgbClr val="262626"/>
                </a:solidFill>
                <a:latin typeface="+mn-lt"/>
              </a:defRPr>
            </a:lvl1pPr>
            <a:lvl2pPr marL="134997" indent="0">
              <a:spcBef>
                <a:spcPts val="450"/>
              </a:spcBef>
              <a:spcAft>
                <a:spcPts val="600"/>
              </a:spcAft>
              <a:buFontTx/>
              <a:buNone/>
              <a:defRPr>
                <a:solidFill>
                  <a:srgbClr val="262626"/>
                </a:solidFill>
              </a:defRPr>
            </a:lvl2pPr>
          </a:lstStyle>
          <a:p>
            <a:pPr lvl="0"/>
            <a:r>
              <a:rPr lang="fr-FR" dirty="0" smtClean="0"/>
              <a:t>Texte de niveau 1</a:t>
            </a:r>
          </a:p>
          <a:p>
            <a:pPr lvl="1"/>
            <a:r>
              <a:rPr lang="fr-FR" dirty="0" smtClean="0"/>
              <a:t>Texte de niveau 2</a:t>
            </a:r>
          </a:p>
          <a:p>
            <a:pPr lvl="2"/>
            <a:r>
              <a:rPr lang="fr-FR" dirty="0" smtClean="0"/>
              <a:t>Texte de niveau 3</a:t>
            </a:r>
          </a:p>
        </p:txBody>
      </p:sp>
      <p:grpSp>
        <p:nvGrpSpPr>
          <p:cNvPr id="29" name="Groupe 28">
            <a:extLst>
              <a:ext uri="{FF2B5EF4-FFF2-40B4-BE49-F238E27FC236}">
                <a16:creationId xmlns:a16="http://schemas.microsoft.com/office/drawing/2014/main" id="{D839141D-2A12-43BD-965E-1AFB5ACCCEC3}"/>
              </a:ext>
            </a:extLst>
          </p:cNvPr>
          <p:cNvGrpSpPr/>
          <p:nvPr userDrawn="1"/>
        </p:nvGrpSpPr>
        <p:grpSpPr>
          <a:xfrm>
            <a:off x="8503443" y="178606"/>
            <a:ext cx="273845" cy="380988"/>
            <a:chOff x="2724335" y="0"/>
            <a:chExt cx="3694565" cy="5140087"/>
          </a:xfrm>
        </p:grpSpPr>
        <p:grpSp>
          <p:nvGrpSpPr>
            <p:cNvPr id="30" name="Groupe 29">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7"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38"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39"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31" name="Groupe 30">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2"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33"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34"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35"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36"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
        <p:nvSpPr>
          <p:cNvPr id="24" name="Titre 1"/>
          <p:cNvSpPr>
            <a:spLocks noGrp="1"/>
          </p:cNvSpPr>
          <p:nvPr>
            <p:ph type="title" hasCustomPrompt="1"/>
          </p:nvPr>
        </p:nvSpPr>
        <p:spPr bwMode="gray">
          <a:xfrm>
            <a:off x="275431" y="278549"/>
            <a:ext cx="8157703" cy="636937"/>
          </a:xfrm>
        </p:spPr>
        <p:txBody>
          <a:bodyPr/>
          <a:lstStyle>
            <a:lvl1pPr>
              <a:defRPr sz="1910">
                <a:solidFill>
                  <a:srgbClr val="262626"/>
                </a:solidFill>
              </a:defRPr>
            </a:lvl1pPr>
          </a:lstStyle>
          <a:p>
            <a:r>
              <a:rPr lang="fr-FR" dirty="0" smtClean="0"/>
              <a:t>Titre de la diapositive</a:t>
            </a:r>
            <a:endParaRPr lang="fr-FR" dirty="0"/>
          </a:p>
        </p:txBody>
      </p:sp>
    </p:spTree>
    <p:extLst>
      <p:ext uri="{BB962C8B-B14F-4D97-AF65-F5344CB8AC3E}">
        <p14:creationId xmlns:p14="http://schemas.microsoft.com/office/powerpoint/2010/main" val="3663098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apo texte + photo">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4727576" y="987575"/>
            <a:ext cx="4048125" cy="2927202"/>
          </a:xfrm>
          <a:solidFill>
            <a:schemeClr val="bg1">
              <a:lumMod val="85000"/>
            </a:schemeClr>
          </a:solidFill>
          <a:ln>
            <a:noFill/>
          </a:ln>
        </p:spPr>
        <p:txBody>
          <a:bodyPr bIns="504000" anchor="ctr"/>
          <a:lstStyle>
            <a:lvl1pPr algn="ctr">
              <a:defRPr sz="675">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4735874" y="3979864"/>
            <a:ext cx="4048127" cy="458786"/>
          </a:xfrm>
        </p:spPr>
        <p:txBody>
          <a:bodyPr/>
          <a:lstStyle>
            <a:lvl1pPr>
              <a:defRPr sz="713">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7699725" y="4659681"/>
            <a:ext cx="1170000" cy="211929"/>
          </a:xfrm>
        </p:spPr>
        <p:txBody>
          <a:bodyPr/>
          <a:lstStyle/>
          <a:p>
            <a:pPr algn="r"/>
            <a:r>
              <a:rPr lang="fr-FR" cap="all" dirty="0" smtClean="0"/>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275431" y="4659982"/>
            <a:ext cx="3086100" cy="211622"/>
          </a:xfrm>
        </p:spPr>
        <p:txBody>
          <a:bodyPr/>
          <a:lstStyle/>
          <a:p>
            <a:r>
              <a:rPr lang="fr-FR" dirty="0" smtClean="0"/>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6339567" y="4659679"/>
            <a:ext cx="1350000" cy="207749"/>
          </a:xfrm>
        </p:spPr>
        <p:txBody>
          <a:bodyPr/>
          <a:lstStyle/>
          <a:p>
            <a:fld id="{733122C9-A0B9-462F-8757-0847AD287B63}" type="slidenum">
              <a:rPr lang="fr-FR" smtClean="0"/>
              <a:pPr/>
              <a:t>‹N°›</a:t>
            </a:fld>
            <a:endParaRPr lang="fr-FR" dirty="0"/>
          </a:p>
        </p:txBody>
      </p:sp>
      <p:sp>
        <p:nvSpPr>
          <p:cNvPr id="17" name="Espace réservé du texte 7"/>
          <p:cNvSpPr>
            <a:spLocks noGrp="1"/>
          </p:cNvSpPr>
          <p:nvPr>
            <p:ph type="body" sz="quarter" idx="13" hasCustomPrompt="1"/>
          </p:nvPr>
        </p:nvSpPr>
        <p:spPr bwMode="gray">
          <a:xfrm>
            <a:off x="275431" y="987574"/>
            <a:ext cx="4104548" cy="3435194"/>
          </a:xfrm>
        </p:spPr>
        <p:txBody>
          <a:bodyPr/>
          <a:lstStyle>
            <a:lvl1pPr marL="0" indent="0">
              <a:spcBef>
                <a:spcPts val="300"/>
              </a:spcBef>
              <a:spcAft>
                <a:spcPts val="600"/>
              </a:spcAft>
              <a:buFontTx/>
              <a:buNone/>
              <a:defRPr b="1">
                <a:solidFill>
                  <a:srgbClr val="262626"/>
                </a:solidFill>
                <a:latin typeface="+mn-lt"/>
              </a:defRPr>
            </a:lvl1pPr>
            <a:lvl2pPr marL="134997" indent="0">
              <a:spcBef>
                <a:spcPts val="450"/>
              </a:spcBef>
              <a:spcAft>
                <a:spcPts val="600"/>
              </a:spcAft>
              <a:buFontTx/>
              <a:buNone/>
              <a:defRPr>
                <a:solidFill>
                  <a:srgbClr val="262626"/>
                </a:solidFill>
              </a:defRPr>
            </a:lvl2pPr>
          </a:lstStyle>
          <a:p>
            <a:pPr lvl="0"/>
            <a:r>
              <a:rPr lang="fr-FR" dirty="0" smtClean="0"/>
              <a:t>Texte de niveau 1</a:t>
            </a:r>
          </a:p>
          <a:p>
            <a:pPr lvl="1"/>
            <a:r>
              <a:rPr lang="fr-FR" dirty="0" smtClean="0"/>
              <a:t>Texte de niveau 2</a:t>
            </a:r>
          </a:p>
          <a:p>
            <a:pPr lvl="2"/>
            <a:r>
              <a:rPr lang="fr-FR" dirty="0" smtClean="0"/>
              <a:t>Texte de niveau 3</a:t>
            </a:r>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8503443" y="178606"/>
            <a:ext cx="273845" cy="380988"/>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9"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40"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1"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42"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3"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33" name="Groupe 32">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4"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35"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36"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37"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38"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
        <p:nvSpPr>
          <p:cNvPr id="22" name="Titre 1"/>
          <p:cNvSpPr>
            <a:spLocks noGrp="1"/>
          </p:cNvSpPr>
          <p:nvPr>
            <p:ph type="title" hasCustomPrompt="1"/>
          </p:nvPr>
        </p:nvSpPr>
        <p:spPr bwMode="gray">
          <a:xfrm>
            <a:off x="275431" y="278549"/>
            <a:ext cx="8157703" cy="636937"/>
          </a:xfrm>
        </p:spPr>
        <p:txBody>
          <a:bodyPr/>
          <a:lstStyle>
            <a:lvl1pPr>
              <a:defRPr sz="1910">
                <a:solidFill>
                  <a:srgbClr val="262626"/>
                </a:solidFill>
              </a:defRPr>
            </a:lvl1pPr>
          </a:lstStyle>
          <a:p>
            <a:r>
              <a:rPr lang="fr-FR" dirty="0" smtClean="0"/>
              <a:t>Titre de la diapositive</a:t>
            </a:r>
            <a:endParaRPr lang="fr-FR" dirty="0"/>
          </a:p>
        </p:txBody>
      </p:sp>
    </p:spTree>
    <p:extLst>
      <p:ext uri="{BB962C8B-B14F-4D97-AF65-F5344CB8AC3E}">
        <p14:creationId xmlns:p14="http://schemas.microsoft.com/office/powerpoint/2010/main" val="32849438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 2 photos">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4727576" y="987575"/>
            <a:ext cx="4048125" cy="2927202"/>
          </a:xfrm>
          <a:solidFill>
            <a:schemeClr val="bg1">
              <a:lumMod val="85000"/>
            </a:schemeClr>
          </a:solidFill>
          <a:ln>
            <a:noFill/>
          </a:ln>
        </p:spPr>
        <p:txBody>
          <a:bodyPr bIns="504000" anchor="ctr"/>
          <a:lstStyle>
            <a:lvl1pPr algn="ctr">
              <a:defRPr sz="675">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4735874" y="3979864"/>
            <a:ext cx="4048127" cy="458786"/>
          </a:xfrm>
        </p:spPr>
        <p:txBody>
          <a:bodyPr/>
          <a:lstStyle>
            <a:lvl1pPr>
              <a:defRPr sz="713">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7699725" y="4659681"/>
            <a:ext cx="1170000" cy="211929"/>
          </a:xfrm>
        </p:spPr>
        <p:txBody>
          <a:bodyPr/>
          <a:lstStyle/>
          <a:p>
            <a:pPr algn="r"/>
            <a:r>
              <a:rPr lang="fr-FR" cap="all" dirty="0" smtClean="0"/>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275431" y="4659982"/>
            <a:ext cx="3086100" cy="211622"/>
          </a:xfrm>
        </p:spPr>
        <p:txBody>
          <a:bodyPr/>
          <a:lstStyle/>
          <a:p>
            <a:r>
              <a:rPr lang="fr-FR" dirty="0" smtClean="0"/>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6339567" y="4659679"/>
            <a:ext cx="1350000" cy="207749"/>
          </a:xfrm>
        </p:spPr>
        <p:txBody>
          <a:bodyPr/>
          <a:lstStyle/>
          <a:p>
            <a:fld id="{733122C9-A0B9-462F-8757-0847AD287B63}" type="slidenum">
              <a:rPr lang="fr-FR" smtClean="0"/>
              <a:pPr/>
              <a:t>‹N°›</a:t>
            </a:fld>
            <a:endParaRPr lang="fr-FR" dirty="0"/>
          </a:p>
        </p:txBody>
      </p:sp>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275431" y="987574"/>
            <a:ext cx="4048125" cy="2927202"/>
          </a:xfrm>
          <a:solidFill>
            <a:schemeClr val="bg1">
              <a:lumMod val="85000"/>
            </a:schemeClr>
          </a:solidFill>
          <a:ln>
            <a:noFill/>
          </a:ln>
        </p:spPr>
        <p:txBody>
          <a:bodyPr bIns="504000" anchor="ctr"/>
          <a:lstStyle>
            <a:lvl1pPr algn="ctr">
              <a:defRPr sz="675">
                <a:solidFill>
                  <a:schemeClr val="bg1"/>
                </a:solidFill>
              </a:defRPr>
            </a:lvl1pPr>
          </a:lstStyle>
          <a:p>
            <a:r>
              <a:rPr lang="fr-FR" dirty="0"/>
              <a:t>Sélectionner l’icône pour insérer une image</a:t>
            </a:r>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283729" y="3979863"/>
            <a:ext cx="4048127" cy="458786"/>
          </a:xfrm>
        </p:spPr>
        <p:txBody>
          <a:bodyPr/>
          <a:lstStyle>
            <a:lvl1pPr>
              <a:defRPr sz="713">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8503443" y="178606"/>
            <a:ext cx="273845" cy="380988"/>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
        <p:nvSpPr>
          <p:cNvPr id="23" name="Titre 1"/>
          <p:cNvSpPr>
            <a:spLocks noGrp="1"/>
          </p:cNvSpPr>
          <p:nvPr>
            <p:ph type="title" hasCustomPrompt="1"/>
          </p:nvPr>
        </p:nvSpPr>
        <p:spPr bwMode="gray">
          <a:xfrm>
            <a:off x="275431" y="278549"/>
            <a:ext cx="8157703" cy="636937"/>
          </a:xfrm>
        </p:spPr>
        <p:txBody>
          <a:bodyPr/>
          <a:lstStyle>
            <a:lvl1pPr>
              <a:defRPr sz="1910">
                <a:solidFill>
                  <a:srgbClr val="262626"/>
                </a:solidFill>
              </a:defRPr>
            </a:lvl1pPr>
          </a:lstStyle>
          <a:p>
            <a:r>
              <a:rPr lang="fr-FR" dirty="0" smtClean="0"/>
              <a:t>Titre de la diapositive</a:t>
            </a:r>
            <a:endParaRPr lang="fr-FR" dirty="0"/>
          </a:p>
        </p:txBody>
      </p:sp>
    </p:spTree>
    <p:extLst>
      <p:ext uri="{BB962C8B-B14F-4D97-AF65-F5344CB8AC3E}">
        <p14:creationId xmlns:p14="http://schemas.microsoft.com/office/powerpoint/2010/main" val="163867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 1 photo">
    <p:spTree>
      <p:nvGrpSpPr>
        <p:cNvPr id="1" name=""/>
        <p:cNvGrpSpPr/>
        <p:nvPr/>
      </p:nvGrpSpPr>
      <p:grpSpPr>
        <a:xfrm>
          <a:off x="0" y="0"/>
          <a:ext cx="0" cy="0"/>
          <a:chOff x="0" y="0"/>
          <a:chExt cx="0" cy="0"/>
        </a:xfrm>
      </p:grpSpPr>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326331" y="987574"/>
            <a:ext cx="8474335" cy="2927202"/>
          </a:xfrm>
          <a:solidFill>
            <a:schemeClr val="bg1">
              <a:lumMod val="85000"/>
            </a:schemeClr>
          </a:solidFill>
          <a:ln>
            <a:noFill/>
          </a:ln>
        </p:spPr>
        <p:txBody>
          <a:bodyPr bIns="504000" anchor="ctr"/>
          <a:lstStyle>
            <a:lvl1pPr algn="ctr">
              <a:defRPr sz="675">
                <a:solidFill>
                  <a:schemeClr val="bg1"/>
                </a:solidFill>
              </a:defRPr>
            </a:lvl1pPr>
          </a:lstStyle>
          <a:p>
            <a:r>
              <a:rPr lang="fr-FR" dirty="0"/>
              <a:t>Sélectionner l’icône pour insérer une image</a:t>
            </a:r>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7699725" y="4659681"/>
            <a:ext cx="1170000" cy="211929"/>
          </a:xfrm>
        </p:spPr>
        <p:txBody>
          <a:bodyPr/>
          <a:lstStyle/>
          <a:p>
            <a:pPr algn="r"/>
            <a:r>
              <a:rPr lang="fr-FR" cap="all" dirty="0" smtClean="0"/>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275431" y="4659982"/>
            <a:ext cx="3086100" cy="211622"/>
          </a:xfrm>
        </p:spPr>
        <p:txBody>
          <a:bodyPr/>
          <a:lstStyle/>
          <a:p>
            <a:r>
              <a:rPr lang="fr-FR" dirty="0" smtClean="0"/>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6339567" y="4659679"/>
            <a:ext cx="1350000" cy="207749"/>
          </a:xfrm>
        </p:spPr>
        <p:txBody>
          <a:bodyPr/>
          <a:lstStyle/>
          <a:p>
            <a:fld id="{733122C9-A0B9-462F-8757-0847AD287B63}" type="slidenum">
              <a:rPr lang="fr-FR" smtClean="0"/>
              <a:pPr/>
              <a:t>‹N°›</a:t>
            </a:fld>
            <a:endParaRPr lang="fr-FR" dirty="0"/>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334629" y="3979863"/>
            <a:ext cx="8453232" cy="458786"/>
          </a:xfrm>
        </p:spPr>
        <p:txBody>
          <a:bodyPr/>
          <a:lstStyle>
            <a:lvl1pPr>
              <a:defRPr sz="713">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8503443" y="178606"/>
            <a:ext cx="273845" cy="380988"/>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
        <p:nvSpPr>
          <p:cNvPr id="21" name="Titre 1"/>
          <p:cNvSpPr>
            <a:spLocks noGrp="1"/>
          </p:cNvSpPr>
          <p:nvPr>
            <p:ph type="title" hasCustomPrompt="1"/>
          </p:nvPr>
        </p:nvSpPr>
        <p:spPr bwMode="gray">
          <a:xfrm>
            <a:off x="326331" y="278549"/>
            <a:ext cx="8106803" cy="636937"/>
          </a:xfrm>
        </p:spPr>
        <p:txBody>
          <a:bodyPr/>
          <a:lstStyle>
            <a:lvl1pPr>
              <a:defRPr sz="1910">
                <a:solidFill>
                  <a:srgbClr val="262626"/>
                </a:solidFill>
              </a:defRPr>
            </a:lvl1pPr>
          </a:lstStyle>
          <a:p>
            <a:r>
              <a:rPr lang="fr-FR" dirty="0" smtClean="0"/>
              <a:t>Titre de la diapositive</a:t>
            </a:r>
            <a:endParaRPr lang="fr-FR" dirty="0"/>
          </a:p>
        </p:txBody>
      </p:sp>
    </p:spTree>
    <p:extLst>
      <p:ext uri="{BB962C8B-B14F-4D97-AF65-F5344CB8AC3E}">
        <p14:creationId xmlns:p14="http://schemas.microsoft.com/office/powerpoint/2010/main" val="31288517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 couran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dirty="0" smtClean="0"/>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fr-FR" dirty="0" smtClean="0"/>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grpSp>
        <p:nvGrpSpPr>
          <p:cNvPr id="27" name="Groupe 26">
            <a:extLst>
              <a:ext uri="{FF2B5EF4-FFF2-40B4-BE49-F238E27FC236}">
                <a16:creationId xmlns:a16="http://schemas.microsoft.com/office/drawing/2014/main" id="{D839141D-2A12-43BD-965E-1AFB5ACCCEC3}"/>
              </a:ext>
            </a:extLst>
          </p:cNvPr>
          <p:cNvGrpSpPr/>
          <p:nvPr userDrawn="1"/>
        </p:nvGrpSpPr>
        <p:grpSpPr>
          <a:xfrm>
            <a:off x="8503443" y="178606"/>
            <a:ext cx="273845" cy="380988"/>
            <a:chOff x="2724335" y="0"/>
            <a:chExt cx="3694565" cy="5140087"/>
          </a:xfrm>
        </p:grpSpPr>
        <p:grpSp>
          <p:nvGrpSpPr>
            <p:cNvPr id="28" name="Groupe 27">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5"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a:p>
            </p:txBody>
          </p:sp>
        </p:grpSp>
        <p:grpSp>
          <p:nvGrpSpPr>
            <p:cNvPr id="29" name="Groupe 28">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0"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37707098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C0FE9FF-114C-4332-AF52-CE76EECF49C2}" type="datetimeFigureOut">
              <a:rPr lang="fr-FR" smtClean="0"/>
              <a:t>06/05/2025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A35F984-8E14-4F6A-A76C-25C11BCAD2F8}" type="slidenum">
              <a:rPr lang="fr-FR" smtClean="0"/>
              <a:t>‹N°›</a:t>
            </a:fld>
            <a:endParaRPr lang="fr-FR"/>
          </a:p>
        </p:txBody>
      </p:sp>
    </p:spTree>
    <p:extLst>
      <p:ext uri="{BB962C8B-B14F-4D97-AF65-F5344CB8AC3E}">
        <p14:creationId xmlns:p14="http://schemas.microsoft.com/office/powerpoint/2010/main" val="3315318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dirty="0" smtClean="0"/>
              <a:t>1. Titre de partie</a:t>
            </a:r>
            <a:endParaRPr lang="fr-FR" noProof="0" dirty="0"/>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9" name="Espace réservé du numéro de diapositive 7">
            <a:extLst>
              <a:ext uri="{FF2B5EF4-FFF2-40B4-BE49-F238E27FC236}">
                <a16:creationId xmlns:a16="http://schemas.microsoft.com/office/drawing/2014/main" id="{61BB31C8-B8DD-4E0E-A877-46E83C261020}"/>
              </a:ext>
            </a:extLst>
          </p:cNvPr>
          <p:cNvSpPr>
            <a:spLocks noGrp="1"/>
          </p:cNvSpPr>
          <p:nvPr>
            <p:ph type="sldNum" sz="quarter" idx="4"/>
          </p:nvPr>
        </p:nvSpPr>
        <p:spPr bwMode="gray">
          <a:xfrm>
            <a:off x="6339566" y="4659675"/>
            <a:ext cx="1350000" cy="211929"/>
          </a:xfrm>
          <a:prstGeom prst="rect">
            <a:avLst/>
          </a:prstGeom>
        </p:spPr>
        <p:txBody>
          <a:bodyPr anchor="t">
            <a:spAutoFit/>
          </a:bodyPr>
          <a:lstStyle>
            <a:lvl1pPr algn="r">
              <a:defRPr sz="750" b="0">
                <a:solidFill>
                  <a:schemeClr val="tx1"/>
                </a:solidFill>
              </a:defRPr>
            </a:lvl1pPr>
          </a:lstStyle>
          <a:p>
            <a:fld id="{733122C9-A0B9-462F-8757-0847AD287B63}" type="slidenum">
              <a:rPr lang="fr-FR" smtClean="0"/>
              <a:pPr/>
              <a:t>‹N°›</a:t>
            </a:fld>
            <a:endParaRPr lang="fr-FR" dirty="0"/>
          </a:p>
        </p:txBody>
      </p:sp>
      <p:sp>
        <p:nvSpPr>
          <p:cNvPr id="52" name="Espace réservé du pied de page 4">
            <a:extLst>
              <a:ext uri="{FF2B5EF4-FFF2-40B4-BE49-F238E27FC236}">
                <a16:creationId xmlns:a16="http://schemas.microsoft.com/office/drawing/2014/main" id="{0D938FD0-499A-4C4D-8BFF-68F0058C35F5}"/>
              </a:ext>
            </a:extLst>
          </p:cNvPr>
          <p:cNvSpPr>
            <a:spLocks noGrp="1"/>
          </p:cNvSpPr>
          <p:nvPr>
            <p:ph type="ftr" sz="quarter" idx="3"/>
          </p:nvPr>
        </p:nvSpPr>
        <p:spPr>
          <a:xfrm>
            <a:off x="275431" y="4659982"/>
            <a:ext cx="3086100" cy="211622"/>
          </a:xfrm>
          <a:prstGeom prst="rect">
            <a:avLst/>
          </a:prstGeom>
        </p:spPr>
        <p:txBody>
          <a:bodyPr vert="horz" lIns="91440" tIns="45720" rIns="91440" bIns="45720" rtlCol="0" anchor="b"/>
          <a:lstStyle>
            <a:lvl1pPr algn="l">
              <a:defRPr sz="770" b="1" cap="none" spc="-10" baseline="0">
                <a:solidFill>
                  <a:schemeClr val="tx1"/>
                </a:solidFill>
              </a:defRPr>
            </a:lvl1pPr>
          </a:lstStyle>
          <a:p>
            <a:r>
              <a:rPr lang="fr-FR" dirty="0" smtClean="0"/>
              <a:t>Titre de la présentation sur une seule ligne</a:t>
            </a:r>
            <a:endParaRPr lang="fr-FR" dirty="0"/>
          </a:p>
        </p:txBody>
      </p:sp>
      <p:sp>
        <p:nvSpPr>
          <p:cNvPr id="22" name="Espace réservé de la date 1">
            <a:extLst>
              <a:ext uri="{FF2B5EF4-FFF2-40B4-BE49-F238E27FC236}">
                <a16:creationId xmlns:a16="http://schemas.microsoft.com/office/drawing/2014/main" id="{432F5AB4-B213-42ED-9F78-9A5A430019A5}"/>
              </a:ext>
            </a:extLst>
          </p:cNvPr>
          <p:cNvSpPr>
            <a:spLocks noGrp="1"/>
          </p:cNvSpPr>
          <p:nvPr>
            <p:ph type="dt" sz="half" idx="2"/>
          </p:nvPr>
        </p:nvSpPr>
        <p:spPr bwMode="gray">
          <a:xfrm>
            <a:off x="7699725" y="4659675"/>
            <a:ext cx="1170000" cy="211929"/>
          </a:xfrm>
          <a:prstGeom prst="rect">
            <a:avLst/>
          </a:prstGeom>
        </p:spPr>
        <p:txBody>
          <a:bodyPr anchor="t">
            <a:noAutofit/>
          </a:bodyPr>
          <a:lstStyle>
            <a:lvl1pPr>
              <a:defRPr sz="750" b="1"/>
            </a:lvl1pPr>
          </a:lstStyle>
          <a:p>
            <a:pPr algn="r"/>
            <a:r>
              <a:rPr lang="fr-FR" cap="all" dirty="0" smtClean="0"/>
              <a:t>XX/XX/2021</a:t>
            </a:r>
            <a:endParaRPr lang="fr-FR" cap="all" dirty="0"/>
          </a:p>
        </p:txBody>
      </p:sp>
    </p:spTree>
  </p:cSld>
  <p:clrMap bg1="lt1" tx1="dk1" bg2="lt2" tx2="dk2" accent1="accent1" accent2="accent2" accent3="accent3" accent4="accent4" accent5="accent5" accent6="accent6" hlink="hlink" folHlink="folHlink"/>
  <p:sldLayoutIdLst>
    <p:sldLayoutId id="2147483813" r:id="rId1"/>
    <p:sldLayoutId id="2147483837" r:id="rId2"/>
    <p:sldLayoutId id="2147483815" r:id="rId3"/>
    <p:sldLayoutId id="2147483826" r:id="rId4"/>
    <p:sldLayoutId id="2147483825" r:id="rId5"/>
    <p:sldLayoutId id="2147483827" r:id="rId6"/>
    <p:sldLayoutId id="2147483828" r:id="rId7"/>
    <p:sldLayoutId id="2147483834" r:id="rId8"/>
    <p:sldLayoutId id="2147483835" r:id="rId9"/>
    <p:sldLayoutId id="2147483830" r:id="rId10"/>
    <p:sldLayoutId id="2147483831" r:id="rId11"/>
    <p:sldLayoutId id="2147483836" r:id="rId12"/>
    <p:sldLayoutId id="2147483838" r:id="rId13"/>
    <p:sldLayoutId id="2147483839" r:id="rId14"/>
    <p:sldLayoutId id="2147483840" r:id="rId15"/>
    <p:sldLayoutId id="2147483841" r:id="rId16"/>
    <p:sldLayoutId id="2147483829" r:id="rId17"/>
    <p:sldLayoutId id="2147483842" r:id="rId18"/>
  </p:sldLayoutIdLst>
  <p:hf hdr="0"/>
  <p:txStyles>
    <p:titleStyle>
      <a:lvl1pPr algn="l" defTabSz="914400" rtl="0" eaLnBrk="1" latinLnBrk="0" hangingPunct="1">
        <a:lnSpc>
          <a:spcPct val="90000"/>
        </a:lnSpc>
        <a:spcBef>
          <a:spcPct val="0"/>
        </a:spcBef>
        <a:buNone/>
        <a:defRPr sz="2550" b="1" kern="12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jp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26.png"/><Relationship Id="rId18" Type="http://schemas.openxmlformats.org/officeDocument/2006/relationships/image" Target="../media/image31.jpeg"/><Relationship Id="rId3" Type="http://schemas.openxmlformats.org/officeDocument/2006/relationships/image" Target="../media/image17.png"/><Relationship Id="rId21" Type="http://schemas.openxmlformats.org/officeDocument/2006/relationships/image" Target="../media/image34.png"/><Relationship Id="rId7" Type="http://schemas.openxmlformats.org/officeDocument/2006/relationships/image" Target="../media/image21.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6.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8.xml"/><Relationship Id="rId6" Type="http://schemas.openxmlformats.org/officeDocument/2006/relationships/image" Target="../media/image20.png"/><Relationship Id="rId11" Type="http://schemas.openxmlformats.org/officeDocument/2006/relationships/image" Target="../media/image24.jpeg"/><Relationship Id="rId5"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jpeg"/><Relationship Id="rId19" Type="http://schemas.openxmlformats.org/officeDocument/2006/relationships/image" Target="../media/image32.png"/><Relationship Id="rId4" Type="http://schemas.openxmlformats.org/officeDocument/2006/relationships/image" Target="../media/image18.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9.png"/><Relationship Id="rId7" Type="http://schemas.openxmlformats.org/officeDocument/2006/relationships/image" Target="../media/image8.jp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90.png"/><Relationship Id="rId4" Type="http://schemas.openxmlformats.org/officeDocument/2006/relationships/image" Target="../media/image39.png"/><Relationship Id="rId9"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sz="quarter" idx="14"/>
          </p:nvPr>
        </p:nvSpPr>
        <p:spPr>
          <a:xfrm>
            <a:off x="360000" y="1997089"/>
            <a:ext cx="8424000" cy="1296144"/>
          </a:xfrm>
        </p:spPr>
        <p:txBody>
          <a:bodyPr/>
          <a:lstStyle/>
          <a:p>
            <a:r>
              <a:rPr lang="en-US" sz="3000" cap="none" dirty="0" smtClean="0"/>
              <a:t>Multi-pathway QMRA model </a:t>
            </a:r>
          </a:p>
          <a:p>
            <a:r>
              <a:rPr lang="en-US" sz="3000" cap="none" dirty="0" smtClean="0"/>
              <a:t>estimating human exposure to ESBL </a:t>
            </a:r>
            <a:r>
              <a:rPr lang="en-US" sz="3000" i="1" cap="none" dirty="0" smtClean="0"/>
              <a:t>E. coli</a:t>
            </a:r>
            <a:r>
              <a:rPr lang="en-US" sz="3000" cap="none" dirty="0" smtClean="0"/>
              <a:t> </a:t>
            </a:r>
          </a:p>
          <a:p>
            <a:r>
              <a:rPr lang="en-US" sz="3000" cap="none" dirty="0"/>
              <a:t>f</a:t>
            </a:r>
            <a:r>
              <a:rPr lang="en-US" sz="3000" cap="none" dirty="0" smtClean="0"/>
              <a:t>rom broiler production.</a:t>
            </a:r>
            <a:endParaRPr lang="fr-FR" sz="3000" cap="none" dirty="0"/>
          </a:p>
        </p:txBody>
      </p:sp>
      <p:sp>
        <p:nvSpPr>
          <p:cNvPr id="5" name="Espace réservé du numéro de diapositive 4"/>
          <p:cNvSpPr>
            <a:spLocks noGrp="1"/>
          </p:cNvSpPr>
          <p:nvPr>
            <p:ph type="sldNum" sz="quarter" idx="17"/>
          </p:nvPr>
        </p:nvSpPr>
        <p:spPr/>
        <p:txBody>
          <a:bodyPr/>
          <a:lstStyle/>
          <a:p>
            <a:fld id="{733122C9-A0B9-462F-8757-0847AD287B63}" type="slidenum">
              <a:rPr lang="fr-FR" smtClean="0"/>
              <a:pPr/>
              <a:t>1</a:t>
            </a:fld>
            <a:endParaRPr lang="fr-FR" dirty="0"/>
          </a:p>
        </p:txBody>
      </p:sp>
      <p:sp>
        <p:nvSpPr>
          <p:cNvPr id="2" name="ZoneTexte 1"/>
          <p:cNvSpPr txBox="1"/>
          <p:nvPr/>
        </p:nvSpPr>
        <p:spPr>
          <a:xfrm>
            <a:off x="251520" y="3363838"/>
            <a:ext cx="2808312" cy="923330"/>
          </a:xfrm>
          <a:prstGeom prst="rect">
            <a:avLst/>
          </a:prstGeom>
          <a:noFill/>
        </p:spPr>
        <p:txBody>
          <a:bodyPr wrap="square" rtlCol="0">
            <a:spAutoFit/>
          </a:bodyPr>
          <a:lstStyle/>
          <a:p>
            <a:r>
              <a:rPr lang="fr-FR" sz="2000" dirty="0" smtClean="0">
                <a:solidFill>
                  <a:schemeClr val="bg2"/>
                </a:solidFill>
              </a:rPr>
              <a:t>Subhasish BASAK</a:t>
            </a:r>
          </a:p>
          <a:p>
            <a:r>
              <a:rPr lang="fr-FR" sz="2000" dirty="0">
                <a:solidFill>
                  <a:schemeClr val="bg2"/>
                </a:solidFill>
              </a:rPr>
              <a:t>Lucie </a:t>
            </a:r>
            <a:r>
              <a:rPr lang="fr-FR" sz="2000" dirty="0" smtClean="0">
                <a:solidFill>
                  <a:schemeClr val="bg2"/>
                </a:solidFill>
              </a:rPr>
              <a:t>COLLINEAU </a:t>
            </a:r>
            <a:r>
              <a:rPr lang="fr-FR" dirty="0" smtClean="0"/>
              <a:t/>
            </a:r>
            <a:br>
              <a:rPr lang="fr-FR" dirty="0" smtClean="0"/>
            </a:br>
            <a:r>
              <a:rPr lang="fr-FR" sz="1400" b="1" dirty="0" smtClean="0">
                <a:solidFill>
                  <a:srgbClr val="FF0000"/>
                </a:solidFill>
              </a:rPr>
              <a:t>ANSES - Laboratoire de Lyon</a:t>
            </a:r>
            <a:endParaRPr lang="fr-FR" sz="1400" b="1" dirty="0">
              <a:solidFill>
                <a:srgbClr val="FF0000"/>
              </a:solidFill>
            </a:endParaRP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97684"/>
            <a:ext cx="2028825" cy="1828800"/>
          </a:xfrm>
          <a:prstGeom prst="rect">
            <a:avLst/>
          </a:prstGeom>
        </p:spPr>
      </p:pic>
    </p:spTree>
    <p:extLst>
      <p:ext uri="{BB962C8B-B14F-4D97-AF65-F5344CB8AC3E}">
        <p14:creationId xmlns:p14="http://schemas.microsoft.com/office/powerpoint/2010/main" val="38119926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9"/>
          </p:nvPr>
        </p:nvSpPr>
        <p:spPr/>
        <p:txBody>
          <a:bodyPr/>
          <a:lstStyle/>
          <a:p>
            <a:fld id="{733122C9-A0B9-462F-8757-0847AD287B63}" type="slidenum">
              <a:rPr lang="fr-FR" smtClean="0"/>
              <a:pPr/>
              <a:t>2</a:t>
            </a:fld>
            <a:endParaRPr lang="fr-FR" dirty="0"/>
          </a:p>
        </p:txBody>
      </p:sp>
      <p:sp>
        <p:nvSpPr>
          <p:cNvPr id="3" name="Titre 2"/>
          <p:cNvSpPr>
            <a:spLocks noGrp="1"/>
          </p:cNvSpPr>
          <p:nvPr>
            <p:ph type="title"/>
          </p:nvPr>
        </p:nvSpPr>
        <p:spPr/>
        <p:txBody>
          <a:bodyPr/>
          <a:lstStyle/>
          <a:p>
            <a:r>
              <a:rPr lang="fr-FR" sz="3600" dirty="0" smtClean="0"/>
              <a:t>WP 3 </a:t>
            </a:r>
            <a:r>
              <a:rPr lang="fr-FR" sz="3600" dirty="0"/>
              <a:t>- </a:t>
            </a:r>
            <a:r>
              <a:rPr lang="fr-FR" sz="3600" dirty="0" err="1" smtClean="0"/>
              <a:t>Recapitulation</a:t>
            </a:r>
            <a:endParaRPr lang="fr-FR" dirty="0"/>
          </a:p>
        </p:txBody>
      </p:sp>
      <p:sp>
        <p:nvSpPr>
          <p:cNvPr id="6" name="Espace réservé du pied de page 6">
            <a:extLst>
              <a:ext uri="{FF2B5EF4-FFF2-40B4-BE49-F238E27FC236}">
                <a16:creationId xmlns:a16="http://schemas.microsoft.com/office/drawing/2014/main" id="{58D2D2E4-32B7-472C-B25E-7B1B89330F98}"/>
              </a:ext>
            </a:extLst>
          </p:cNvPr>
          <p:cNvSpPr>
            <a:spLocks noGrp="1"/>
          </p:cNvSpPr>
          <p:nvPr>
            <p:ph type="ftr" sz="quarter" idx="18"/>
          </p:nvPr>
        </p:nvSpPr>
        <p:spPr>
          <a:xfrm>
            <a:off x="275431" y="4659982"/>
            <a:ext cx="3086100" cy="211622"/>
          </a:xfrm>
        </p:spPr>
        <p:txBody>
          <a:bodyPr/>
          <a:lstStyle/>
          <a:p>
            <a:pPr algn="l"/>
            <a:r>
              <a:rPr lang="fr-FR" dirty="0" smtClean="0"/>
              <a:t>ENVIRE meeting Wroclaw 2025</a:t>
            </a:r>
            <a:endParaRPr lang="fr-FR" dirty="0"/>
          </a:p>
        </p:txBody>
      </p:sp>
    </p:spTree>
    <p:extLst>
      <p:ext uri="{BB962C8B-B14F-4D97-AF65-F5344CB8AC3E}">
        <p14:creationId xmlns:p14="http://schemas.microsoft.com/office/powerpoint/2010/main" val="29880130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8"/>
          </p:nvPr>
        </p:nvSpPr>
        <p:spPr/>
        <p:txBody>
          <a:bodyPr/>
          <a:lstStyle/>
          <a:p>
            <a:fld id="{733122C9-A0B9-462F-8757-0847AD287B63}" type="slidenum">
              <a:rPr lang="fr-FR" smtClean="0"/>
              <a:pPr/>
              <a:t>3</a:t>
            </a:fld>
            <a:endParaRPr lang="fr-FR" dirty="0"/>
          </a:p>
        </p:txBody>
      </p:sp>
      <p:sp>
        <p:nvSpPr>
          <p:cNvPr id="6" name="Titre 5"/>
          <p:cNvSpPr>
            <a:spLocks noGrp="1"/>
          </p:cNvSpPr>
          <p:nvPr>
            <p:ph type="title"/>
          </p:nvPr>
        </p:nvSpPr>
        <p:spPr>
          <a:xfrm>
            <a:off x="275431" y="268288"/>
            <a:ext cx="8157703" cy="636937"/>
          </a:xfrm>
        </p:spPr>
        <p:txBody>
          <a:bodyPr/>
          <a:lstStyle/>
          <a:p>
            <a:r>
              <a:rPr lang="fr-FR" sz="2800" dirty="0" smtClean="0"/>
              <a:t>Objective: </a:t>
            </a:r>
            <a:r>
              <a:rPr lang="fr-FR" sz="2800" dirty="0" err="1" smtClean="0"/>
              <a:t>Build</a:t>
            </a:r>
            <a:r>
              <a:rPr lang="fr-FR" sz="2800" dirty="0" smtClean="0"/>
              <a:t> a QMRA model </a:t>
            </a:r>
            <a:endParaRPr lang="fr-FR" sz="2800" dirty="0"/>
          </a:p>
        </p:txBody>
      </p:sp>
      <p:sp>
        <p:nvSpPr>
          <p:cNvPr id="8" name="Espace réservé du pied de page 6">
            <a:extLst>
              <a:ext uri="{FF2B5EF4-FFF2-40B4-BE49-F238E27FC236}">
                <a16:creationId xmlns:a16="http://schemas.microsoft.com/office/drawing/2014/main" id="{58D2D2E4-32B7-472C-B25E-7B1B89330F98}"/>
              </a:ext>
            </a:extLst>
          </p:cNvPr>
          <p:cNvSpPr>
            <a:spLocks noGrp="1"/>
          </p:cNvSpPr>
          <p:nvPr>
            <p:ph type="ftr" sz="quarter" idx="18"/>
          </p:nvPr>
        </p:nvSpPr>
        <p:spPr>
          <a:xfrm>
            <a:off x="275431" y="4659982"/>
            <a:ext cx="3086100" cy="211622"/>
          </a:xfrm>
        </p:spPr>
        <p:txBody>
          <a:bodyPr/>
          <a:lstStyle/>
          <a:p>
            <a:pPr algn="l"/>
            <a:r>
              <a:rPr lang="fr-FR" dirty="0"/>
              <a:t>ENVIRE meeting Wroclaw 2025</a:t>
            </a:r>
          </a:p>
        </p:txBody>
      </p:sp>
      <p:sp>
        <p:nvSpPr>
          <p:cNvPr id="5" name="ZoneTexte 4"/>
          <p:cNvSpPr txBox="1"/>
          <p:nvPr/>
        </p:nvSpPr>
        <p:spPr>
          <a:xfrm>
            <a:off x="2303748" y="1119874"/>
            <a:ext cx="4536504" cy="369332"/>
          </a:xfrm>
          <a:prstGeom prst="rect">
            <a:avLst/>
          </a:prstGeom>
          <a:noFill/>
        </p:spPr>
        <p:txBody>
          <a:bodyPr wrap="square" rtlCol="0">
            <a:spAutoFit/>
          </a:bodyPr>
          <a:lstStyle/>
          <a:p>
            <a:r>
              <a:rPr lang="fr-FR" b="1" dirty="0" smtClean="0"/>
              <a:t>Q</a:t>
            </a:r>
            <a:r>
              <a:rPr lang="fr-FR" dirty="0" smtClean="0"/>
              <a:t>uantitative </a:t>
            </a:r>
            <a:r>
              <a:rPr lang="fr-FR" b="1" dirty="0" err="1"/>
              <a:t>M</a:t>
            </a:r>
            <a:r>
              <a:rPr lang="fr-FR" dirty="0" err="1"/>
              <a:t>icrobial</a:t>
            </a:r>
            <a:r>
              <a:rPr lang="fr-FR" dirty="0"/>
              <a:t> </a:t>
            </a:r>
            <a:r>
              <a:rPr lang="fr-FR" b="1" dirty="0" err="1"/>
              <a:t>R</a:t>
            </a:r>
            <a:r>
              <a:rPr lang="fr-FR" dirty="0" err="1"/>
              <a:t>isk</a:t>
            </a:r>
            <a:r>
              <a:rPr lang="fr-FR" dirty="0"/>
              <a:t> </a:t>
            </a:r>
            <a:r>
              <a:rPr lang="fr-FR" b="1" dirty="0" err="1"/>
              <a:t>A</a:t>
            </a:r>
            <a:r>
              <a:rPr lang="fr-FR" dirty="0" err="1"/>
              <a:t>ssessment</a:t>
            </a:r>
            <a:endParaRPr lang="en-US" dirty="0"/>
          </a:p>
        </p:txBody>
      </p:sp>
      <p:grpSp>
        <p:nvGrpSpPr>
          <p:cNvPr id="18" name="Groupe 17"/>
          <p:cNvGrpSpPr/>
          <p:nvPr/>
        </p:nvGrpSpPr>
        <p:grpSpPr>
          <a:xfrm>
            <a:off x="3689901" y="1881911"/>
            <a:ext cx="1764195" cy="1506017"/>
            <a:chOff x="3689901" y="1881911"/>
            <a:chExt cx="1764195" cy="1506017"/>
          </a:xfrm>
        </p:grpSpPr>
        <p:sp>
          <p:nvSpPr>
            <p:cNvPr id="9" name="Rectangle à coins arrondis 8"/>
            <p:cNvSpPr/>
            <p:nvPr/>
          </p:nvSpPr>
          <p:spPr>
            <a:xfrm>
              <a:off x="3689901" y="2427734"/>
              <a:ext cx="1764195" cy="960194"/>
            </a:xfrm>
            <a:prstGeom prst="roundRect">
              <a:avLst/>
            </a:prstGeom>
            <a:solidFill>
              <a:srgbClr val="5770B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bg1"/>
                  </a:solidFill>
                </a:rPr>
                <a:t>QMRA</a:t>
              </a:r>
            </a:p>
            <a:p>
              <a:pPr algn="ctr"/>
              <a:r>
                <a:rPr lang="fr-FR" b="1" dirty="0" smtClean="0">
                  <a:solidFill>
                    <a:schemeClr val="bg1"/>
                  </a:solidFill>
                </a:rPr>
                <a:t>model</a:t>
              </a:r>
            </a:p>
          </p:txBody>
        </p:sp>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2645" y="1881911"/>
              <a:ext cx="518709" cy="518709"/>
            </a:xfrm>
            <a:prstGeom prst="rect">
              <a:avLst/>
            </a:prstGeom>
            <a:ln>
              <a:solidFill>
                <a:schemeClr val="bg1"/>
              </a:solidFill>
            </a:ln>
          </p:spPr>
        </p:pic>
      </p:grpSp>
      <p:grpSp>
        <p:nvGrpSpPr>
          <p:cNvPr id="16" name="Groupe 15"/>
          <p:cNvGrpSpPr/>
          <p:nvPr/>
        </p:nvGrpSpPr>
        <p:grpSpPr>
          <a:xfrm>
            <a:off x="2483768" y="2398944"/>
            <a:ext cx="1206133" cy="604854"/>
            <a:chOff x="2483768" y="2398944"/>
            <a:chExt cx="1206133" cy="604854"/>
          </a:xfrm>
        </p:grpSpPr>
        <p:sp>
          <p:nvSpPr>
            <p:cNvPr id="12" name="Flèche droite 11"/>
            <p:cNvSpPr/>
            <p:nvPr/>
          </p:nvSpPr>
          <p:spPr>
            <a:xfrm>
              <a:off x="2483768" y="2787774"/>
              <a:ext cx="1206133" cy="216024"/>
            </a:xfrm>
            <a:prstGeom prst="rightArrow">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p:cNvSpPr txBox="1"/>
            <p:nvPr/>
          </p:nvSpPr>
          <p:spPr>
            <a:xfrm>
              <a:off x="2669564" y="2398944"/>
              <a:ext cx="936104" cy="338554"/>
            </a:xfrm>
            <a:prstGeom prst="rect">
              <a:avLst/>
            </a:prstGeom>
            <a:noFill/>
          </p:spPr>
          <p:txBody>
            <a:bodyPr wrap="square" rtlCol="0">
              <a:spAutoFit/>
            </a:bodyPr>
            <a:lstStyle/>
            <a:p>
              <a:r>
                <a:rPr lang="fr-FR" sz="1600" dirty="0" smtClean="0"/>
                <a:t>Inputs</a:t>
              </a:r>
              <a:endParaRPr lang="en-US" sz="1600" dirty="0"/>
            </a:p>
          </p:txBody>
        </p:sp>
      </p:grpSp>
      <p:grpSp>
        <p:nvGrpSpPr>
          <p:cNvPr id="17" name="Groupe 16"/>
          <p:cNvGrpSpPr/>
          <p:nvPr/>
        </p:nvGrpSpPr>
        <p:grpSpPr>
          <a:xfrm>
            <a:off x="5475758" y="2398944"/>
            <a:ext cx="1206133" cy="616899"/>
            <a:chOff x="5475758" y="2398944"/>
            <a:chExt cx="1206133" cy="616899"/>
          </a:xfrm>
        </p:grpSpPr>
        <p:sp>
          <p:nvSpPr>
            <p:cNvPr id="13" name="Flèche droite 12"/>
            <p:cNvSpPr/>
            <p:nvPr/>
          </p:nvSpPr>
          <p:spPr>
            <a:xfrm>
              <a:off x="5475758" y="2799819"/>
              <a:ext cx="1206133" cy="216024"/>
            </a:xfrm>
            <a:prstGeom prst="rightArrow">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p:cNvSpPr txBox="1"/>
            <p:nvPr/>
          </p:nvSpPr>
          <p:spPr>
            <a:xfrm>
              <a:off x="5527267" y="2398944"/>
              <a:ext cx="1102998" cy="338554"/>
            </a:xfrm>
            <a:prstGeom prst="rect">
              <a:avLst/>
            </a:prstGeom>
            <a:noFill/>
          </p:spPr>
          <p:txBody>
            <a:bodyPr wrap="square" rtlCol="0">
              <a:spAutoFit/>
            </a:bodyPr>
            <a:lstStyle/>
            <a:p>
              <a:r>
                <a:rPr lang="fr-FR" sz="1600" dirty="0" smtClean="0"/>
                <a:t>Outputs</a:t>
              </a:r>
              <a:endParaRPr lang="en-US" sz="1600" dirty="0"/>
            </a:p>
          </p:txBody>
        </p:sp>
      </p:grpSp>
      <p:pic>
        <p:nvPicPr>
          <p:cNvPr id="20" name="Imag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4057" y="3556763"/>
            <a:ext cx="510422" cy="510422"/>
          </a:xfrm>
          <a:prstGeom prst="rect">
            <a:avLst/>
          </a:prstGeom>
        </p:spPr>
      </p:pic>
      <p:pic>
        <p:nvPicPr>
          <p:cNvPr id="21" name="Imag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8122" y="3032315"/>
            <a:ext cx="547752" cy="547752"/>
          </a:xfrm>
          <a:prstGeom prst="rect">
            <a:avLst/>
          </a:prstGeom>
        </p:spPr>
      </p:pic>
      <p:pic>
        <p:nvPicPr>
          <p:cNvPr id="23" name="Imag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4944" y="3019941"/>
            <a:ext cx="427878" cy="463892"/>
          </a:xfrm>
          <a:prstGeom prst="rect">
            <a:avLst/>
          </a:prstGeom>
        </p:spPr>
      </p:pic>
      <p:pic>
        <p:nvPicPr>
          <p:cNvPr id="25" name="Imag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2621" y="1800548"/>
            <a:ext cx="439080" cy="439080"/>
          </a:xfrm>
          <a:prstGeom prst="rect">
            <a:avLst/>
          </a:prstGeom>
        </p:spPr>
      </p:pic>
      <p:pic>
        <p:nvPicPr>
          <p:cNvPr id="26" name="Image 2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13739" y="2081486"/>
            <a:ext cx="664163" cy="664163"/>
          </a:xfrm>
          <a:prstGeom prst="rect">
            <a:avLst/>
          </a:prstGeom>
        </p:spPr>
      </p:pic>
      <p:pic>
        <p:nvPicPr>
          <p:cNvPr id="27" name="Image 2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84057" y="1635164"/>
            <a:ext cx="519434" cy="519434"/>
          </a:xfrm>
          <a:prstGeom prst="rect">
            <a:avLst/>
          </a:prstGeom>
        </p:spPr>
      </p:pic>
      <p:pic>
        <p:nvPicPr>
          <p:cNvPr id="29" name="Image 2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87170" y="2571750"/>
            <a:ext cx="494184" cy="483567"/>
          </a:xfrm>
          <a:prstGeom prst="rect">
            <a:avLst/>
          </a:prstGeom>
        </p:spPr>
      </p:pic>
      <p:pic>
        <p:nvPicPr>
          <p:cNvPr id="30" name="Image 2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963928" y="2926663"/>
            <a:ext cx="506971" cy="506971"/>
          </a:xfrm>
          <a:prstGeom prst="rect">
            <a:avLst/>
          </a:prstGeom>
        </p:spPr>
      </p:pic>
      <p:pic>
        <p:nvPicPr>
          <p:cNvPr id="31" name="Image 3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83779" y="2196334"/>
            <a:ext cx="410208" cy="397389"/>
          </a:xfrm>
          <a:prstGeom prst="rect">
            <a:avLst/>
          </a:prstGeom>
        </p:spPr>
      </p:pic>
      <p:pic>
        <p:nvPicPr>
          <p:cNvPr id="33" name="Image 3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016417" y="2331227"/>
            <a:ext cx="416717" cy="424372"/>
          </a:xfrm>
          <a:prstGeom prst="rect">
            <a:avLst/>
          </a:prstGeom>
        </p:spPr>
      </p:pic>
      <p:pic>
        <p:nvPicPr>
          <p:cNvPr id="35" name="Imag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154" y="3308604"/>
            <a:ext cx="510422" cy="510422"/>
          </a:xfrm>
          <a:prstGeom prst="rect">
            <a:avLst/>
          </a:prstGeom>
        </p:spPr>
      </p:pic>
      <p:pic>
        <p:nvPicPr>
          <p:cNvPr id="37" name="Image 36"/>
          <p:cNvPicPr>
            <a:picLocks noChangeAspect="1"/>
          </p:cNvPicPr>
          <p:nvPr/>
        </p:nvPicPr>
        <p:blipFill rotWithShape="1">
          <a:blip r:embed="rId14">
            <a:extLst>
              <a:ext uri="{28A0092B-C50C-407E-A947-70E740481C1C}">
                <a14:useLocalDpi xmlns:a14="http://schemas.microsoft.com/office/drawing/2010/main" val="0"/>
              </a:ext>
            </a:extLst>
          </a:blip>
          <a:srcRect t="1" r="18721" b="-11308"/>
          <a:stretch/>
        </p:blipFill>
        <p:spPr>
          <a:xfrm>
            <a:off x="6695068" y="2704083"/>
            <a:ext cx="625250" cy="470309"/>
          </a:xfrm>
          <a:prstGeom prst="rect">
            <a:avLst/>
          </a:prstGeom>
        </p:spPr>
      </p:pic>
      <p:sp>
        <p:nvSpPr>
          <p:cNvPr id="60" name="ZoneTexte 59"/>
          <p:cNvSpPr txBox="1"/>
          <p:nvPr/>
        </p:nvSpPr>
        <p:spPr>
          <a:xfrm>
            <a:off x="2370507" y="3042370"/>
            <a:ext cx="1415398" cy="738664"/>
          </a:xfrm>
          <a:prstGeom prst="rect">
            <a:avLst/>
          </a:prstGeom>
          <a:noFill/>
        </p:spPr>
        <p:txBody>
          <a:bodyPr wrap="square" rtlCol="0">
            <a:spAutoFit/>
          </a:bodyPr>
          <a:lstStyle/>
          <a:p>
            <a:pPr algn="ctr"/>
            <a:r>
              <a:rPr lang="fr-FR" sz="1400" b="1" dirty="0" smtClean="0">
                <a:solidFill>
                  <a:srgbClr val="E1000F"/>
                </a:solidFill>
              </a:rPr>
              <a:t>Total 165</a:t>
            </a:r>
          </a:p>
          <a:p>
            <a:pPr algn="ctr"/>
            <a:r>
              <a:rPr lang="fr-FR" sz="1400" b="1" dirty="0" smtClean="0">
                <a:solidFill>
                  <a:srgbClr val="E1000F"/>
                </a:solidFill>
              </a:rPr>
              <a:t>Model </a:t>
            </a:r>
            <a:r>
              <a:rPr lang="fr-FR" sz="1400" b="1" dirty="0" err="1" smtClean="0">
                <a:solidFill>
                  <a:srgbClr val="E1000F"/>
                </a:solidFill>
              </a:rPr>
              <a:t>parameters</a:t>
            </a:r>
            <a:endParaRPr lang="en-US" sz="1400" b="1" dirty="0">
              <a:solidFill>
                <a:srgbClr val="E1000F"/>
              </a:solidFill>
            </a:endParaRPr>
          </a:p>
        </p:txBody>
      </p:sp>
      <p:sp>
        <p:nvSpPr>
          <p:cNvPr id="61" name="ZoneTexte 60"/>
          <p:cNvSpPr txBox="1"/>
          <p:nvPr/>
        </p:nvSpPr>
        <p:spPr>
          <a:xfrm>
            <a:off x="5338123" y="3054296"/>
            <a:ext cx="1415398" cy="1169551"/>
          </a:xfrm>
          <a:prstGeom prst="rect">
            <a:avLst/>
          </a:prstGeom>
          <a:noFill/>
        </p:spPr>
        <p:txBody>
          <a:bodyPr wrap="square" rtlCol="0">
            <a:spAutoFit/>
          </a:bodyPr>
          <a:lstStyle/>
          <a:p>
            <a:pPr algn="ctr"/>
            <a:r>
              <a:rPr lang="fr-FR" sz="1400" b="1" dirty="0" err="1" smtClean="0">
                <a:solidFill>
                  <a:srgbClr val="E1000F"/>
                </a:solidFill>
              </a:rPr>
              <a:t>Probability</a:t>
            </a:r>
            <a:r>
              <a:rPr lang="fr-FR" sz="1400" b="1" dirty="0" smtClean="0">
                <a:solidFill>
                  <a:srgbClr val="E1000F"/>
                </a:solidFill>
              </a:rPr>
              <a:t> </a:t>
            </a:r>
          </a:p>
          <a:p>
            <a:pPr algn="ctr"/>
            <a:r>
              <a:rPr lang="fr-FR" sz="1400" b="1" dirty="0" smtClean="0">
                <a:solidFill>
                  <a:srgbClr val="E1000F"/>
                </a:solidFill>
              </a:rPr>
              <a:t>of </a:t>
            </a:r>
          </a:p>
          <a:p>
            <a:pPr algn="ctr"/>
            <a:r>
              <a:rPr lang="fr-FR" sz="1400" b="1" dirty="0" smtClean="0">
                <a:solidFill>
                  <a:srgbClr val="E1000F"/>
                </a:solidFill>
              </a:rPr>
              <a:t>ESBL </a:t>
            </a:r>
            <a:r>
              <a:rPr lang="fr-FR" sz="1400" b="1" i="1" dirty="0" smtClean="0">
                <a:solidFill>
                  <a:srgbClr val="E1000F"/>
                </a:solidFill>
              </a:rPr>
              <a:t>E. coli</a:t>
            </a:r>
          </a:p>
          <a:p>
            <a:pPr algn="ctr"/>
            <a:r>
              <a:rPr lang="fr-FR" sz="1400" b="1" dirty="0" err="1" smtClean="0">
                <a:solidFill>
                  <a:srgbClr val="E1000F"/>
                </a:solidFill>
              </a:rPr>
              <a:t>Colonization</a:t>
            </a:r>
            <a:endParaRPr lang="fr-FR" sz="1400" b="1" dirty="0" smtClean="0">
              <a:solidFill>
                <a:srgbClr val="E1000F"/>
              </a:solidFill>
            </a:endParaRPr>
          </a:p>
          <a:p>
            <a:pPr algn="ctr"/>
            <a:r>
              <a:rPr lang="fr-FR" sz="1400" b="1" dirty="0" smtClean="0">
                <a:solidFill>
                  <a:srgbClr val="E1000F"/>
                </a:solidFill>
              </a:rPr>
              <a:t>in </a:t>
            </a:r>
            <a:r>
              <a:rPr lang="fr-FR" sz="1400" b="1" dirty="0" err="1" smtClean="0">
                <a:solidFill>
                  <a:srgbClr val="E1000F"/>
                </a:solidFill>
              </a:rPr>
              <a:t>humans</a:t>
            </a:r>
            <a:endParaRPr lang="en-US" sz="1400" b="1" dirty="0">
              <a:solidFill>
                <a:srgbClr val="E1000F"/>
              </a:solidFill>
            </a:endParaRPr>
          </a:p>
        </p:txBody>
      </p:sp>
      <p:pic>
        <p:nvPicPr>
          <p:cNvPr id="63" name="Image 6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34885" y="3450500"/>
            <a:ext cx="422314" cy="423555"/>
          </a:xfrm>
          <a:prstGeom prst="rect">
            <a:avLst/>
          </a:prstGeom>
        </p:spPr>
      </p:pic>
      <p:cxnSp>
        <p:nvCxnSpPr>
          <p:cNvPr id="67" name="Connecteur droit avec flèche 66"/>
          <p:cNvCxnSpPr/>
          <p:nvPr/>
        </p:nvCxnSpPr>
        <p:spPr>
          <a:xfrm flipH="1">
            <a:off x="7164289" y="2020088"/>
            <a:ext cx="688948" cy="657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p:cNvCxnSpPr/>
          <p:nvPr/>
        </p:nvCxnSpPr>
        <p:spPr>
          <a:xfrm flipH="1">
            <a:off x="7317266" y="2546372"/>
            <a:ext cx="699152" cy="266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eur droit avec flèche 74"/>
          <p:cNvCxnSpPr>
            <a:endCxn id="37" idx="3"/>
          </p:cNvCxnSpPr>
          <p:nvPr/>
        </p:nvCxnSpPr>
        <p:spPr>
          <a:xfrm flipH="1" flipV="1">
            <a:off x="7320318" y="2939238"/>
            <a:ext cx="671346" cy="3004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eur droit avec flèche 76"/>
          <p:cNvCxnSpPr>
            <a:stCxn id="20" idx="1"/>
          </p:cNvCxnSpPr>
          <p:nvPr/>
        </p:nvCxnSpPr>
        <p:spPr>
          <a:xfrm flipH="1" flipV="1">
            <a:off x="7193302" y="3141647"/>
            <a:ext cx="790755" cy="670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90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67"/>
                                        </p:tgtEl>
                                        <p:attrNameLst>
                                          <p:attrName>style.visibility</p:attrName>
                                        </p:attrNameLst>
                                      </p:cBhvr>
                                      <p:to>
                                        <p:strVal val="visible"/>
                                      </p:to>
                                    </p:set>
                                    <p:animEffect transition="in" filter="fade">
                                      <p:cBhvr>
                                        <p:cTn id="69" dur="500"/>
                                        <p:tgtEl>
                                          <p:spTgt spid="67"/>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3"/>
                                        </p:tgtEl>
                                        <p:attrNameLst>
                                          <p:attrName>style.visibility</p:attrName>
                                        </p:attrNameLst>
                                      </p:cBhvr>
                                      <p:to>
                                        <p:strVal val="visible"/>
                                      </p:to>
                                    </p:set>
                                    <p:animEffect transition="in" filter="fade">
                                      <p:cBhvr>
                                        <p:cTn id="77" dur="500"/>
                                        <p:tgtEl>
                                          <p:spTgt spid="73"/>
                                        </p:tgtEl>
                                      </p:cBhvr>
                                    </p:animEffect>
                                  </p:childTnLst>
                                </p:cTn>
                              </p:par>
                              <p:par>
                                <p:cTn id="78" presetID="10" presetClass="entr" presetSubtype="0" fill="hold"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500"/>
                                        <p:tgtEl>
                                          <p:spTgt spid="75"/>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77"/>
                                        </p:tgtEl>
                                        <p:attrNameLst>
                                          <p:attrName>style.visibility</p:attrName>
                                        </p:attrNameLst>
                                      </p:cBhvr>
                                      <p:to>
                                        <p:strVal val="visible"/>
                                      </p:to>
                                    </p:set>
                                    <p:animEffect transition="in" filter="fade">
                                      <p:cBhvr>
                                        <p:cTn id="93" dur="500"/>
                                        <p:tgtEl>
                                          <p:spTgt spid="77"/>
                                        </p:tgtEl>
                                      </p:cBhvr>
                                    </p:animEffect>
                                  </p:childTnLst>
                                </p:cTn>
                              </p:par>
                              <p:par>
                                <p:cTn id="94" presetID="10" presetClass="entr" presetSubtype="0" fill="hold"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0" grpId="0"/>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8"/>
          </p:nvPr>
        </p:nvSpPr>
        <p:spPr/>
        <p:txBody>
          <a:bodyPr/>
          <a:lstStyle/>
          <a:p>
            <a:fld id="{733122C9-A0B9-462F-8757-0847AD287B63}" type="slidenum">
              <a:rPr lang="fr-FR" smtClean="0"/>
              <a:pPr/>
              <a:t>4</a:t>
            </a:fld>
            <a:endParaRPr lang="fr-FR" dirty="0"/>
          </a:p>
        </p:txBody>
      </p:sp>
      <p:sp>
        <p:nvSpPr>
          <p:cNvPr id="6" name="Titre 5"/>
          <p:cNvSpPr>
            <a:spLocks noGrp="1"/>
          </p:cNvSpPr>
          <p:nvPr>
            <p:ph type="title"/>
          </p:nvPr>
        </p:nvSpPr>
        <p:spPr/>
        <p:txBody>
          <a:bodyPr/>
          <a:lstStyle/>
          <a:p>
            <a:r>
              <a:rPr lang="fr-FR" sz="2800" dirty="0" smtClean="0"/>
              <a:t>Model </a:t>
            </a:r>
            <a:r>
              <a:rPr lang="fr-FR" sz="2800" dirty="0" err="1" smtClean="0"/>
              <a:t>implementation</a:t>
            </a:r>
            <a:endParaRPr lang="fr-FR" sz="2800" dirty="0"/>
          </a:p>
        </p:txBody>
      </p:sp>
      <p:sp>
        <p:nvSpPr>
          <p:cNvPr id="8" name="Espace réservé du pied de page 6">
            <a:extLst>
              <a:ext uri="{FF2B5EF4-FFF2-40B4-BE49-F238E27FC236}">
                <a16:creationId xmlns:a16="http://schemas.microsoft.com/office/drawing/2014/main" id="{58D2D2E4-32B7-472C-B25E-7B1B89330F98}"/>
              </a:ext>
            </a:extLst>
          </p:cNvPr>
          <p:cNvSpPr>
            <a:spLocks noGrp="1"/>
          </p:cNvSpPr>
          <p:nvPr>
            <p:ph type="ftr" sz="quarter" idx="18"/>
          </p:nvPr>
        </p:nvSpPr>
        <p:spPr>
          <a:xfrm>
            <a:off x="275431" y="4659982"/>
            <a:ext cx="3086100" cy="211622"/>
          </a:xfrm>
        </p:spPr>
        <p:txBody>
          <a:bodyPr/>
          <a:lstStyle/>
          <a:p>
            <a:pPr algn="l"/>
            <a:r>
              <a:rPr lang="fr-FR" dirty="0"/>
              <a:t>ENVIRE meeting Wroclaw 2025</a:t>
            </a:r>
          </a:p>
        </p:txBody>
      </p:sp>
      <p:sp>
        <p:nvSpPr>
          <p:cNvPr id="2" name="ZoneTexte 1"/>
          <p:cNvSpPr txBox="1"/>
          <p:nvPr/>
        </p:nvSpPr>
        <p:spPr>
          <a:xfrm>
            <a:off x="214206" y="1118672"/>
            <a:ext cx="8280152" cy="646331"/>
          </a:xfrm>
          <a:prstGeom prst="rect">
            <a:avLst/>
          </a:prstGeom>
          <a:noFill/>
        </p:spPr>
        <p:txBody>
          <a:bodyPr wrap="square" rtlCol="0">
            <a:spAutoFit/>
          </a:bodyPr>
          <a:lstStyle/>
          <a:p>
            <a:pPr marL="285750" indent="-285750">
              <a:buFont typeface="Arial" panose="020B0604020202020204" pitchFamily="34" charset="0"/>
              <a:buChar char="•"/>
            </a:pPr>
            <a:r>
              <a:rPr lang="fr-FR" dirty="0" err="1" smtClean="0"/>
              <a:t>Built</a:t>
            </a:r>
            <a:r>
              <a:rPr lang="fr-FR" dirty="0" smtClean="0"/>
              <a:t> on </a:t>
            </a:r>
            <a:r>
              <a:rPr lang="fr-FR" b="1" dirty="0" smtClean="0"/>
              <a:t>R – 4.1.2 </a:t>
            </a:r>
          </a:p>
          <a:p>
            <a:pPr marL="285750" indent="-285750">
              <a:buFont typeface="Arial" panose="020B0604020202020204" pitchFamily="34" charset="0"/>
              <a:buChar char="•"/>
            </a:pPr>
            <a:r>
              <a:rPr lang="fr-FR" dirty="0" err="1"/>
              <a:t>N</a:t>
            </a:r>
            <a:r>
              <a:rPr lang="fr-FR" dirty="0" err="1" smtClean="0"/>
              <a:t>ow</a:t>
            </a:r>
            <a:r>
              <a:rPr lang="fr-FR" dirty="0" smtClean="0"/>
              <a:t> </a:t>
            </a:r>
            <a:r>
              <a:rPr lang="fr-FR" dirty="0" err="1" smtClean="0"/>
              <a:t>available</a:t>
            </a:r>
            <a:r>
              <a:rPr lang="fr-FR" dirty="0" smtClean="0"/>
              <a:t> </a:t>
            </a:r>
            <a:r>
              <a:rPr lang="fr-FR" dirty="0"/>
              <a:t>on GitHub </a:t>
            </a:r>
            <a:r>
              <a:rPr lang="fr-FR" u="sng" dirty="0">
                <a:solidFill>
                  <a:srgbClr val="5770BE"/>
                </a:solidFill>
              </a:rPr>
              <a:t>https://github.com/ENVIRE-JPIAMR</a:t>
            </a:r>
            <a:endParaRPr lang="en-US" u="sng" dirty="0">
              <a:solidFill>
                <a:srgbClr val="5770BE"/>
              </a:solidFill>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878" y="1968189"/>
            <a:ext cx="5250808" cy="2359469"/>
          </a:xfrm>
          <a:prstGeom prst="rect">
            <a:avLst/>
          </a:prstGeom>
        </p:spPr>
      </p:pic>
    </p:spTree>
    <p:extLst>
      <p:ext uri="{BB962C8B-B14F-4D97-AF65-F5344CB8AC3E}">
        <p14:creationId xmlns:p14="http://schemas.microsoft.com/office/powerpoint/2010/main" val="393701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D82FD38-7D6B-4DC8-9FB6-E36A2700EE57}"/>
              </a:ext>
            </a:extLst>
          </p:cNvPr>
          <p:cNvSpPr>
            <a:spLocks noGrp="1"/>
          </p:cNvSpPr>
          <p:nvPr>
            <p:ph type="title"/>
          </p:nvPr>
        </p:nvSpPr>
        <p:spPr/>
        <p:txBody>
          <a:bodyPr/>
          <a:lstStyle/>
          <a:p>
            <a:r>
              <a:rPr lang="fr-FR" dirty="0" smtClean="0"/>
              <a:t>How </a:t>
            </a:r>
            <a:r>
              <a:rPr lang="fr-FR" dirty="0" err="1" smtClean="0"/>
              <a:t>it</a:t>
            </a:r>
            <a:r>
              <a:rPr lang="fr-FR" dirty="0" smtClean="0"/>
              <a:t> </a:t>
            </a:r>
            <a:r>
              <a:rPr lang="fr-FR" dirty="0" err="1" smtClean="0"/>
              <a:t>works</a:t>
            </a:r>
            <a:r>
              <a:rPr lang="fr-FR" dirty="0" smtClean="0"/>
              <a:t> ?</a:t>
            </a:r>
            <a:endParaRPr lang="fr-FR" dirty="0"/>
          </a:p>
        </p:txBody>
      </p:sp>
      <p:sp>
        <p:nvSpPr>
          <p:cNvPr id="8" name="Espace réservé du numéro de diapositive 7">
            <a:extLst>
              <a:ext uri="{FF2B5EF4-FFF2-40B4-BE49-F238E27FC236}">
                <a16:creationId xmlns:a16="http://schemas.microsoft.com/office/drawing/2014/main" id="{36A3CAED-7BD3-49A9-8DC4-092E75A14F99}"/>
              </a:ext>
            </a:extLst>
          </p:cNvPr>
          <p:cNvSpPr>
            <a:spLocks noGrp="1"/>
          </p:cNvSpPr>
          <p:nvPr>
            <p:ph type="sldNum" sz="quarter" idx="19"/>
          </p:nvPr>
        </p:nvSpPr>
        <p:spPr/>
        <p:txBody>
          <a:bodyPr/>
          <a:lstStyle/>
          <a:p>
            <a:fld id="{733122C9-A0B9-462F-8757-0847AD287B63}" type="slidenum">
              <a:rPr lang="fr-FR" smtClean="0"/>
              <a:pPr/>
              <a:t>5</a:t>
            </a:fld>
            <a:endParaRPr lang="fr-FR" dirty="0"/>
          </a:p>
        </p:txBody>
      </p:sp>
      <p:sp>
        <p:nvSpPr>
          <p:cNvPr id="6" name="Espace réservé du pied de page 6">
            <a:extLst>
              <a:ext uri="{FF2B5EF4-FFF2-40B4-BE49-F238E27FC236}">
                <a16:creationId xmlns:a16="http://schemas.microsoft.com/office/drawing/2014/main" id="{58D2D2E4-32B7-472C-B25E-7B1B89330F98}"/>
              </a:ext>
            </a:extLst>
          </p:cNvPr>
          <p:cNvSpPr>
            <a:spLocks noGrp="1"/>
          </p:cNvSpPr>
          <p:nvPr>
            <p:ph type="ftr" sz="quarter" idx="18"/>
          </p:nvPr>
        </p:nvSpPr>
        <p:spPr>
          <a:xfrm>
            <a:off x="275431" y="4659982"/>
            <a:ext cx="3086100" cy="211622"/>
          </a:xfrm>
        </p:spPr>
        <p:txBody>
          <a:bodyPr/>
          <a:lstStyle/>
          <a:p>
            <a:r>
              <a:rPr lang="fr-FR" dirty="0"/>
              <a:t>ENVIRE meeting Wroclaw 2025</a:t>
            </a:r>
          </a:p>
        </p:txBody>
      </p:sp>
    </p:spTree>
    <p:extLst>
      <p:ext uri="{BB962C8B-B14F-4D97-AF65-F5344CB8AC3E}">
        <p14:creationId xmlns:p14="http://schemas.microsoft.com/office/powerpoint/2010/main" val="37732418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27126" y="3413099"/>
            <a:ext cx="3683901" cy="12596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9" name="ZoneTexte 8"/>
          <p:cNvSpPr txBox="1"/>
          <p:nvPr/>
        </p:nvSpPr>
        <p:spPr>
          <a:xfrm>
            <a:off x="6852036" y="3847021"/>
            <a:ext cx="979340" cy="415498"/>
          </a:xfrm>
          <a:prstGeom prst="rect">
            <a:avLst/>
          </a:prstGeom>
          <a:solidFill>
            <a:schemeClr val="bg2"/>
          </a:solidFill>
          <a:ln>
            <a:solidFill>
              <a:schemeClr val="tx1">
                <a:lumMod val="85000"/>
                <a:lumOff val="15000"/>
              </a:schemeClr>
            </a:solidFill>
          </a:ln>
        </p:spPr>
        <p:txBody>
          <a:bodyPr wrap="square" rtlCol="0">
            <a:spAutoFit/>
          </a:bodyPr>
          <a:lstStyle/>
          <a:p>
            <a:pPr algn="ctr" defTabSz="514350"/>
            <a:r>
              <a:rPr lang="fr-FR" sz="1050" b="1" dirty="0">
                <a:solidFill>
                  <a:schemeClr val="bg1"/>
                </a:solidFill>
                <a:latin typeface="Calibri" panose="020F0502020204030204"/>
              </a:rPr>
              <a:t>Occupational contact</a:t>
            </a:r>
          </a:p>
        </p:txBody>
      </p:sp>
      <p:cxnSp>
        <p:nvCxnSpPr>
          <p:cNvPr id="15" name="Connecteur droit avec flèche 14"/>
          <p:cNvCxnSpPr>
            <a:stCxn id="70" idx="3"/>
            <a:endCxn id="72" idx="1"/>
          </p:cNvCxnSpPr>
          <p:nvPr/>
        </p:nvCxnSpPr>
        <p:spPr>
          <a:xfrm flipV="1">
            <a:off x="1836412" y="2577735"/>
            <a:ext cx="126178" cy="1959"/>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rot="5400000">
            <a:off x="7498619" y="3839770"/>
            <a:ext cx="1254917" cy="323165"/>
          </a:xfrm>
          <a:prstGeom prst="rect">
            <a:avLst/>
          </a:prstGeom>
          <a:noFill/>
        </p:spPr>
        <p:txBody>
          <a:bodyPr wrap="square" rtlCol="0">
            <a:spAutoFit/>
          </a:bodyPr>
          <a:lstStyle/>
          <a:p>
            <a:pPr defTabSz="514350"/>
            <a:r>
              <a:rPr lang="fr-FR" sz="1500" b="1" dirty="0">
                <a:latin typeface="Calibri" panose="020F0502020204030204"/>
              </a:rPr>
              <a:t>Occupational</a:t>
            </a:r>
          </a:p>
        </p:txBody>
      </p:sp>
      <p:sp>
        <p:nvSpPr>
          <p:cNvPr id="25" name="Rectangle 24"/>
          <p:cNvSpPr/>
          <p:nvPr/>
        </p:nvSpPr>
        <p:spPr>
          <a:xfrm>
            <a:off x="4227125" y="471416"/>
            <a:ext cx="3683902" cy="12549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27" name="ZoneTexte 26"/>
          <p:cNvSpPr txBox="1"/>
          <p:nvPr/>
        </p:nvSpPr>
        <p:spPr>
          <a:xfrm>
            <a:off x="6841443" y="1177124"/>
            <a:ext cx="975980" cy="415498"/>
          </a:xfrm>
          <a:prstGeom prst="rect">
            <a:avLst/>
          </a:prstGeom>
          <a:solidFill>
            <a:schemeClr val="bg2"/>
          </a:solidFill>
          <a:ln>
            <a:solidFill>
              <a:srgbClr val="3C3C3C"/>
            </a:solidFill>
          </a:ln>
        </p:spPr>
        <p:txBody>
          <a:bodyPr wrap="square" rtlCol="0">
            <a:spAutoFit/>
          </a:bodyPr>
          <a:lstStyle/>
          <a:p>
            <a:pPr algn="ctr" defTabSz="514350"/>
            <a:r>
              <a:rPr lang="fr-FR" sz="1050" b="1" dirty="0">
                <a:solidFill>
                  <a:schemeClr val="bg1"/>
                </a:solidFill>
                <a:latin typeface="Calibri" panose="020F0502020204030204"/>
              </a:rPr>
              <a:t>Agricultural crop irrigation</a:t>
            </a:r>
          </a:p>
        </p:txBody>
      </p:sp>
      <p:sp>
        <p:nvSpPr>
          <p:cNvPr id="29" name="ZoneTexte 28"/>
          <p:cNvSpPr txBox="1"/>
          <p:nvPr/>
        </p:nvSpPr>
        <p:spPr>
          <a:xfrm>
            <a:off x="6840826" y="609337"/>
            <a:ext cx="969727" cy="415498"/>
          </a:xfrm>
          <a:prstGeom prst="rect">
            <a:avLst/>
          </a:prstGeom>
          <a:solidFill>
            <a:schemeClr val="bg2"/>
          </a:solidFill>
          <a:ln>
            <a:solidFill>
              <a:schemeClr val="tx1"/>
            </a:solidFill>
          </a:ln>
        </p:spPr>
        <p:txBody>
          <a:bodyPr wrap="square" rtlCol="0">
            <a:spAutoFit/>
          </a:bodyPr>
          <a:lstStyle/>
          <a:p>
            <a:pPr algn="ctr" defTabSz="514350"/>
            <a:r>
              <a:rPr lang="fr-FR" sz="1050" b="1" dirty="0">
                <a:solidFill>
                  <a:schemeClr val="bg1"/>
                </a:solidFill>
                <a:latin typeface="Calibri" panose="020F0502020204030204"/>
              </a:rPr>
              <a:t>Recreational swimming</a:t>
            </a:r>
          </a:p>
        </p:txBody>
      </p:sp>
      <p:sp>
        <p:nvSpPr>
          <p:cNvPr id="34" name="ZoneTexte 33"/>
          <p:cNvSpPr txBox="1"/>
          <p:nvPr/>
        </p:nvSpPr>
        <p:spPr>
          <a:xfrm rot="5400000">
            <a:off x="7452859" y="924130"/>
            <a:ext cx="1348400" cy="323165"/>
          </a:xfrm>
          <a:prstGeom prst="rect">
            <a:avLst/>
          </a:prstGeom>
          <a:solidFill>
            <a:schemeClr val="bg1"/>
          </a:solidFill>
        </p:spPr>
        <p:txBody>
          <a:bodyPr wrap="square" rtlCol="0">
            <a:spAutoFit/>
          </a:bodyPr>
          <a:lstStyle/>
          <a:p>
            <a:pPr defTabSz="514350"/>
            <a:r>
              <a:rPr lang="fr-FR" sz="1500" b="1" dirty="0">
                <a:latin typeface="Calibri" panose="020F0502020204030204"/>
              </a:rPr>
              <a:t>Environmental</a:t>
            </a:r>
          </a:p>
        </p:txBody>
      </p:sp>
      <p:sp>
        <p:nvSpPr>
          <p:cNvPr id="40" name="Rectangle 39"/>
          <p:cNvSpPr/>
          <p:nvPr/>
        </p:nvSpPr>
        <p:spPr>
          <a:xfrm>
            <a:off x="4224614" y="1948933"/>
            <a:ext cx="3683897" cy="12549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14" name="ZoneTexte 13"/>
          <p:cNvSpPr txBox="1"/>
          <p:nvPr/>
        </p:nvSpPr>
        <p:spPr>
          <a:xfrm>
            <a:off x="6846381" y="2380304"/>
            <a:ext cx="979338" cy="415498"/>
          </a:xfrm>
          <a:prstGeom prst="rect">
            <a:avLst/>
          </a:prstGeom>
          <a:solidFill>
            <a:schemeClr val="bg2"/>
          </a:solidFill>
          <a:ln>
            <a:solidFill>
              <a:schemeClr val="tx1"/>
            </a:solidFill>
          </a:ln>
        </p:spPr>
        <p:txBody>
          <a:bodyPr wrap="square" rtlCol="0">
            <a:spAutoFit/>
          </a:bodyPr>
          <a:lstStyle/>
          <a:p>
            <a:pPr algn="ctr" defTabSz="514350"/>
            <a:r>
              <a:rPr lang="fr-FR" sz="1050" b="1" dirty="0">
                <a:solidFill>
                  <a:schemeClr val="bg1"/>
                </a:solidFill>
                <a:latin typeface="Calibri" panose="020F0502020204030204"/>
              </a:rPr>
              <a:t>Broiler meat consumption</a:t>
            </a:r>
          </a:p>
        </p:txBody>
      </p:sp>
      <p:sp>
        <p:nvSpPr>
          <p:cNvPr id="46" name="ZoneTexte 45"/>
          <p:cNvSpPr txBox="1"/>
          <p:nvPr/>
        </p:nvSpPr>
        <p:spPr>
          <a:xfrm rot="5400000">
            <a:off x="7601898" y="2439118"/>
            <a:ext cx="1048358" cy="323165"/>
          </a:xfrm>
          <a:prstGeom prst="rect">
            <a:avLst/>
          </a:prstGeom>
          <a:solidFill>
            <a:schemeClr val="bg1"/>
          </a:solidFill>
        </p:spPr>
        <p:txBody>
          <a:bodyPr wrap="square" rtlCol="0">
            <a:spAutoFit/>
          </a:bodyPr>
          <a:lstStyle/>
          <a:p>
            <a:pPr defTabSz="514350"/>
            <a:r>
              <a:rPr lang="fr-FR" sz="1500" b="1" dirty="0">
                <a:latin typeface="Calibri" panose="020F0502020204030204"/>
              </a:rPr>
              <a:t>Foodborne</a:t>
            </a:r>
          </a:p>
        </p:txBody>
      </p:sp>
      <p:sp>
        <p:nvSpPr>
          <p:cNvPr id="72" name="ZoneTexte 71"/>
          <p:cNvSpPr txBox="1"/>
          <p:nvPr/>
        </p:nvSpPr>
        <p:spPr>
          <a:xfrm>
            <a:off x="1962590" y="2427694"/>
            <a:ext cx="731475" cy="323165"/>
          </a:xfrm>
          <a:prstGeom prst="rect">
            <a:avLst/>
          </a:prstGeom>
          <a:solidFill>
            <a:schemeClr val="bg1"/>
          </a:solidFill>
          <a:ln w="12700">
            <a:solidFill>
              <a:srgbClr val="262626"/>
            </a:solidFill>
          </a:ln>
        </p:spPr>
        <p:txBody>
          <a:bodyPr wrap="square" rtlCol="0">
            <a:spAutoFit/>
          </a:bodyPr>
          <a:lstStyle/>
          <a:p>
            <a:pPr algn="ctr" defTabSz="514350"/>
            <a:r>
              <a:rPr lang="fr-FR" sz="1500" dirty="0">
                <a:latin typeface="Calibri" panose="020F0502020204030204"/>
              </a:rPr>
              <a:t> </a:t>
            </a:r>
            <a:r>
              <a:rPr lang="fr-FR" sz="1500" b="1" dirty="0">
                <a:latin typeface="Calibri" panose="020F0502020204030204"/>
              </a:rPr>
              <a:t>Farm</a:t>
            </a:r>
          </a:p>
        </p:txBody>
      </p:sp>
      <p:cxnSp>
        <p:nvCxnSpPr>
          <p:cNvPr id="109" name="Connecteur droit avec flèche 108"/>
          <p:cNvCxnSpPr>
            <a:stCxn id="90" idx="0"/>
            <a:endCxn id="72" idx="2"/>
          </p:cNvCxnSpPr>
          <p:nvPr/>
        </p:nvCxnSpPr>
        <p:spPr>
          <a:xfrm flipV="1">
            <a:off x="2328327" y="2727776"/>
            <a:ext cx="0" cy="118235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89" name="Image 8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5206" y="3881102"/>
            <a:ext cx="288429" cy="293133"/>
          </a:xfrm>
          <a:prstGeom prst="rect">
            <a:avLst/>
          </a:prstGeom>
        </p:spPr>
      </p:pic>
      <p:sp>
        <p:nvSpPr>
          <p:cNvPr id="98" name="ZoneTexte 97"/>
          <p:cNvSpPr txBox="1"/>
          <p:nvPr/>
        </p:nvSpPr>
        <p:spPr>
          <a:xfrm>
            <a:off x="1933885" y="4208810"/>
            <a:ext cx="878818" cy="276999"/>
          </a:xfrm>
          <a:prstGeom prst="rect">
            <a:avLst/>
          </a:prstGeom>
          <a:solidFill>
            <a:schemeClr val="bg1"/>
          </a:solidFill>
          <a:ln w="3175">
            <a:noFill/>
          </a:ln>
        </p:spPr>
        <p:txBody>
          <a:bodyPr wrap="square" rtlCol="0">
            <a:spAutoFit/>
          </a:bodyPr>
          <a:lstStyle/>
          <a:p>
            <a:r>
              <a:rPr lang="fr-FR" sz="1200" dirty="0"/>
              <a:t>Thinning</a:t>
            </a:r>
          </a:p>
        </p:txBody>
      </p:sp>
      <p:grpSp>
        <p:nvGrpSpPr>
          <p:cNvPr id="128" name="Groupe 127"/>
          <p:cNvGrpSpPr/>
          <p:nvPr/>
        </p:nvGrpSpPr>
        <p:grpSpPr>
          <a:xfrm>
            <a:off x="2046153" y="853245"/>
            <a:ext cx="554130" cy="503885"/>
            <a:chOff x="1739484" y="1044716"/>
            <a:chExt cx="951624" cy="871833"/>
          </a:xfrm>
        </p:grpSpPr>
        <p:sp>
          <p:nvSpPr>
            <p:cNvPr id="127" name="Rectangle à coins arrondis 126"/>
            <p:cNvSpPr/>
            <p:nvPr/>
          </p:nvSpPr>
          <p:spPr>
            <a:xfrm>
              <a:off x="1739484" y="1044716"/>
              <a:ext cx="951624" cy="871833"/>
            </a:xfrm>
            <a:prstGeom prst="roundRect">
              <a:avLst>
                <a:gd name="adj" fmla="val 754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26" name="Image 125"/>
            <p:cNvPicPr>
              <a:picLocks noChangeAspect="1"/>
            </p:cNvPicPr>
            <p:nvPr/>
          </p:nvPicPr>
          <p:blipFill rotWithShape="1">
            <a:blip r:embed="rId3" cstate="print">
              <a:extLst>
                <a:ext uri="{28A0092B-C50C-407E-A947-70E740481C1C}">
                  <a14:useLocalDpi xmlns:a14="http://schemas.microsoft.com/office/drawing/2010/main" val="0"/>
                </a:ext>
              </a:extLst>
            </a:blip>
            <a:srcRect t="20632" b="19172"/>
            <a:stretch/>
          </p:blipFill>
          <p:spPr>
            <a:xfrm>
              <a:off x="1781068" y="1199362"/>
              <a:ext cx="868455" cy="652007"/>
            </a:xfrm>
            <a:prstGeom prst="rect">
              <a:avLst/>
            </a:prstGeom>
            <a:solidFill>
              <a:schemeClr val="bg1"/>
            </a:solidFill>
          </p:spPr>
        </p:pic>
      </p:grpSp>
      <p:grpSp>
        <p:nvGrpSpPr>
          <p:cNvPr id="137" name="Groupe 136"/>
          <p:cNvGrpSpPr/>
          <p:nvPr/>
        </p:nvGrpSpPr>
        <p:grpSpPr>
          <a:xfrm>
            <a:off x="2814694" y="1707553"/>
            <a:ext cx="867433" cy="1730381"/>
            <a:chOff x="-108851" y="2248405"/>
            <a:chExt cx="1156577" cy="2307175"/>
          </a:xfrm>
        </p:grpSpPr>
        <p:grpSp>
          <p:nvGrpSpPr>
            <p:cNvPr id="139" name="Groupe 138"/>
            <p:cNvGrpSpPr/>
            <p:nvPr/>
          </p:nvGrpSpPr>
          <p:grpSpPr>
            <a:xfrm>
              <a:off x="-12178" y="2333382"/>
              <a:ext cx="963229" cy="2137220"/>
              <a:chOff x="425370" y="2533307"/>
              <a:chExt cx="963229" cy="2137220"/>
            </a:xfrm>
          </p:grpSpPr>
          <p:sp>
            <p:nvSpPr>
              <p:cNvPr id="141" name="ZoneTexte 140"/>
              <p:cNvSpPr txBox="1"/>
              <p:nvPr/>
            </p:nvSpPr>
            <p:spPr>
              <a:xfrm>
                <a:off x="679658" y="3449588"/>
                <a:ext cx="583192" cy="369332"/>
              </a:xfrm>
              <a:prstGeom prst="rect">
                <a:avLst/>
              </a:prstGeom>
              <a:noFill/>
            </p:spPr>
            <p:txBody>
              <a:bodyPr wrap="square" rtlCol="0">
                <a:spAutoFit/>
              </a:bodyPr>
              <a:lstStyle/>
              <a:p>
                <a:r>
                  <a:rPr lang="fr-FR" sz="1200" b="1" dirty="0"/>
                  <a:t>OR</a:t>
                </a:r>
                <a:endParaRPr lang="fr-FR" sz="1200" dirty="0"/>
              </a:p>
            </p:txBody>
          </p:sp>
          <p:grpSp>
            <p:nvGrpSpPr>
              <p:cNvPr id="142" name="Groupe 141"/>
              <p:cNvGrpSpPr/>
              <p:nvPr/>
            </p:nvGrpSpPr>
            <p:grpSpPr>
              <a:xfrm>
                <a:off x="425370" y="3764475"/>
                <a:ext cx="961620" cy="906052"/>
                <a:chOff x="7172048" y="424798"/>
                <a:chExt cx="1212349" cy="1265547"/>
              </a:xfrm>
            </p:grpSpPr>
            <p:pic>
              <p:nvPicPr>
                <p:cNvPr id="149" name="Image 1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3561" y="1098513"/>
                  <a:ext cx="404558" cy="485731"/>
                </a:xfrm>
                <a:prstGeom prst="rect">
                  <a:avLst/>
                </a:prstGeom>
              </p:spPr>
            </p:pic>
            <p:pic>
              <p:nvPicPr>
                <p:cNvPr id="150" name="Image 1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11153" y="506165"/>
                  <a:ext cx="433102" cy="520003"/>
                </a:xfrm>
                <a:prstGeom prst="rect">
                  <a:avLst/>
                </a:prstGeom>
              </p:spPr>
            </p:pic>
            <p:pic>
              <p:nvPicPr>
                <p:cNvPr id="151" name="Image 1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7536" y="506166"/>
                  <a:ext cx="433102" cy="520003"/>
                </a:xfrm>
                <a:prstGeom prst="rect">
                  <a:avLst/>
                </a:prstGeom>
              </p:spPr>
            </p:pic>
            <p:pic>
              <p:nvPicPr>
                <p:cNvPr id="152" name="Image 1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18960" y="1057830"/>
                  <a:ext cx="433102" cy="520003"/>
                </a:xfrm>
                <a:prstGeom prst="rect">
                  <a:avLst/>
                </a:prstGeom>
              </p:spPr>
            </p:pic>
            <p:sp>
              <p:nvSpPr>
                <p:cNvPr id="153" name="Rectangle à coins arrondis 152"/>
                <p:cNvSpPr/>
                <p:nvPr/>
              </p:nvSpPr>
              <p:spPr>
                <a:xfrm>
                  <a:off x="7172048" y="424798"/>
                  <a:ext cx="1212349" cy="1265547"/>
                </a:xfrm>
                <a:prstGeom prst="roundRect">
                  <a:avLst>
                    <a:gd name="adj" fmla="val 4135"/>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143" name="Groupe 142"/>
              <p:cNvGrpSpPr/>
              <p:nvPr/>
            </p:nvGrpSpPr>
            <p:grpSpPr>
              <a:xfrm>
                <a:off x="432451" y="2533307"/>
                <a:ext cx="956148" cy="900263"/>
                <a:chOff x="5330863" y="398574"/>
                <a:chExt cx="1212349" cy="1265547"/>
              </a:xfrm>
            </p:grpSpPr>
            <p:sp>
              <p:nvSpPr>
                <p:cNvPr id="144" name="Rectangle à coins arrondis 143"/>
                <p:cNvSpPr/>
                <p:nvPr/>
              </p:nvSpPr>
              <p:spPr>
                <a:xfrm>
                  <a:off x="5330863" y="398574"/>
                  <a:ext cx="1212349" cy="1265547"/>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45" name="Image 1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61397" y="1081322"/>
                  <a:ext cx="404558" cy="485731"/>
                </a:xfrm>
                <a:prstGeom prst="rect">
                  <a:avLst/>
                </a:prstGeom>
              </p:spPr>
            </p:pic>
            <p:pic>
              <p:nvPicPr>
                <p:cNvPr id="146" name="Image 1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72324" y="503741"/>
                  <a:ext cx="404558" cy="485731"/>
                </a:xfrm>
                <a:prstGeom prst="rect">
                  <a:avLst/>
                </a:prstGeom>
              </p:spPr>
            </p:pic>
            <p:pic>
              <p:nvPicPr>
                <p:cNvPr id="147" name="Image 1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82408" y="503741"/>
                  <a:ext cx="404558" cy="485731"/>
                </a:xfrm>
                <a:prstGeom prst="rect">
                  <a:avLst/>
                </a:prstGeom>
              </p:spPr>
            </p:pic>
            <p:pic>
              <p:nvPicPr>
                <p:cNvPr id="148" name="Image 14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82408" y="1068734"/>
                  <a:ext cx="404558" cy="485731"/>
                </a:xfrm>
                <a:prstGeom prst="rect">
                  <a:avLst/>
                </a:prstGeom>
              </p:spPr>
            </p:pic>
          </p:grpSp>
        </p:grpSp>
        <p:sp>
          <p:nvSpPr>
            <p:cNvPr id="140" name="Rectangle 139"/>
            <p:cNvSpPr/>
            <p:nvPr/>
          </p:nvSpPr>
          <p:spPr>
            <a:xfrm>
              <a:off x="-108851" y="2248405"/>
              <a:ext cx="1156577" cy="23071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cxnSp>
        <p:nvCxnSpPr>
          <p:cNvPr id="158" name="Connecteur droit avec flèche 157"/>
          <p:cNvCxnSpPr>
            <a:stCxn id="72" idx="3"/>
            <a:endCxn id="140" idx="1"/>
          </p:cNvCxnSpPr>
          <p:nvPr/>
        </p:nvCxnSpPr>
        <p:spPr>
          <a:xfrm flipV="1">
            <a:off x="2694065" y="2572744"/>
            <a:ext cx="120629" cy="4991"/>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Connecteur droit avec flèche 161"/>
          <p:cNvCxnSpPr/>
          <p:nvPr/>
        </p:nvCxnSpPr>
        <p:spPr>
          <a:xfrm>
            <a:off x="3682638" y="2572744"/>
            <a:ext cx="540326" cy="3767"/>
          </a:xfrm>
          <a:prstGeom prst="straightConnector1">
            <a:avLst/>
          </a:prstGeom>
          <a:ln w="12700">
            <a:solidFill>
              <a:srgbClr val="26262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ZoneTexte 165"/>
          <p:cNvSpPr txBox="1"/>
          <p:nvPr/>
        </p:nvSpPr>
        <p:spPr>
          <a:xfrm>
            <a:off x="1108887" y="1437505"/>
            <a:ext cx="604519" cy="276999"/>
          </a:xfrm>
          <a:prstGeom prst="rect">
            <a:avLst/>
          </a:prstGeom>
          <a:noFill/>
        </p:spPr>
        <p:txBody>
          <a:bodyPr wrap="square" rtlCol="0">
            <a:spAutoFit/>
          </a:bodyPr>
          <a:lstStyle/>
          <a:p>
            <a:r>
              <a:rPr lang="fr-FR" sz="1200" b="1" dirty="0"/>
              <a:t>Day 1</a:t>
            </a:r>
          </a:p>
        </p:txBody>
      </p:sp>
      <p:sp>
        <p:nvSpPr>
          <p:cNvPr id="167" name="ZoneTexte 166"/>
          <p:cNvSpPr txBox="1"/>
          <p:nvPr/>
        </p:nvSpPr>
        <p:spPr>
          <a:xfrm>
            <a:off x="2938139" y="1443086"/>
            <a:ext cx="633372" cy="261610"/>
          </a:xfrm>
          <a:prstGeom prst="rect">
            <a:avLst/>
          </a:prstGeom>
          <a:noFill/>
        </p:spPr>
        <p:txBody>
          <a:bodyPr wrap="square" rtlCol="0">
            <a:spAutoFit/>
          </a:bodyPr>
          <a:lstStyle/>
          <a:p>
            <a:r>
              <a:rPr lang="fr-FR" sz="1100" b="1" dirty="0"/>
              <a:t>Day N</a:t>
            </a:r>
          </a:p>
        </p:txBody>
      </p:sp>
      <p:grpSp>
        <p:nvGrpSpPr>
          <p:cNvPr id="93" name="Groupe 92"/>
          <p:cNvGrpSpPr/>
          <p:nvPr/>
        </p:nvGrpSpPr>
        <p:grpSpPr>
          <a:xfrm>
            <a:off x="968979" y="1714504"/>
            <a:ext cx="867433" cy="1730381"/>
            <a:chOff x="974041" y="2281012"/>
            <a:chExt cx="1156577" cy="2307175"/>
          </a:xfrm>
        </p:grpSpPr>
        <p:grpSp>
          <p:nvGrpSpPr>
            <p:cNvPr id="71" name="Groupe 70"/>
            <p:cNvGrpSpPr/>
            <p:nvPr/>
          </p:nvGrpSpPr>
          <p:grpSpPr>
            <a:xfrm>
              <a:off x="974041" y="2281012"/>
              <a:ext cx="1156577" cy="2307175"/>
              <a:chOff x="-108851" y="2248405"/>
              <a:chExt cx="1156577" cy="2307175"/>
            </a:xfrm>
          </p:grpSpPr>
          <p:grpSp>
            <p:nvGrpSpPr>
              <p:cNvPr id="56" name="Groupe 55"/>
              <p:cNvGrpSpPr/>
              <p:nvPr/>
            </p:nvGrpSpPr>
            <p:grpSpPr>
              <a:xfrm>
                <a:off x="-12178" y="2333382"/>
                <a:ext cx="963229" cy="2137220"/>
                <a:chOff x="425370" y="2533307"/>
                <a:chExt cx="963229" cy="2137220"/>
              </a:xfrm>
            </p:grpSpPr>
            <p:sp>
              <p:nvSpPr>
                <p:cNvPr id="57" name="ZoneTexte 56"/>
                <p:cNvSpPr txBox="1"/>
                <p:nvPr/>
              </p:nvSpPr>
              <p:spPr>
                <a:xfrm>
                  <a:off x="679658" y="3449588"/>
                  <a:ext cx="583192" cy="369332"/>
                </a:xfrm>
                <a:prstGeom prst="rect">
                  <a:avLst/>
                </a:prstGeom>
                <a:noFill/>
              </p:spPr>
              <p:txBody>
                <a:bodyPr wrap="square" rtlCol="0">
                  <a:spAutoFit/>
                </a:bodyPr>
                <a:lstStyle/>
                <a:p>
                  <a:r>
                    <a:rPr lang="fr-FR" sz="1200" b="1" dirty="0"/>
                    <a:t>OR</a:t>
                  </a:r>
                  <a:endParaRPr lang="fr-FR" sz="1200" dirty="0"/>
                </a:p>
              </p:txBody>
            </p:sp>
            <p:grpSp>
              <p:nvGrpSpPr>
                <p:cNvPr id="58" name="Groupe 57"/>
                <p:cNvGrpSpPr/>
                <p:nvPr/>
              </p:nvGrpSpPr>
              <p:grpSpPr>
                <a:xfrm>
                  <a:off x="425370" y="3764475"/>
                  <a:ext cx="961620" cy="906052"/>
                  <a:chOff x="7172048" y="424798"/>
                  <a:chExt cx="1212349" cy="1265547"/>
                </a:xfrm>
              </p:grpSpPr>
              <p:pic>
                <p:nvPicPr>
                  <p:cNvPr id="65" name="Image 6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3561" y="1098513"/>
                    <a:ext cx="404558" cy="485731"/>
                  </a:xfrm>
                  <a:prstGeom prst="rect">
                    <a:avLst/>
                  </a:prstGeom>
                </p:spPr>
              </p:pic>
              <p:pic>
                <p:nvPicPr>
                  <p:cNvPr id="66" name="Image 6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02514" y="515345"/>
                    <a:ext cx="433102" cy="520002"/>
                  </a:xfrm>
                  <a:prstGeom prst="rect">
                    <a:avLst/>
                  </a:prstGeom>
                </p:spPr>
              </p:pic>
              <p:sp>
                <p:nvSpPr>
                  <p:cNvPr id="69" name="Rectangle à coins arrondis 68"/>
                  <p:cNvSpPr/>
                  <p:nvPr/>
                </p:nvSpPr>
                <p:spPr>
                  <a:xfrm>
                    <a:off x="7172048" y="424798"/>
                    <a:ext cx="1212349" cy="1265547"/>
                  </a:xfrm>
                  <a:prstGeom prst="roundRect">
                    <a:avLst>
                      <a:gd name="adj" fmla="val 4135"/>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59" name="Groupe 58"/>
                <p:cNvGrpSpPr/>
                <p:nvPr/>
              </p:nvGrpSpPr>
              <p:grpSpPr>
                <a:xfrm>
                  <a:off x="432451" y="2533307"/>
                  <a:ext cx="956148" cy="900263"/>
                  <a:chOff x="5330863" y="398574"/>
                  <a:chExt cx="1212349" cy="1265547"/>
                </a:xfrm>
              </p:grpSpPr>
              <p:sp>
                <p:nvSpPr>
                  <p:cNvPr id="60" name="Rectangle à coins arrondis 59"/>
                  <p:cNvSpPr/>
                  <p:nvPr/>
                </p:nvSpPr>
                <p:spPr>
                  <a:xfrm>
                    <a:off x="5330863" y="398574"/>
                    <a:ext cx="1212349" cy="1265547"/>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61" name="Image 6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61397" y="1081322"/>
                    <a:ext cx="404558" cy="485731"/>
                  </a:xfrm>
                  <a:prstGeom prst="rect">
                    <a:avLst/>
                  </a:prstGeom>
                </p:spPr>
              </p:pic>
              <p:pic>
                <p:nvPicPr>
                  <p:cNvPr id="62" name="Image 6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72324" y="503741"/>
                    <a:ext cx="404558" cy="485731"/>
                  </a:xfrm>
                  <a:prstGeom prst="rect">
                    <a:avLst/>
                  </a:prstGeom>
                </p:spPr>
              </p:pic>
              <p:pic>
                <p:nvPicPr>
                  <p:cNvPr id="63" name="Image 6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82408" y="503741"/>
                    <a:ext cx="404558" cy="485731"/>
                  </a:xfrm>
                  <a:prstGeom prst="rect">
                    <a:avLst/>
                  </a:prstGeom>
                </p:spPr>
              </p:pic>
              <p:pic>
                <p:nvPicPr>
                  <p:cNvPr id="64" name="Image 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82408" y="1068734"/>
                    <a:ext cx="404558" cy="485731"/>
                  </a:xfrm>
                  <a:prstGeom prst="rect">
                    <a:avLst/>
                  </a:prstGeom>
                </p:spPr>
              </p:pic>
            </p:grpSp>
          </p:grpSp>
          <p:sp>
            <p:nvSpPr>
              <p:cNvPr id="70" name="Rectangle 69"/>
              <p:cNvSpPr/>
              <p:nvPr/>
            </p:nvSpPr>
            <p:spPr>
              <a:xfrm>
                <a:off x="-108851" y="2248405"/>
                <a:ext cx="1156577" cy="23071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pic>
          <p:nvPicPr>
            <p:cNvPr id="168" name="Image 16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5028" y="3691908"/>
              <a:ext cx="320890" cy="347753"/>
            </a:xfrm>
            <a:prstGeom prst="rect">
              <a:avLst/>
            </a:prstGeom>
          </p:spPr>
        </p:pic>
        <p:pic>
          <p:nvPicPr>
            <p:cNvPr id="169" name="Image 1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0891" y="4079495"/>
              <a:ext cx="320890" cy="347753"/>
            </a:xfrm>
            <a:prstGeom prst="rect">
              <a:avLst/>
            </a:prstGeom>
          </p:spPr>
        </p:pic>
      </p:grpSp>
      <p:cxnSp>
        <p:nvCxnSpPr>
          <p:cNvPr id="177" name="Connecteur droit avec flèche 176"/>
          <p:cNvCxnSpPr>
            <a:stCxn id="72" idx="0"/>
            <a:endCxn id="127" idx="2"/>
          </p:cNvCxnSpPr>
          <p:nvPr/>
        </p:nvCxnSpPr>
        <p:spPr>
          <a:xfrm flipH="1" flipV="1">
            <a:off x="2323218" y="1357130"/>
            <a:ext cx="5109" cy="1070564"/>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9" name="Connecteur droit avec flèche 178"/>
          <p:cNvCxnSpPr>
            <a:stCxn id="127" idx="3"/>
            <a:endCxn id="25" idx="1"/>
          </p:cNvCxnSpPr>
          <p:nvPr/>
        </p:nvCxnSpPr>
        <p:spPr>
          <a:xfrm flipV="1">
            <a:off x="2600283" y="1098872"/>
            <a:ext cx="1626842" cy="631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06" name="Image 20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74575" y="904167"/>
            <a:ext cx="395630" cy="395630"/>
          </a:xfrm>
          <a:prstGeom prst="rect">
            <a:avLst/>
          </a:prstGeom>
        </p:spPr>
      </p:pic>
      <p:pic>
        <p:nvPicPr>
          <p:cNvPr id="211" name="Image 210"/>
          <p:cNvPicPr>
            <a:picLocks noChangeAspect="1"/>
          </p:cNvPicPr>
          <p:nvPr/>
        </p:nvPicPr>
        <p:blipFill rotWithShape="1">
          <a:blip r:embed="rId8" cstate="print">
            <a:extLst>
              <a:ext uri="{28A0092B-C50C-407E-A947-70E740481C1C}">
                <a14:useLocalDpi xmlns:a14="http://schemas.microsoft.com/office/drawing/2010/main" val="0"/>
              </a:ext>
            </a:extLst>
          </a:blip>
          <a:srcRect t="19634"/>
          <a:stretch/>
        </p:blipFill>
        <p:spPr>
          <a:xfrm>
            <a:off x="6157915" y="641587"/>
            <a:ext cx="512161" cy="411603"/>
          </a:xfrm>
          <a:prstGeom prst="rect">
            <a:avLst/>
          </a:prstGeom>
        </p:spPr>
      </p:pic>
      <p:pic>
        <p:nvPicPr>
          <p:cNvPr id="212" name="Image 2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74888" y="794231"/>
            <a:ext cx="268346" cy="268346"/>
          </a:xfrm>
          <a:prstGeom prst="rect">
            <a:avLst/>
          </a:prstGeom>
        </p:spPr>
      </p:pic>
      <p:pic>
        <p:nvPicPr>
          <p:cNvPr id="213" name="Image 2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489782" y="1287929"/>
            <a:ext cx="251321" cy="262460"/>
          </a:xfrm>
          <a:prstGeom prst="rect">
            <a:avLst/>
          </a:prstGeom>
        </p:spPr>
      </p:pic>
      <p:pic>
        <p:nvPicPr>
          <p:cNvPr id="219" name="Image 2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166564" y="1319095"/>
            <a:ext cx="231495" cy="221217"/>
          </a:xfrm>
          <a:prstGeom prst="rect">
            <a:avLst/>
          </a:prstGeom>
        </p:spPr>
      </p:pic>
      <p:cxnSp>
        <p:nvCxnSpPr>
          <p:cNvPr id="221" name="Connecteur droit avec flèche 220"/>
          <p:cNvCxnSpPr/>
          <p:nvPr/>
        </p:nvCxnSpPr>
        <p:spPr>
          <a:xfrm flipV="1">
            <a:off x="4687466" y="1096564"/>
            <a:ext cx="481928" cy="4097"/>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2" name="Connecteur droit avec flèche 351"/>
          <p:cNvCxnSpPr/>
          <p:nvPr/>
        </p:nvCxnSpPr>
        <p:spPr>
          <a:xfrm flipV="1">
            <a:off x="5697438" y="861076"/>
            <a:ext cx="367001" cy="23548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4" name="Connecteur droit avec flèche 353"/>
          <p:cNvCxnSpPr/>
          <p:nvPr/>
        </p:nvCxnSpPr>
        <p:spPr>
          <a:xfrm>
            <a:off x="5689158" y="1105187"/>
            <a:ext cx="425560" cy="248047"/>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3" name="Connecteur droit avec flèche 372"/>
          <p:cNvCxnSpPr/>
          <p:nvPr/>
        </p:nvCxnSpPr>
        <p:spPr>
          <a:xfrm flipV="1">
            <a:off x="5067988" y="2576389"/>
            <a:ext cx="1351482" cy="5618"/>
          </a:xfrm>
          <a:prstGeom prst="straightConnector1">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390" name="Image 38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02790" y="3897643"/>
            <a:ext cx="295778" cy="295778"/>
          </a:xfrm>
          <a:prstGeom prst="rect">
            <a:avLst/>
          </a:prstGeom>
        </p:spPr>
      </p:pic>
      <p:cxnSp>
        <p:nvCxnSpPr>
          <p:cNvPr id="392" name="Connecteur droit avec flèche 391"/>
          <p:cNvCxnSpPr>
            <a:endCxn id="390" idx="1"/>
          </p:cNvCxnSpPr>
          <p:nvPr/>
        </p:nvCxnSpPr>
        <p:spPr>
          <a:xfrm>
            <a:off x="5614913" y="4043230"/>
            <a:ext cx="887877" cy="230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6" name="Groupe 5"/>
          <p:cNvGrpSpPr/>
          <p:nvPr/>
        </p:nvGrpSpPr>
        <p:grpSpPr>
          <a:xfrm>
            <a:off x="5833771" y="3444884"/>
            <a:ext cx="444551" cy="1187979"/>
            <a:chOff x="7967206" y="4593179"/>
            <a:chExt cx="592735" cy="1583972"/>
          </a:xfrm>
          <a:solidFill>
            <a:schemeClr val="bg1"/>
          </a:solidFill>
        </p:grpSpPr>
        <p:sp>
          <p:nvSpPr>
            <p:cNvPr id="5" name="Rectangle 4"/>
            <p:cNvSpPr/>
            <p:nvPr/>
          </p:nvSpPr>
          <p:spPr>
            <a:xfrm>
              <a:off x="7967206" y="4593179"/>
              <a:ext cx="592735" cy="1583972"/>
            </a:xfrm>
            <a:prstGeom prst="rect">
              <a:avLst/>
            </a:prstGeom>
            <a:grpFill/>
            <a:ln w="38100">
              <a:solidFill>
                <a:srgbClr val="5770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12" name="Image 1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36193" y="4675070"/>
              <a:ext cx="480473" cy="451617"/>
            </a:xfrm>
            <a:prstGeom prst="rect">
              <a:avLst/>
            </a:prstGeom>
            <a:grpFill/>
          </p:spPr>
        </p:pic>
        <p:pic>
          <p:nvPicPr>
            <p:cNvPr id="113" name="Image 11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033185" y="5148200"/>
              <a:ext cx="473930" cy="473930"/>
            </a:xfrm>
            <a:prstGeom prst="rect">
              <a:avLst/>
            </a:prstGeom>
            <a:grpFill/>
          </p:spPr>
        </p:pic>
        <p:pic>
          <p:nvPicPr>
            <p:cNvPr id="387" name="Image 38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071326" y="5707896"/>
              <a:ext cx="397649" cy="397649"/>
            </a:xfrm>
            <a:prstGeom prst="rect">
              <a:avLst/>
            </a:prstGeom>
            <a:grpFill/>
          </p:spPr>
        </p:pic>
      </p:grpSp>
      <p:cxnSp>
        <p:nvCxnSpPr>
          <p:cNvPr id="11" name="Connecteur droit avec flèche 10"/>
          <p:cNvCxnSpPr>
            <a:endCxn id="163" idx="1"/>
          </p:cNvCxnSpPr>
          <p:nvPr/>
        </p:nvCxnSpPr>
        <p:spPr>
          <a:xfrm flipV="1">
            <a:off x="4648610" y="4043229"/>
            <a:ext cx="698175" cy="46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Groupe 79"/>
          <p:cNvGrpSpPr/>
          <p:nvPr/>
        </p:nvGrpSpPr>
        <p:grpSpPr>
          <a:xfrm>
            <a:off x="5221919" y="892578"/>
            <a:ext cx="421157" cy="412588"/>
            <a:chOff x="6991703" y="1205555"/>
            <a:chExt cx="561542" cy="550117"/>
          </a:xfrm>
        </p:grpSpPr>
        <p:pic>
          <p:nvPicPr>
            <p:cNvPr id="205" name="Image 20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055953" y="1265960"/>
              <a:ext cx="430253" cy="431095"/>
            </a:xfrm>
            <a:prstGeom prst="rect">
              <a:avLst/>
            </a:prstGeom>
          </p:spPr>
        </p:pic>
        <p:sp>
          <p:nvSpPr>
            <p:cNvPr id="159" name="Rectangle à coins arrondis 158"/>
            <p:cNvSpPr/>
            <p:nvPr/>
          </p:nvSpPr>
          <p:spPr>
            <a:xfrm>
              <a:off x="6991703" y="1205555"/>
              <a:ext cx="561542" cy="550117"/>
            </a:xfrm>
            <a:prstGeom prst="roundRect">
              <a:avLst>
                <a:gd name="adj" fmla="val 4135"/>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7" name="Groupe 6"/>
          <p:cNvGrpSpPr/>
          <p:nvPr/>
        </p:nvGrpSpPr>
        <p:grpSpPr>
          <a:xfrm>
            <a:off x="5346786" y="3908211"/>
            <a:ext cx="270103" cy="270037"/>
            <a:chOff x="6991105" y="5205597"/>
            <a:chExt cx="457070" cy="458166"/>
          </a:xfrm>
        </p:grpSpPr>
        <p:pic>
          <p:nvPicPr>
            <p:cNvPr id="3" name="Image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049798" y="5246618"/>
              <a:ext cx="384273" cy="384273"/>
            </a:xfrm>
            <a:prstGeom prst="rect">
              <a:avLst/>
            </a:prstGeom>
          </p:spPr>
        </p:pic>
        <p:sp>
          <p:nvSpPr>
            <p:cNvPr id="163" name="Rectangle à coins arrondis 162"/>
            <p:cNvSpPr/>
            <p:nvPr/>
          </p:nvSpPr>
          <p:spPr>
            <a:xfrm>
              <a:off x="6991105" y="5205597"/>
              <a:ext cx="457070" cy="458166"/>
            </a:xfrm>
            <a:prstGeom prst="roundRect">
              <a:avLst>
                <a:gd name="adj" fmla="val 4444"/>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pic>
        <p:nvPicPr>
          <p:cNvPr id="118" name="Image 117"/>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314370" y="2378723"/>
            <a:ext cx="340447" cy="369101"/>
          </a:xfrm>
          <a:prstGeom prst="rect">
            <a:avLst/>
          </a:prstGeom>
        </p:spPr>
      </p:pic>
      <p:pic>
        <p:nvPicPr>
          <p:cNvPr id="124" name="Image 1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4096" y="2243103"/>
            <a:ext cx="288430" cy="293133"/>
          </a:xfrm>
          <a:prstGeom prst="rect">
            <a:avLst/>
          </a:prstGeom>
        </p:spPr>
      </p:pic>
      <p:grpSp>
        <p:nvGrpSpPr>
          <p:cNvPr id="30" name="Groupe 29"/>
          <p:cNvGrpSpPr/>
          <p:nvPr/>
        </p:nvGrpSpPr>
        <p:grpSpPr>
          <a:xfrm>
            <a:off x="3797815" y="2624416"/>
            <a:ext cx="288731" cy="275919"/>
            <a:chOff x="3797815" y="2624416"/>
            <a:chExt cx="288731" cy="275919"/>
          </a:xfrm>
        </p:grpSpPr>
        <p:pic>
          <p:nvPicPr>
            <p:cNvPr id="161" name="Image 160"/>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844769" y="2647432"/>
              <a:ext cx="227084" cy="226485"/>
            </a:xfrm>
            <a:prstGeom prst="rect">
              <a:avLst/>
            </a:prstGeom>
          </p:spPr>
        </p:pic>
        <p:sp>
          <p:nvSpPr>
            <p:cNvPr id="165" name="Rectangle à coins arrondis 164"/>
            <p:cNvSpPr/>
            <p:nvPr/>
          </p:nvSpPr>
          <p:spPr>
            <a:xfrm>
              <a:off x="3797815" y="2624416"/>
              <a:ext cx="288731" cy="275919"/>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pic>
        <p:nvPicPr>
          <p:cNvPr id="2" name="Image 1"/>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25896" y="2249640"/>
            <a:ext cx="314837" cy="314837"/>
          </a:xfrm>
          <a:prstGeom prst="rect">
            <a:avLst/>
          </a:prstGeom>
        </p:spPr>
      </p:pic>
      <p:grpSp>
        <p:nvGrpSpPr>
          <p:cNvPr id="38" name="Groupe 37"/>
          <p:cNvGrpSpPr/>
          <p:nvPr/>
        </p:nvGrpSpPr>
        <p:grpSpPr>
          <a:xfrm>
            <a:off x="5361285" y="2628698"/>
            <a:ext cx="288731" cy="275919"/>
            <a:chOff x="5361285" y="2628698"/>
            <a:chExt cx="288731" cy="275919"/>
          </a:xfrm>
        </p:grpSpPr>
        <p:pic>
          <p:nvPicPr>
            <p:cNvPr id="164" name="Image 16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404660" y="2654460"/>
              <a:ext cx="227083" cy="226485"/>
            </a:xfrm>
            <a:prstGeom prst="rect">
              <a:avLst/>
            </a:prstGeom>
          </p:spPr>
        </p:pic>
        <p:sp>
          <p:nvSpPr>
            <p:cNvPr id="170" name="Rectangle à coins arrondis 169"/>
            <p:cNvSpPr/>
            <p:nvPr/>
          </p:nvSpPr>
          <p:spPr>
            <a:xfrm>
              <a:off x="5361285" y="2628698"/>
              <a:ext cx="288731" cy="275919"/>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82" name="Groupe 81"/>
          <p:cNvGrpSpPr/>
          <p:nvPr/>
        </p:nvGrpSpPr>
        <p:grpSpPr>
          <a:xfrm>
            <a:off x="5916613" y="2427694"/>
            <a:ext cx="288731" cy="275919"/>
            <a:chOff x="7246622" y="3483029"/>
            <a:chExt cx="384975" cy="367892"/>
          </a:xfrm>
          <a:solidFill>
            <a:schemeClr val="bg1"/>
          </a:solidFill>
        </p:grpSpPr>
        <p:sp>
          <p:nvSpPr>
            <p:cNvPr id="172" name="Rectangle à coins arrondis 171"/>
            <p:cNvSpPr/>
            <p:nvPr/>
          </p:nvSpPr>
          <p:spPr>
            <a:xfrm>
              <a:off x="7246622" y="3483029"/>
              <a:ext cx="384975" cy="367892"/>
            </a:xfrm>
            <a:prstGeom prst="roundRect">
              <a:avLst>
                <a:gd name="adj" fmla="val 4135"/>
              </a:avLst>
            </a:prstGeom>
            <a:grp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81" name="Image 80"/>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278978" y="3511465"/>
              <a:ext cx="305282" cy="305282"/>
            </a:xfrm>
            <a:prstGeom prst="rect">
              <a:avLst/>
            </a:prstGeom>
            <a:grpFill/>
          </p:spPr>
        </p:pic>
      </p:grpSp>
      <p:grpSp>
        <p:nvGrpSpPr>
          <p:cNvPr id="97" name="Groupe 96"/>
          <p:cNvGrpSpPr/>
          <p:nvPr/>
        </p:nvGrpSpPr>
        <p:grpSpPr>
          <a:xfrm>
            <a:off x="4359289" y="3909875"/>
            <a:ext cx="288731" cy="275919"/>
            <a:chOff x="5728552" y="5201841"/>
            <a:chExt cx="384975" cy="367892"/>
          </a:xfrm>
        </p:grpSpPr>
        <p:pic>
          <p:nvPicPr>
            <p:cNvPr id="174" name="Image 17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791157" y="5232529"/>
              <a:ext cx="302778" cy="301980"/>
            </a:xfrm>
            <a:prstGeom prst="rect">
              <a:avLst/>
            </a:prstGeom>
          </p:spPr>
        </p:pic>
        <p:sp>
          <p:nvSpPr>
            <p:cNvPr id="175" name="Rectangle à coins arrondis 174"/>
            <p:cNvSpPr/>
            <p:nvPr/>
          </p:nvSpPr>
          <p:spPr>
            <a:xfrm>
              <a:off x="5728552" y="5201841"/>
              <a:ext cx="384975" cy="367892"/>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187" name="Groupe 186"/>
          <p:cNvGrpSpPr/>
          <p:nvPr/>
        </p:nvGrpSpPr>
        <p:grpSpPr>
          <a:xfrm>
            <a:off x="2538666" y="3909875"/>
            <a:ext cx="288731" cy="275919"/>
            <a:chOff x="5728552" y="5201841"/>
            <a:chExt cx="384975" cy="367892"/>
          </a:xfrm>
        </p:grpSpPr>
        <p:pic>
          <p:nvPicPr>
            <p:cNvPr id="188" name="Image 18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791157" y="5232529"/>
              <a:ext cx="302778" cy="301980"/>
            </a:xfrm>
            <a:prstGeom prst="rect">
              <a:avLst/>
            </a:prstGeom>
          </p:spPr>
        </p:pic>
        <p:sp>
          <p:nvSpPr>
            <p:cNvPr id="189" name="Rectangle à coins arrondis 188"/>
            <p:cNvSpPr/>
            <p:nvPr/>
          </p:nvSpPr>
          <p:spPr>
            <a:xfrm>
              <a:off x="5728552" y="5201841"/>
              <a:ext cx="384975" cy="367892"/>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122" name="Groupe 121"/>
          <p:cNvGrpSpPr/>
          <p:nvPr/>
        </p:nvGrpSpPr>
        <p:grpSpPr>
          <a:xfrm>
            <a:off x="4798197" y="3650982"/>
            <a:ext cx="339302" cy="779059"/>
            <a:chOff x="6380302" y="4979918"/>
            <a:chExt cx="452402" cy="1038745"/>
          </a:xfrm>
        </p:grpSpPr>
        <p:grpSp>
          <p:nvGrpSpPr>
            <p:cNvPr id="86" name="Groupe 85"/>
            <p:cNvGrpSpPr/>
            <p:nvPr/>
          </p:nvGrpSpPr>
          <p:grpSpPr>
            <a:xfrm>
              <a:off x="6380302" y="4979918"/>
              <a:ext cx="452402" cy="1038745"/>
              <a:chOff x="5747987" y="4932138"/>
              <a:chExt cx="517334" cy="1211139"/>
            </a:xfrm>
            <a:solidFill>
              <a:schemeClr val="bg1"/>
            </a:solidFill>
          </p:grpSpPr>
          <p:sp>
            <p:nvSpPr>
              <p:cNvPr id="399" name="Rectangle à coins arrondis 398"/>
              <p:cNvSpPr/>
              <p:nvPr/>
            </p:nvSpPr>
            <p:spPr>
              <a:xfrm>
                <a:off x="5747987" y="4932138"/>
                <a:ext cx="517334" cy="1211139"/>
              </a:xfrm>
              <a:prstGeom prst="roundRect">
                <a:avLst>
                  <a:gd name="adj" fmla="val 4135"/>
                </a:avLst>
              </a:prstGeom>
              <a:grp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403" name="Image 40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34150" y="5004217"/>
                <a:ext cx="343531" cy="372289"/>
              </a:xfrm>
              <a:prstGeom prst="rect">
                <a:avLst/>
              </a:prstGeom>
              <a:grpFill/>
            </p:spPr>
          </p:pic>
          <p:pic>
            <p:nvPicPr>
              <p:cNvPr id="405" name="Image 404"/>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832235" y="5787897"/>
                <a:ext cx="327102" cy="302870"/>
              </a:xfrm>
              <a:prstGeom prst="rect">
                <a:avLst/>
              </a:prstGeom>
              <a:grpFill/>
            </p:spPr>
          </p:pic>
        </p:grpSp>
        <p:pic>
          <p:nvPicPr>
            <p:cNvPr id="202" name="Image 201"/>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450457" y="5385165"/>
              <a:ext cx="305282" cy="305282"/>
            </a:xfrm>
            <a:prstGeom prst="rect">
              <a:avLst/>
            </a:prstGeom>
            <a:solidFill>
              <a:schemeClr val="bg1"/>
            </a:solidFill>
          </p:spPr>
        </p:pic>
      </p:grpSp>
      <p:grpSp>
        <p:nvGrpSpPr>
          <p:cNvPr id="248" name="Groupe 247"/>
          <p:cNvGrpSpPr/>
          <p:nvPr/>
        </p:nvGrpSpPr>
        <p:grpSpPr>
          <a:xfrm>
            <a:off x="4677659" y="2108714"/>
            <a:ext cx="350449" cy="959009"/>
            <a:chOff x="6293873" y="2824670"/>
            <a:chExt cx="467265" cy="1278679"/>
          </a:xfrm>
        </p:grpSpPr>
        <p:grpSp>
          <p:nvGrpSpPr>
            <p:cNvPr id="22" name="Groupe 21"/>
            <p:cNvGrpSpPr/>
            <p:nvPr/>
          </p:nvGrpSpPr>
          <p:grpSpPr>
            <a:xfrm>
              <a:off x="6293873" y="3672371"/>
              <a:ext cx="467265" cy="430978"/>
              <a:chOff x="6153692" y="3020196"/>
              <a:chExt cx="510261" cy="470521"/>
            </a:xfrm>
          </p:grpSpPr>
          <p:sp>
            <p:nvSpPr>
              <p:cNvPr id="135" name="Rectangle à coins arrondis 134"/>
              <p:cNvSpPr/>
              <p:nvPr/>
            </p:nvSpPr>
            <p:spPr>
              <a:xfrm>
                <a:off x="6153692" y="3020196"/>
                <a:ext cx="510261" cy="470521"/>
              </a:xfrm>
              <a:prstGeom prst="roundRect">
                <a:avLst>
                  <a:gd name="adj" fmla="val 4135"/>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54" name="Image 1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31173" y="3071840"/>
                <a:ext cx="343531" cy="372289"/>
              </a:xfrm>
              <a:prstGeom prst="rect">
                <a:avLst/>
              </a:prstGeom>
            </p:spPr>
          </p:pic>
        </p:grpSp>
        <p:grpSp>
          <p:nvGrpSpPr>
            <p:cNvPr id="23" name="Groupe 22"/>
            <p:cNvGrpSpPr/>
            <p:nvPr/>
          </p:nvGrpSpPr>
          <p:grpSpPr>
            <a:xfrm>
              <a:off x="6293873" y="2824670"/>
              <a:ext cx="467265" cy="430978"/>
              <a:chOff x="5335837" y="3147794"/>
              <a:chExt cx="510261" cy="470521"/>
            </a:xfrm>
          </p:grpSpPr>
          <p:sp>
            <p:nvSpPr>
              <p:cNvPr id="156" name="Rectangle à coins arrondis 155"/>
              <p:cNvSpPr/>
              <p:nvPr/>
            </p:nvSpPr>
            <p:spPr>
              <a:xfrm>
                <a:off x="5335837" y="3147794"/>
                <a:ext cx="510261" cy="470521"/>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57" name="Image 15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21043" y="3209119"/>
                <a:ext cx="319064" cy="345531"/>
              </a:xfrm>
              <a:prstGeom prst="rect">
                <a:avLst/>
              </a:prstGeom>
            </p:spPr>
          </p:pic>
        </p:grpSp>
      </p:grpSp>
      <p:cxnSp>
        <p:nvCxnSpPr>
          <p:cNvPr id="253" name="Connecteur droit avec flèche 252"/>
          <p:cNvCxnSpPr>
            <a:stCxn id="135" idx="0"/>
            <a:endCxn id="156" idx="2"/>
          </p:cNvCxnSpPr>
          <p:nvPr/>
        </p:nvCxnSpPr>
        <p:spPr>
          <a:xfrm flipV="1">
            <a:off x="4852883" y="2431948"/>
            <a:ext cx="0" cy="31254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5" name="Connecteur en arc 254"/>
          <p:cNvCxnSpPr>
            <a:stCxn id="135" idx="2"/>
            <a:endCxn id="172" idx="2"/>
          </p:cNvCxnSpPr>
          <p:nvPr/>
        </p:nvCxnSpPr>
        <p:spPr>
          <a:xfrm rot="5400000" flipH="1" flipV="1">
            <a:off x="5274876" y="2281620"/>
            <a:ext cx="364110" cy="1208096"/>
          </a:xfrm>
          <a:prstGeom prst="curvedConnector3">
            <a:avLst>
              <a:gd name="adj1" fmla="val -2372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8" name="Titre 2"/>
          <p:cNvSpPr>
            <a:spLocks noGrp="1"/>
          </p:cNvSpPr>
          <p:nvPr>
            <p:ph type="title"/>
          </p:nvPr>
        </p:nvSpPr>
        <p:spPr>
          <a:xfrm>
            <a:off x="250606" y="215484"/>
            <a:ext cx="8030340" cy="605329"/>
          </a:xfrm>
        </p:spPr>
        <p:txBody>
          <a:bodyPr/>
          <a:lstStyle/>
          <a:p>
            <a:r>
              <a:rPr lang="fr-FR" sz="2800" dirty="0" err="1" smtClean="0"/>
              <a:t>What</a:t>
            </a:r>
            <a:r>
              <a:rPr lang="fr-FR" sz="2800" dirty="0" smtClean="0"/>
              <a:t> </a:t>
            </a:r>
            <a:r>
              <a:rPr lang="fr-FR" sz="2800" dirty="0" err="1" smtClean="0"/>
              <a:t>is</a:t>
            </a:r>
            <a:r>
              <a:rPr lang="fr-FR" sz="2800" dirty="0" smtClean="0"/>
              <a:t> </a:t>
            </a:r>
            <a:r>
              <a:rPr lang="fr-FR" sz="2800" dirty="0" err="1" smtClean="0"/>
              <a:t>modelled</a:t>
            </a:r>
            <a:r>
              <a:rPr lang="fr-FR" sz="2800" dirty="0" smtClean="0"/>
              <a:t> ?</a:t>
            </a:r>
            <a:endParaRPr lang="fr-FR" sz="2800" dirty="0"/>
          </a:p>
        </p:txBody>
      </p:sp>
      <p:sp>
        <p:nvSpPr>
          <p:cNvPr id="155"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grpSp>
        <p:nvGrpSpPr>
          <p:cNvPr id="181" name="Groupe 180"/>
          <p:cNvGrpSpPr/>
          <p:nvPr/>
        </p:nvGrpSpPr>
        <p:grpSpPr>
          <a:xfrm>
            <a:off x="2172920" y="3908216"/>
            <a:ext cx="290657" cy="275663"/>
            <a:chOff x="3082487" y="5158166"/>
            <a:chExt cx="499463" cy="469467"/>
          </a:xfrm>
        </p:grpSpPr>
        <p:pic>
          <p:nvPicPr>
            <p:cNvPr id="182" name="Image 18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128610" y="5259703"/>
              <a:ext cx="411851" cy="261697"/>
            </a:xfrm>
            <a:prstGeom prst="rect">
              <a:avLst/>
            </a:prstGeom>
          </p:spPr>
        </p:pic>
        <p:sp>
          <p:nvSpPr>
            <p:cNvPr id="183" name="Rectangle à coins arrondis 182"/>
            <p:cNvSpPr/>
            <p:nvPr/>
          </p:nvSpPr>
          <p:spPr>
            <a:xfrm>
              <a:off x="3082487" y="5158166"/>
              <a:ext cx="499463" cy="469467"/>
            </a:xfrm>
            <a:prstGeom prst="roundRect">
              <a:avLst>
                <a:gd name="adj" fmla="val 6548"/>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184" name="Groupe 183"/>
          <p:cNvGrpSpPr/>
          <p:nvPr/>
        </p:nvGrpSpPr>
        <p:grpSpPr>
          <a:xfrm>
            <a:off x="6467763" y="2625306"/>
            <a:ext cx="288731" cy="275919"/>
            <a:chOff x="8614144" y="3432836"/>
            <a:chExt cx="384975" cy="367892"/>
          </a:xfrm>
        </p:grpSpPr>
        <p:pic>
          <p:nvPicPr>
            <p:cNvPr id="185" name="Image 184"/>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629613" y="3460469"/>
              <a:ext cx="332775" cy="302869"/>
            </a:xfrm>
            <a:prstGeom prst="rect">
              <a:avLst/>
            </a:prstGeom>
          </p:spPr>
        </p:pic>
        <p:sp>
          <p:nvSpPr>
            <p:cNvPr id="186" name="Rectangle à coins arrondis 185"/>
            <p:cNvSpPr/>
            <p:nvPr/>
          </p:nvSpPr>
          <p:spPr>
            <a:xfrm>
              <a:off x="8614144" y="3432836"/>
              <a:ext cx="384975" cy="367892"/>
            </a:xfrm>
            <a:prstGeom prst="roundRect">
              <a:avLst>
                <a:gd name="adj" fmla="val 4135"/>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grpSp>
        <p:nvGrpSpPr>
          <p:cNvPr id="190" name="Groupe 189"/>
          <p:cNvGrpSpPr/>
          <p:nvPr/>
        </p:nvGrpSpPr>
        <p:grpSpPr>
          <a:xfrm>
            <a:off x="6460823" y="2237396"/>
            <a:ext cx="288731" cy="275919"/>
            <a:chOff x="8617125" y="3026690"/>
            <a:chExt cx="384975" cy="367892"/>
          </a:xfrm>
        </p:grpSpPr>
        <p:pic>
          <p:nvPicPr>
            <p:cNvPr id="191" name="Image 190"/>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634231" y="3049416"/>
              <a:ext cx="323537" cy="305739"/>
            </a:xfrm>
            <a:prstGeom prst="rect">
              <a:avLst/>
            </a:prstGeom>
          </p:spPr>
        </p:pic>
        <p:sp>
          <p:nvSpPr>
            <p:cNvPr id="192" name="Rectangle à coins arrondis 191"/>
            <p:cNvSpPr/>
            <p:nvPr/>
          </p:nvSpPr>
          <p:spPr>
            <a:xfrm>
              <a:off x="8617125" y="3026690"/>
              <a:ext cx="384975" cy="367892"/>
            </a:xfrm>
            <a:prstGeom prst="roundRect">
              <a:avLst>
                <a:gd name="adj" fmla="val 4135"/>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cxnSp>
        <p:nvCxnSpPr>
          <p:cNvPr id="196" name="Connecteur en angle 195"/>
          <p:cNvCxnSpPr/>
          <p:nvPr/>
        </p:nvCxnSpPr>
        <p:spPr>
          <a:xfrm rot="5400000">
            <a:off x="4502022" y="2898151"/>
            <a:ext cx="1005259" cy="1001996"/>
          </a:xfrm>
          <a:prstGeom prst="bentConnector3">
            <a:avLst>
              <a:gd name="adj1" fmla="val 41010"/>
            </a:avLst>
          </a:prstGeom>
          <a:ln w="127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Connecteur droit avec flèche 196"/>
          <p:cNvCxnSpPr/>
          <p:nvPr/>
        </p:nvCxnSpPr>
        <p:spPr>
          <a:xfrm>
            <a:off x="2827397" y="4054770"/>
            <a:ext cx="1531892" cy="0"/>
          </a:xfrm>
          <a:prstGeom prst="straightConnector1">
            <a:avLst/>
          </a:prstGeom>
          <a:ln w="127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Connecteur en angle 197"/>
          <p:cNvCxnSpPr/>
          <p:nvPr/>
        </p:nvCxnSpPr>
        <p:spPr>
          <a:xfrm rot="16200000" flipH="1">
            <a:off x="3570172" y="3265751"/>
            <a:ext cx="1147500" cy="417108"/>
          </a:xfrm>
          <a:prstGeom prst="bentConnector2">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8353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fade">
                                      <p:cBhvr>
                                        <p:cTn id="15" dur="500"/>
                                        <p:tgtEl>
                                          <p:spTgt spid="9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6"/>
                                        </p:tgtEl>
                                        <p:attrNameLst>
                                          <p:attrName>style.visibility</p:attrName>
                                        </p:attrNameLst>
                                      </p:cBhvr>
                                      <p:to>
                                        <p:strVal val="visible"/>
                                      </p:to>
                                    </p:set>
                                    <p:animEffect transition="in" filter="fade">
                                      <p:cBhvr>
                                        <p:cTn id="18" dur="500"/>
                                        <p:tgtEl>
                                          <p:spTgt spid="16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1"/>
                                        </p:tgtEl>
                                        <p:attrNameLst>
                                          <p:attrName>style.visibility</p:attrName>
                                        </p:attrNameLst>
                                      </p:cBhvr>
                                      <p:to>
                                        <p:strVal val="visible"/>
                                      </p:to>
                                    </p:set>
                                    <p:animEffect transition="in" filter="fade">
                                      <p:cBhvr>
                                        <p:cTn id="23" dur="500"/>
                                        <p:tgtEl>
                                          <p:spTgt spid="181"/>
                                        </p:tgtEl>
                                      </p:cBhvr>
                                    </p:animEffect>
                                  </p:childTnLst>
                                </p:cTn>
                              </p:par>
                              <p:par>
                                <p:cTn id="24" presetID="10" presetClass="entr" presetSubtype="0" fill="hold" nodeType="withEffect">
                                  <p:stCondLst>
                                    <p:cond delay="0"/>
                                  </p:stCondLst>
                                  <p:childTnLst>
                                    <p:set>
                                      <p:cBhvr>
                                        <p:cTn id="25" dur="1" fill="hold">
                                          <p:stCondLst>
                                            <p:cond delay="0"/>
                                          </p:stCondLst>
                                        </p:cTn>
                                        <p:tgtEl>
                                          <p:spTgt spid="89"/>
                                        </p:tgtEl>
                                        <p:attrNameLst>
                                          <p:attrName>style.visibility</p:attrName>
                                        </p:attrNameLst>
                                      </p:cBhvr>
                                      <p:to>
                                        <p:strVal val="visible"/>
                                      </p:to>
                                    </p:set>
                                    <p:animEffect transition="in" filter="fade">
                                      <p:cBhvr>
                                        <p:cTn id="26" dur="500"/>
                                        <p:tgtEl>
                                          <p:spTgt spid="8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fade">
                                      <p:cBhvr>
                                        <p:cTn id="29" dur="500"/>
                                        <p:tgtEl>
                                          <p:spTgt spid="9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fade">
                                      <p:cBhvr>
                                        <p:cTn id="34" dur="500"/>
                                        <p:tgtEl>
                                          <p:spTgt spid="10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8"/>
                                        </p:tgtEl>
                                        <p:attrNameLst>
                                          <p:attrName>style.visibility</p:attrName>
                                        </p:attrNameLst>
                                      </p:cBhvr>
                                      <p:to>
                                        <p:strVal val="visible"/>
                                      </p:to>
                                    </p:set>
                                    <p:animEffect transition="in" filter="fade">
                                      <p:cBhvr>
                                        <p:cTn id="39" dur="500"/>
                                        <p:tgtEl>
                                          <p:spTgt spid="158"/>
                                        </p:tgtEl>
                                      </p:cBhvr>
                                    </p:animEffect>
                                  </p:childTnLst>
                                </p:cTn>
                              </p:par>
                              <p:par>
                                <p:cTn id="40" presetID="10" presetClass="entr" presetSubtype="0" fill="hold" nodeType="withEffect">
                                  <p:stCondLst>
                                    <p:cond delay="0"/>
                                  </p:stCondLst>
                                  <p:childTnLst>
                                    <p:set>
                                      <p:cBhvr>
                                        <p:cTn id="41" dur="1" fill="hold">
                                          <p:stCondLst>
                                            <p:cond delay="0"/>
                                          </p:stCondLst>
                                        </p:cTn>
                                        <p:tgtEl>
                                          <p:spTgt spid="137"/>
                                        </p:tgtEl>
                                        <p:attrNameLst>
                                          <p:attrName>style.visibility</p:attrName>
                                        </p:attrNameLst>
                                      </p:cBhvr>
                                      <p:to>
                                        <p:strVal val="visible"/>
                                      </p:to>
                                    </p:set>
                                    <p:animEffect transition="in" filter="fade">
                                      <p:cBhvr>
                                        <p:cTn id="42" dur="500"/>
                                        <p:tgtEl>
                                          <p:spTgt spid="13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7"/>
                                        </p:tgtEl>
                                        <p:attrNameLst>
                                          <p:attrName>style.visibility</p:attrName>
                                        </p:attrNameLst>
                                      </p:cBhvr>
                                      <p:to>
                                        <p:strVal val="visible"/>
                                      </p:to>
                                    </p:set>
                                    <p:animEffect transition="in" filter="fade">
                                      <p:cBhvr>
                                        <p:cTn id="45" dur="500"/>
                                        <p:tgtEl>
                                          <p:spTgt spid="16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62"/>
                                        </p:tgtEl>
                                        <p:attrNameLst>
                                          <p:attrName>style.visibility</p:attrName>
                                        </p:attrNameLst>
                                      </p:cBhvr>
                                      <p:to>
                                        <p:strVal val="visible"/>
                                      </p:to>
                                    </p:set>
                                    <p:animEffect transition="in" filter="fade">
                                      <p:cBhvr>
                                        <p:cTn id="50" dur="500"/>
                                        <p:tgtEl>
                                          <p:spTgt spid="162"/>
                                        </p:tgtEl>
                                      </p:cBhvr>
                                    </p:animEffect>
                                  </p:childTnLst>
                                </p:cTn>
                              </p:par>
                              <p:par>
                                <p:cTn id="51" presetID="10" presetClass="entr" presetSubtype="0" fill="hold" nodeType="withEffect">
                                  <p:stCondLst>
                                    <p:cond delay="0"/>
                                  </p:stCondLst>
                                  <p:childTnLst>
                                    <p:set>
                                      <p:cBhvr>
                                        <p:cTn id="52" dur="1" fill="hold">
                                          <p:stCondLst>
                                            <p:cond delay="0"/>
                                          </p:stCondLst>
                                        </p:cTn>
                                        <p:tgtEl>
                                          <p:spTgt spid="124"/>
                                        </p:tgtEl>
                                        <p:attrNameLst>
                                          <p:attrName>style.visibility</p:attrName>
                                        </p:attrNameLst>
                                      </p:cBhvr>
                                      <p:to>
                                        <p:strVal val="visible"/>
                                      </p:to>
                                    </p:set>
                                    <p:animEffect transition="in" filter="fade">
                                      <p:cBhvr>
                                        <p:cTn id="53" dur="500"/>
                                        <p:tgtEl>
                                          <p:spTgt spid="1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18"/>
                                        </p:tgtEl>
                                        <p:attrNameLst>
                                          <p:attrName>style.visibility</p:attrName>
                                        </p:attrNameLst>
                                      </p:cBhvr>
                                      <p:to>
                                        <p:strVal val="visible"/>
                                      </p:to>
                                    </p:set>
                                    <p:animEffect transition="in" filter="fade">
                                      <p:cBhvr>
                                        <p:cTn id="58" dur="500"/>
                                        <p:tgtEl>
                                          <p:spTgt spid="1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53"/>
                                        </p:tgtEl>
                                        <p:attrNameLst>
                                          <p:attrName>style.visibility</p:attrName>
                                        </p:attrNameLst>
                                      </p:cBhvr>
                                      <p:to>
                                        <p:strVal val="visible"/>
                                      </p:to>
                                    </p:set>
                                    <p:animEffect transition="in" filter="fade">
                                      <p:cBhvr>
                                        <p:cTn id="63" dur="500"/>
                                        <p:tgtEl>
                                          <p:spTgt spid="253"/>
                                        </p:tgtEl>
                                      </p:cBhvr>
                                    </p:animEffect>
                                  </p:childTnLst>
                                </p:cTn>
                              </p:par>
                              <p:par>
                                <p:cTn id="64" presetID="10" presetClass="entr" presetSubtype="0" fill="hold" nodeType="withEffect">
                                  <p:stCondLst>
                                    <p:cond delay="0"/>
                                  </p:stCondLst>
                                  <p:childTnLst>
                                    <p:set>
                                      <p:cBhvr>
                                        <p:cTn id="65" dur="1" fill="hold">
                                          <p:stCondLst>
                                            <p:cond delay="0"/>
                                          </p:stCondLst>
                                        </p:cTn>
                                        <p:tgtEl>
                                          <p:spTgt spid="248"/>
                                        </p:tgtEl>
                                        <p:attrNameLst>
                                          <p:attrName>style.visibility</p:attrName>
                                        </p:attrNameLst>
                                      </p:cBhvr>
                                      <p:to>
                                        <p:strVal val="visible"/>
                                      </p:to>
                                    </p:set>
                                    <p:animEffect transition="in" filter="fade">
                                      <p:cBhvr>
                                        <p:cTn id="66" dur="500"/>
                                        <p:tgtEl>
                                          <p:spTgt spid="24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55"/>
                                        </p:tgtEl>
                                        <p:attrNameLst>
                                          <p:attrName>style.visibility</p:attrName>
                                        </p:attrNameLst>
                                      </p:cBhvr>
                                      <p:to>
                                        <p:strVal val="visible"/>
                                      </p:to>
                                    </p:set>
                                    <p:animEffect transition="in" filter="fade">
                                      <p:cBhvr>
                                        <p:cTn id="71" dur="500"/>
                                        <p:tgtEl>
                                          <p:spTgt spid="255"/>
                                        </p:tgtEl>
                                      </p:cBhvr>
                                    </p:animEffect>
                                  </p:childTnLst>
                                </p:cTn>
                              </p:par>
                              <p:par>
                                <p:cTn id="72" presetID="10" presetClass="entr" presetSubtype="0" fill="hold" nodeType="withEffect">
                                  <p:stCondLst>
                                    <p:cond delay="0"/>
                                  </p:stCondLst>
                                  <p:childTnLst>
                                    <p:set>
                                      <p:cBhvr>
                                        <p:cTn id="73" dur="1" fill="hold">
                                          <p:stCondLst>
                                            <p:cond delay="0"/>
                                          </p:stCondLst>
                                        </p:cTn>
                                        <p:tgtEl>
                                          <p:spTgt spid="82"/>
                                        </p:tgtEl>
                                        <p:attrNameLst>
                                          <p:attrName>style.visibility</p:attrName>
                                        </p:attrNameLst>
                                      </p:cBhvr>
                                      <p:to>
                                        <p:strVal val="visible"/>
                                      </p:to>
                                    </p:set>
                                    <p:animEffect transition="in" filter="fade">
                                      <p:cBhvr>
                                        <p:cTn id="74" dur="500"/>
                                        <p:tgtEl>
                                          <p:spTgt spid="8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fade">
                                      <p:cBhvr>
                                        <p:cTn id="79" dur="500"/>
                                        <p:tgtEl>
                                          <p:spTgt spid="2"/>
                                        </p:tgtEl>
                                      </p:cBhvr>
                                    </p:animEffect>
                                  </p:childTnLst>
                                </p:cTn>
                              </p:par>
                              <p:par>
                                <p:cTn id="80" presetID="10" presetClass="entr" presetSubtype="0" fill="hold" nodeType="withEffect">
                                  <p:stCondLst>
                                    <p:cond delay="0"/>
                                  </p:stCondLst>
                                  <p:childTnLst>
                                    <p:set>
                                      <p:cBhvr>
                                        <p:cTn id="81" dur="1" fill="hold">
                                          <p:stCondLst>
                                            <p:cond delay="0"/>
                                          </p:stCondLst>
                                        </p:cTn>
                                        <p:tgtEl>
                                          <p:spTgt spid="373"/>
                                        </p:tgtEl>
                                        <p:attrNameLst>
                                          <p:attrName>style.visibility</p:attrName>
                                        </p:attrNameLst>
                                      </p:cBhvr>
                                      <p:to>
                                        <p:strVal val="visible"/>
                                      </p:to>
                                    </p:set>
                                    <p:animEffect transition="in" filter="fade">
                                      <p:cBhvr>
                                        <p:cTn id="82" dur="500"/>
                                        <p:tgtEl>
                                          <p:spTgt spid="37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84"/>
                                        </p:tgtEl>
                                        <p:attrNameLst>
                                          <p:attrName>style.visibility</p:attrName>
                                        </p:attrNameLst>
                                      </p:cBhvr>
                                      <p:to>
                                        <p:strVal val="visible"/>
                                      </p:to>
                                    </p:set>
                                    <p:animEffect transition="in" filter="fade">
                                      <p:cBhvr>
                                        <p:cTn id="87" dur="500"/>
                                        <p:tgtEl>
                                          <p:spTgt spid="184"/>
                                        </p:tgtEl>
                                      </p:cBhvr>
                                    </p:animEffect>
                                  </p:childTnLst>
                                </p:cTn>
                              </p:par>
                              <p:par>
                                <p:cTn id="88" presetID="10" presetClass="entr" presetSubtype="0" fill="hold" nodeType="withEffect">
                                  <p:stCondLst>
                                    <p:cond delay="0"/>
                                  </p:stCondLst>
                                  <p:childTnLst>
                                    <p:set>
                                      <p:cBhvr>
                                        <p:cTn id="89" dur="1" fill="hold">
                                          <p:stCondLst>
                                            <p:cond delay="0"/>
                                          </p:stCondLst>
                                        </p:cTn>
                                        <p:tgtEl>
                                          <p:spTgt spid="190"/>
                                        </p:tgtEl>
                                        <p:attrNameLst>
                                          <p:attrName>style.visibility</p:attrName>
                                        </p:attrNameLst>
                                      </p:cBhvr>
                                      <p:to>
                                        <p:strVal val="visible"/>
                                      </p:to>
                                    </p:set>
                                    <p:animEffect transition="in" filter="fade">
                                      <p:cBhvr>
                                        <p:cTn id="90" dur="500"/>
                                        <p:tgtEl>
                                          <p:spTgt spid="190"/>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4"/>
                                        </p:tgtEl>
                                        <p:attrNameLst>
                                          <p:attrName>style.visibility</p:attrName>
                                        </p:attrNameLst>
                                      </p:cBhvr>
                                      <p:to>
                                        <p:strVal val="visible"/>
                                      </p:to>
                                    </p:set>
                                    <p:animEffect transition="in" filter="fade">
                                      <p:cBhvr>
                                        <p:cTn id="95" dur="500"/>
                                        <p:tgtEl>
                                          <p:spTgt spid="14"/>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500"/>
                                        <p:tgtEl>
                                          <p:spTgt spid="4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500"/>
                                        <p:tgtEl>
                                          <p:spTgt spid="46"/>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128"/>
                                        </p:tgtEl>
                                        <p:attrNameLst>
                                          <p:attrName>style.visibility</p:attrName>
                                        </p:attrNameLst>
                                      </p:cBhvr>
                                      <p:to>
                                        <p:strVal val="visible"/>
                                      </p:to>
                                    </p:set>
                                    <p:animEffect transition="in" filter="fade">
                                      <p:cBhvr>
                                        <p:cTn id="108" dur="500"/>
                                        <p:tgtEl>
                                          <p:spTgt spid="128"/>
                                        </p:tgtEl>
                                      </p:cBhvr>
                                    </p:animEffect>
                                  </p:childTnLst>
                                </p:cTn>
                              </p:par>
                              <p:par>
                                <p:cTn id="109" presetID="10" presetClass="entr" presetSubtype="0" fill="hold" nodeType="withEffect">
                                  <p:stCondLst>
                                    <p:cond delay="0"/>
                                  </p:stCondLst>
                                  <p:childTnLst>
                                    <p:set>
                                      <p:cBhvr>
                                        <p:cTn id="110" dur="1" fill="hold">
                                          <p:stCondLst>
                                            <p:cond delay="0"/>
                                          </p:stCondLst>
                                        </p:cTn>
                                        <p:tgtEl>
                                          <p:spTgt spid="177"/>
                                        </p:tgtEl>
                                        <p:attrNameLst>
                                          <p:attrName>style.visibility</p:attrName>
                                        </p:attrNameLst>
                                      </p:cBhvr>
                                      <p:to>
                                        <p:strVal val="visible"/>
                                      </p:to>
                                    </p:set>
                                    <p:animEffect transition="in" filter="fade">
                                      <p:cBhvr>
                                        <p:cTn id="111" dur="500"/>
                                        <p:tgtEl>
                                          <p:spTgt spid="177"/>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179"/>
                                        </p:tgtEl>
                                        <p:attrNameLst>
                                          <p:attrName>style.visibility</p:attrName>
                                        </p:attrNameLst>
                                      </p:cBhvr>
                                      <p:to>
                                        <p:strVal val="visible"/>
                                      </p:to>
                                    </p:set>
                                    <p:animEffect transition="in" filter="fade">
                                      <p:cBhvr>
                                        <p:cTn id="116" dur="500"/>
                                        <p:tgtEl>
                                          <p:spTgt spid="179"/>
                                        </p:tgtEl>
                                      </p:cBhvr>
                                    </p:animEffect>
                                  </p:childTnLst>
                                </p:cTn>
                              </p:par>
                              <p:par>
                                <p:cTn id="117" presetID="10" presetClass="entr" presetSubtype="0" fill="hold" nodeType="withEffect">
                                  <p:stCondLst>
                                    <p:cond delay="0"/>
                                  </p:stCondLst>
                                  <p:childTnLst>
                                    <p:set>
                                      <p:cBhvr>
                                        <p:cTn id="118" dur="1" fill="hold">
                                          <p:stCondLst>
                                            <p:cond delay="0"/>
                                          </p:stCondLst>
                                        </p:cTn>
                                        <p:tgtEl>
                                          <p:spTgt spid="206"/>
                                        </p:tgtEl>
                                        <p:attrNameLst>
                                          <p:attrName>style.visibility</p:attrName>
                                        </p:attrNameLst>
                                      </p:cBhvr>
                                      <p:to>
                                        <p:strVal val="visible"/>
                                      </p:to>
                                    </p:set>
                                    <p:animEffect transition="in" filter="fade">
                                      <p:cBhvr>
                                        <p:cTn id="119" dur="500"/>
                                        <p:tgtEl>
                                          <p:spTgt spid="206"/>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212"/>
                                        </p:tgtEl>
                                        <p:attrNameLst>
                                          <p:attrName>style.visibility</p:attrName>
                                        </p:attrNameLst>
                                      </p:cBhvr>
                                      <p:to>
                                        <p:strVal val="visible"/>
                                      </p:to>
                                    </p:set>
                                    <p:animEffect transition="in" filter="fade">
                                      <p:cBhvr>
                                        <p:cTn id="124" dur="500"/>
                                        <p:tgtEl>
                                          <p:spTgt spid="212"/>
                                        </p:tgtEl>
                                      </p:cBhvr>
                                    </p:animEffect>
                                  </p:childTnLst>
                                </p:cTn>
                              </p:par>
                              <p:par>
                                <p:cTn id="125" presetID="10" presetClass="entr" presetSubtype="0" fill="hold" nodeType="withEffect">
                                  <p:stCondLst>
                                    <p:cond delay="0"/>
                                  </p:stCondLst>
                                  <p:childTnLst>
                                    <p:set>
                                      <p:cBhvr>
                                        <p:cTn id="126" dur="1" fill="hold">
                                          <p:stCondLst>
                                            <p:cond delay="0"/>
                                          </p:stCondLst>
                                        </p:cTn>
                                        <p:tgtEl>
                                          <p:spTgt spid="221"/>
                                        </p:tgtEl>
                                        <p:attrNameLst>
                                          <p:attrName>style.visibility</p:attrName>
                                        </p:attrNameLst>
                                      </p:cBhvr>
                                      <p:to>
                                        <p:strVal val="visible"/>
                                      </p:to>
                                    </p:set>
                                    <p:animEffect transition="in" filter="fade">
                                      <p:cBhvr>
                                        <p:cTn id="127" dur="500"/>
                                        <p:tgtEl>
                                          <p:spTgt spid="221"/>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80"/>
                                        </p:tgtEl>
                                        <p:attrNameLst>
                                          <p:attrName>style.visibility</p:attrName>
                                        </p:attrNameLst>
                                      </p:cBhvr>
                                      <p:to>
                                        <p:strVal val="visible"/>
                                      </p:to>
                                    </p:set>
                                    <p:animEffect transition="in" filter="fade">
                                      <p:cBhvr>
                                        <p:cTn id="132" dur="500"/>
                                        <p:tgtEl>
                                          <p:spTgt spid="80"/>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352"/>
                                        </p:tgtEl>
                                        <p:attrNameLst>
                                          <p:attrName>style.visibility</p:attrName>
                                        </p:attrNameLst>
                                      </p:cBhvr>
                                      <p:to>
                                        <p:strVal val="visible"/>
                                      </p:to>
                                    </p:set>
                                    <p:animEffect transition="in" filter="fade">
                                      <p:cBhvr>
                                        <p:cTn id="137" dur="500"/>
                                        <p:tgtEl>
                                          <p:spTgt spid="352"/>
                                        </p:tgtEl>
                                      </p:cBhvr>
                                    </p:animEffect>
                                  </p:childTnLst>
                                </p:cTn>
                              </p:par>
                              <p:par>
                                <p:cTn id="138" presetID="10" presetClass="entr" presetSubtype="0" fill="hold" nodeType="withEffect">
                                  <p:stCondLst>
                                    <p:cond delay="0"/>
                                  </p:stCondLst>
                                  <p:childTnLst>
                                    <p:set>
                                      <p:cBhvr>
                                        <p:cTn id="139" dur="1" fill="hold">
                                          <p:stCondLst>
                                            <p:cond delay="0"/>
                                          </p:stCondLst>
                                        </p:cTn>
                                        <p:tgtEl>
                                          <p:spTgt spid="211"/>
                                        </p:tgtEl>
                                        <p:attrNameLst>
                                          <p:attrName>style.visibility</p:attrName>
                                        </p:attrNameLst>
                                      </p:cBhvr>
                                      <p:to>
                                        <p:strVal val="visible"/>
                                      </p:to>
                                    </p:set>
                                    <p:animEffect transition="in" filter="fade">
                                      <p:cBhvr>
                                        <p:cTn id="140" dur="500"/>
                                        <p:tgtEl>
                                          <p:spTgt spid="21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9"/>
                                        </p:tgtEl>
                                        <p:attrNameLst>
                                          <p:attrName>style.visibility</p:attrName>
                                        </p:attrNameLst>
                                      </p:cBhvr>
                                      <p:to>
                                        <p:strVal val="visible"/>
                                      </p:to>
                                    </p:set>
                                    <p:animEffect transition="in" filter="fade">
                                      <p:cBhvr>
                                        <p:cTn id="143" dur="500"/>
                                        <p:tgtEl>
                                          <p:spTgt spid="29"/>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354"/>
                                        </p:tgtEl>
                                        <p:attrNameLst>
                                          <p:attrName>style.visibility</p:attrName>
                                        </p:attrNameLst>
                                      </p:cBhvr>
                                      <p:to>
                                        <p:strVal val="visible"/>
                                      </p:to>
                                    </p:set>
                                    <p:animEffect transition="in" filter="fade">
                                      <p:cBhvr>
                                        <p:cTn id="148" dur="500"/>
                                        <p:tgtEl>
                                          <p:spTgt spid="354"/>
                                        </p:tgtEl>
                                      </p:cBhvr>
                                    </p:animEffect>
                                  </p:childTnLst>
                                </p:cTn>
                              </p:par>
                              <p:par>
                                <p:cTn id="149" presetID="10" presetClass="entr" presetSubtype="0" fill="hold" nodeType="withEffect">
                                  <p:stCondLst>
                                    <p:cond delay="0"/>
                                  </p:stCondLst>
                                  <p:childTnLst>
                                    <p:set>
                                      <p:cBhvr>
                                        <p:cTn id="150" dur="1" fill="hold">
                                          <p:stCondLst>
                                            <p:cond delay="0"/>
                                          </p:stCondLst>
                                        </p:cTn>
                                        <p:tgtEl>
                                          <p:spTgt spid="219"/>
                                        </p:tgtEl>
                                        <p:attrNameLst>
                                          <p:attrName>style.visibility</p:attrName>
                                        </p:attrNameLst>
                                      </p:cBhvr>
                                      <p:to>
                                        <p:strVal val="visible"/>
                                      </p:to>
                                    </p:set>
                                    <p:animEffect transition="in" filter="fade">
                                      <p:cBhvr>
                                        <p:cTn id="151" dur="500"/>
                                        <p:tgtEl>
                                          <p:spTgt spid="219"/>
                                        </p:tgtEl>
                                      </p:cBhvr>
                                    </p:animEffect>
                                  </p:childTnLst>
                                </p:cTn>
                              </p:par>
                              <p:par>
                                <p:cTn id="152" presetID="10" presetClass="entr" presetSubtype="0" fill="hold" nodeType="withEffect">
                                  <p:stCondLst>
                                    <p:cond delay="0"/>
                                  </p:stCondLst>
                                  <p:childTnLst>
                                    <p:set>
                                      <p:cBhvr>
                                        <p:cTn id="153" dur="1" fill="hold">
                                          <p:stCondLst>
                                            <p:cond delay="0"/>
                                          </p:stCondLst>
                                        </p:cTn>
                                        <p:tgtEl>
                                          <p:spTgt spid="213"/>
                                        </p:tgtEl>
                                        <p:attrNameLst>
                                          <p:attrName>style.visibility</p:attrName>
                                        </p:attrNameLst>
                                      </p:cBhvr>
                                      <p:to>
                                        <p:strVal val="visible"/>
                                      </p:to>
                                    </p:set>
                                    <p:animEffect transition="in" filter="fade">
                                      <p:cBhvr>
                                        <p:cTn id="154" dur="500"/>
                                        <p:tgtEl>
                                          <p:spTgt spid="21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500"/>
                                        <p:tgtEl>
                                          <p:spTgt spid="27"/>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25"/>
                                        </p:tgtEl>
                                        <p:attrNameLst>
                                          <p:attrName>style.visibility</p:attrName>
                                        </p:attrNameLst>
                                      </p:cBhvr>
                                      <p:to>
                                        <p:strVal val="visible"/>
                                      </p:to>
                                    </p:set>
                                    <p:animEffect transition="in" filter="fade">
                                      <p:cBhvr>
                                        <p:cTn id="162" dur="500"/>
                                        <p:tgtEl>
                                          <p:spTgt spid="2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34"/>
                                        </p:tgtEl>
                                        <p:attrNameLst>
                                          <p:attrName>style.visibility</p:attrName>
                                        </p:attrNameLst>
                                      </p:cBhvr>
                                      <p:to>
                                        <p:strVal val="visible"/>
                                      </p:to>
                                    </p:set>
                                    <p:animEffect transition="in" filter="fade">
                                      <p:cBhvr>
                                        <p:cTn id="165" dur="500"/>
                                        <p:tgtEl>
                                          <p:spTgt spid="34"/>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nodeType="clickEffect">
                                  <p:stCondLst>
                                    <p:cond delay="0"/>
                                  </p:stCondLst>
                                  <p:childTnLst>
                                    <p:set>
                                      <p:cBhvr>
                                        <p:cTn id="169" dur="1" fill="hold">
                                          <p:stCondLst>
                                            <p:cond delay="0"/>
                                          </p:stCondLst>
                                        </p:cTn>
                                        <p:tgtEl>
                                          <p:spTgt spid="187"/>
                                        </p:tgtEl>
                                        <p:attrNameLst>
                                          <p:attrName>style.visibility</p:attrName>
                                        </p:attrNameLst>
                                      </p:cBhvr>
                                      <p:to>
                                        <p:strVal val="visible"/>
                                      </p:to>
                                    </p:set>
                                    <p:animEffect transition="in" filter="fade">
                                      <p:cBhvr>
                                        <p:cTn id="170" dur="500"/>
                                        <p:tgtEl>
                                          <p:spTgt spid="187"/>
                                        </p:tgtEl>
                                      </p:cBhvr>
                                    </p:animEffect>
                                  </p:childTnLst>
                                </p:cTn>
                              </p:par>
                              <p:par>
                                <p:cTn id="171" presetID="10" presetClass="entr" presetSubtype="0" fill="hold" nodeType="withEffect">
                                  <p:stCondLst>
                                    <p:cond delay="0"/>
                                  </p:stCondLst>
                                  <p:childTnLst>
                                    <p:set>
                                      <p:cBhvr>
                                        <p:cTn id="172" dur="1" fill="hold">
                                          <p:stCondLst>
                                            <p:cond delay="0"/>
                                          </p:stCondLst>
                                        </p:cTn>
                                        <p:tgtEl>
                                          <p:spTgt spid="30"/>
                                        </p:tgtEl>
                                        <p:attrNameLst>
                                          <p:attrName>style.visibility</p:attrName>
                                        </p:attrNameLst>
                                      </p:cBhvr>
                                      <p:to>
                                        <p:strVal val="visible"/>
                                      </p:to>
                                    </p:set>
                                    <p:animEffect transition="in" filter="fade">
                                      <p:cBhvr>
                                        <p:cTn id="173" dur="500"/>
                                        <p:tgtEl>
                                          <p:spTgt spid="30"/>
                                        </p:tgtEl>
                                      </p:cBhvr>
                                    </p:animEffect>
                                  </p:childTnLst>
                                </p:cTn>
                              </p:par>
                              <p:par>
                                <p:cTn id="174" presetID="10" presetClass="entr" presetSubtype="0" fill="hold" nodeType="withEffect">
                                  <p:stCondLst>
                                    <p:cond delay="0"/>
                                  </p:stCondLst>
                                  <p:childTnLst>
                                    <p:set>
                                      <p:cBhvr>
                                        <p:cTn id="175" dur="1" fill="hold">
                                          <p:stCondLst>
                                            <p:cond delay="0"/>
                                          </p:stCondLst>
                                        </p:cTn>
                                        <p:tgtEl>
                                          <p:spTgt spid="38"/>
                                        </p:tgtEl>
                                        <p:attrNameLst>
                                          <p:attrName>style.visibility</p:attrName>
                                        </p:attrNameLst>
                                      </p:cBhvr>
                                      <p:to>
                                        <p:strVal val="visible"/>
                                      </p:to>
                                    </p:set>
                                    <p:animEffect transition="in" filter="fade">
                                      <p:cBhvr>
                                        <p:cTn id="176" dur="500"/>
                                        <p:tgtEl>
                                          <p:spTgt spid="38"/>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nodeType="clickEffect">
                                  <p:stCondLst>
                                    <p:cond delay="0"/>
                                  </p:stCondLst>
                                  <p:childTnLst>
                                    <p:set>
                                      <p:cBhvr>
                                        <p:cTn id="180" dur="1" fill="hold">
                                          <p:stCondLst>
                                            <p:cond delay="0"/>
                                          </p:stCondLst>
                                        </p:cTn>
                                        <p:tgtEl>
                                          <p:spTgt spid="196"/>
                                        </p:tgtEl>
                                        <p:attrNameLst>
                                          <p:attrName>style.visibility</p:attrName>
                                        </p:attrNameLst>
                                      </p:cBhvr>
                                      <p:to>
                                        <p:strVal val="visible"/>
                                      </p:to>
                                    </p:set>
                                    <p:animEffect transition="in" filter="fade">
                                      <p:cBhvr>
                                        <p:cTn id="181" dur="500"/>
                                        <p:tgtEl>
                                          <p:spTgt spid="196"/>
                                        </p:tgtEl>
                                      </p:cBhvr>
                                    </p:animEffect>
                                  </p:childTnLst>
                                </p:cTn>
                              </p:par>
                              <p:par>
                                <p:cTn id="182" presetID="10" presetClass="entr" presetSubtype="0" fill="hold" nodeType="withEffect">
                                  <p:stCondLst>
                                    <p:cond delay="0"/>
                                  </p:stCondLst>
                                  <p:childTnLst>
                                    <p:set>
                                      <p:cBhvr>
                                        <p:cTn id="183" dur="1" fill="hold">
                                          <p:stCondLst>
                                            <p:cond delay="0"/>
                                          </p:stCondLst>
                                        </p:cTn>
                                        <p:tgtEl>
                                          <p:spTgt spid="197"/>
                                        </p:tgtEl>
                                        <p:attrNameLst>
                                          <p:attrName>style.visibility</p:attrName>
                                        </p:attrNameLst>
                                      </p:cBhvr>
                                      <p:to>
                                        <p:strVal val="visible"/>
                                      </p:to>
                                    </p:set>
                                    <p:animEffect transition="in" filter="fade">
                                      <p:cBhvr>
                                        <p:cTn id="184" dur="500"/>
                                        <p:tgtEl>
                                          <p:spTgt spid="197"/>
                                        </p:tgtEl>
                                      </p:cBhvr>
                                    </p:animEffect>
                                  </p:childTnLst>
                                </p:cTn>
                              </p:par>
                              <p:par>
                                <p:cTn id="185" presetID="10" presetClass="entr" presetSubtype="0" fill="hold" nodeType="withEffect">
                                  <p:stCondLst>
                                    <p:cond delay="0"/>
                                  </p:stCondLst>
                                  <p:childTnLst>
                                    <p:set>
                                      <p:cBhvr>
                                        <p:cTn id="186" dur="1" fill="hold">
                                          <p:stCondLst>
                                            <p:cond delay="0"/>
                                          </p:stCondLst>
                                        </p:cTn>
                                        <p:tgtEl>
                                          <p:spTgt spid="198"/>
                                        </p:tgtEl>
                                        <p:attrNameLst>
                                          <p:attrName>style.visibility</p:attrName>
                                        </p:attrNameLst>
                                      </p:cBhvr>
                                      <p:to>
                                        <p:strVal val="visible"/>
                                      </p:to>
                                    </p:set>
                                    <p:animEffect transition="in" filter="fade">
                                      <p:cBhvr>
                                        <p:cTn id="187" dur="500"/>
                                        <p:tgtEl>
                                          <p:spTgt spid="198"/>
                                        </p:tgtEl>
                                      </p:cBhvr>
                                    </p:animEffect>
                                  </p:childTnLst>
                                </p:cTn>
                              </p:par>
                              <p:par>
                                <p:cTn id="188" presetID="10" presetClass="entr" presetSubtype="0" fill="hold" nodeType="withEffect">
                                  <p:stCondLst>
                                    <p:cond delay="0"/>
                                  </p:stCondLst>
                                  <p:childTnLst>
                                    <p:set>
                                      <p:cBhvr>
                                        <p:cTn id="189" dur="1" fill="hold">
                                          <p:stCondLst>
                                            <p:cond delay="0"/>
                                          </p:stCondLst>
                                        </p:cTn>
                                        <p:tgtEl>
                                          <p:spTgt spid="97"/>
                                        </p:tgtEl>
                                        <p:attrNameLst>
                                          <p:attrName>style.visibility</p:attrName>
                                        </p:attrNameLst>
                                      </p:cBhvr>
                                      <p:to>
                                        <p:strVal val="visible"/>
                                      </p:to>
                                    </p:set>
                                    <p:animEffect transition="in" filter="fade">
                                      <p:cBhvr>
                                        <p:cTn id="190" dur="500"/>
                                        <p:tgtEl>
                                          <p:spTgt spid="97"/>
                                        </p:tgtEl>
                                      </p:cBhvr>
                                    </p:animEffect>
                                  </p:childTnLst>
                                </p:cTn>
                              </p:par>
                            </p:childTnLst>
                          </p:cTn>
                        </p:par>
                      </p:childTnLst>
                    </p:cTn>
                  </p:par>
                  <p:par>
                    <p:cTn id="191" fill="hold">
                      <p:stCondLst>
                        <p:cond delay="indefinite"/>
                      </p:stCondLst>
                      <p:childTnLst>
                        <p:par>
                          <p:cTn id="192"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122"/>
                                        </p:tgtEl>
                                        <p:attrNameLst>
                                          <p:attrName>style.visibility</p:attrName>
                                        </p:attrNameLst>
                                      </p:cBhvr>
                                      <p:to>
                                        <p:strVal val="visible"/>
                                      </p:to>
                                    </p:set>
                                    <p:animEffect transition="in" filter="fade">
                                      <p:cBhvr>
                                        <p:cTn id="195" dur="500"/>
                                        <p:tgtEl>
                                          <p:spTgt spid="122"/>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11"/>
                                        </p:tgtEl>
                                        <p:attrNameLst>
                                          <p:attrName>style.visibility</p:attrName>
                                        </p:attrNameLst>
                                      </p:cBhvr>
                                      <p:to>
                                        <p:strVal val="visible"/>
                                      </p:to>
                                    </p:set>
                                    <p:animEffect transition="in" filter="fade">
                                      <p:cBhvr>
                                        <p:cTn id="200" dur="500"/>
                                        <p:tgtEl>
                                          <p:spTgt spid="11"/>
                                        </p:tgtEl>
                                      </p:cBhvr>
                                    </p:animEffect>
                                  </p:childTnLst>
                                </p:cTn>
                              </p:par>
                              <p:par>
                                <p:cTn id="201" presetID="10" presetClass="entr" presetSubtype="0" fill="hold" nodeType="withEffect">
                                  <p:stCondLst>
                                    <p:cond delay="0"/>
                                  </p:stCondLst>
                                  <p:childTnLst>
                                    <p:set>
                                      <p:cBhvr>
                                        <p:cTn id="202" dur="1" fill="hold">
                                          <p:stCondLst>
                                            <p:cond delay="0"/>
                                          </p:stCondLst>
                                        </p:cTn>
                                        <p:tgtEl>
                                          <p:spTgt spid="7"/>
                                        </p:tgtEl>
                                        <p:attrNameLst>
                                          <p:attrName>style.visibility</p:attrName>
                                        </p:attrNameLst>
                                      </p:cBhvr>
                                      <p:to>
                                        <p:strVal val="visible"/>
                                      </p:to>
                                    </p:set>
                                    <p:animEffect transition="in" filter="fade">
                                      <p:cBhvr>
                                        <p:cTn id="203" dur="500"/>
                                        <p:tgtEl>
                                          <p:spTgt spid="7"/>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nodeType="clickEffect">
                                  <p:stCondLst>
                                    <p:cond delay="0"/>
                                  </p:stCondLst>
                                  <p:childTnLst>
                                    <p:set>
                                      <p:cBhvr>
                                        <p:cTn id="207" dur="1" fill="hold">
                                          <p:stCondLst>
                                            <p:cond delay="0"/>
                                          </p:stCondLst>
                                        </p:cTn>
                                        <p:tgtEl>
                                          <p:spTgt spid="6"/>
                                        </p:tgtEl>
                                        <p:attrNameLst>
                                          <p:attrName>style.visibility</p:attrName>
                                        </p:attrNameLst>
                                      </p:cBhvr>
                                      <p:to>
                                        <p:strVal val="visible"/>
                                      </p:to>
                                    </p:set>
                                    <p:animEffect transition="in" filter="fade">
                                      <p:cBhvr>
                                        <p:cTn id="208" dur="500"/>
                                        <p:tgtEl>
                                          <p:spTgt spid="6"/>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392"/>
                                        </p:tgtEl>
                                        <p:attrNameLst>
                                          <p:attrName>style.visibility</p:attrName>
                                        </p:attrNameLst>
                                      </p:cBhvr>
                                      <p:to>
                                        <p:strVal val="visible"/>
                                      </p:to>
                                    </p:set>
                                    <p:animEffect transition="in" filter="fade">
                                      <p:cBhvr>
                                        <p:cTn id="213" dur="500"/>
                                        <p:tgtEl>
                                          <p:spTgt spid="392"/>
                                        </p:tgtEl>
                                      </p:cBhvr>
                                    </p:animEffect>
                                  </p:childTnLst>
                                </p:cTn>
                              </p:par>
                              <p:par>
                                <p:cTn id="214" presetID="10" presetClass="entr" presetSubtype="0" fill="hold" nodeType="withEffect">
                                  <p:stCondLst>
                                    <p:cond delay="0"/>
                                  </p:stCondLst>
                                  <p:childTnLst>
                                    <p:set>
                                      <p:cBhvr>
                                        <p:cTn id="215" dur="1" fill="hold">
                                          <p:stCondLst>
                                            <p:cond delay="0"/>
                                          </p:stCondLst>
                                        </p:cTn>
                                        <p:tgtEl>
                                          <p:spTgt spid="390"/>
                                        </p:tgtEl>
                                        <p:attrNameLst>
                                          <p:attrName>style.visibility</p:attrName>
                                        </p:attrNameLst>
                                      </p:cBhvr>
                                      <p:to>
                                        <p:strVal val="visible"/>
                                      </p:to>
                                    </p:set>
                                    <p:animEffect transition="in" filter="fade">
                                      <p:cBhvr>
                                        <p:cTn id="216" dur="500"/>
                                        <p:tgtEl>
                                          <p:spTgt spid="390"/>
                                        </p:tgtEl>
                                      </p:cBhvr>
                                    </p:animEffect>
                                  </p:childTnLst>
                                </p:cTn>
                              </p:par>
                            </p:childTnLst>
                          </p:cTn>
                        </p:par>
                      </p:childTnLst>
                    </p:cTn>
                  </p:par>
                  <p:par>
                    <p:cTn id="217" fill="hold">
                      <p:stCondLst>
                        <p:cond delay="indefinite"/>
                      </p:stCondLst>
                      <p:childTnLst>
                        <p:par>
                          <p:cTn id="218" fill="hold">
                            <p:stCondLst>
                              <p:cond delay="0"/>
                            </p:stCondLst>
                            <p:childTnLst>
                              <p:par>
                                <p:cTn id="219" presetID="10" presetClass="entr" presetSubtype="0" fill="hold" grpId="0" nodeType="clickEffect">
                                  <p:stCondLst>
                                    <p:cond delay="0"/>
                                  </p:stCondLst>
                                  <p:childTnLst>
                                    <p:set>
                                      <p:cBhvr>
                                        <p:cTn id="220" dur="1" fill="hold">
                                          <p:stCondLst>
                                            <p:cond delay="0"/>
                                          </p:stCondLst>
                                        </p:cTn>
                                        <p:tgtEl>
                                          <p:spTgt spid="9"/>
                                        </p:tgtEl>
                                        <p:attrNameLst>
                                          <p:attrName>style.visibility</p:attrName>
                                        </p:attrNameLst>
                                      </p:cBhvr>
                                      <p:to>
                                        <p:strVal val="visible"/>
                                      </p:to>
                                    </p:set>
                                    <p:animEffect transition="in" filter="fade">
                                      <p:cBhvr>
                                        <p:cTn id="221" dur="500"/>
                                        <p:tgtEl>
                                          <p:spTgt spid="9"/>
                                        </p:tgtEl>
                                      </p:cBhvr>
                                    </p:animEffect>
                                  </p:childTnLst>
                                </p:cTn>
                              </p:par>
                            </p:childTnLst>
                          </p:cTn>
                        </p:par>
                      </p:childTnLst>
                    </p:cTn>
                  </p:par>
                  <p:par>
                    <p:cTn id="222" fill="hold">
                      <p:stCondLst>
                        <p:cond delay="indefinite"/>
                      </p:stCondLst>
                      <p:childTnLst>
                        <p:par>
                          <p:cTn id="223" fill="hold">
                            <p:stCondLst>
                              <p:cond delay="0"/>
                            </p:stCondLst>
                            <p:childTnLst>
                              <p:par>
                                <p:cTn id="224" presetID="10" presetClass="entr" presetSubtype="0" fill="hold" grpId="0" nodeType="clickEffect">
                                  <p:stCondLst>
                                    <p:cond delay="0"/>
                                  </p:stCondLst>
                                  <p:childTnLst>
                                    <p:set>
                                      <p:cBhvr>
                                        <p:cTn id="225" dur="1" fill="hold">
                                          <p:stCondLst>
                                            <p:cond delay="0"/>
                                          </p:stCondLst>
                                        </p:cTn>
                                        <p:tgtEl>
                                          <p:spTgt spid="4"/>
                                        </p:tgtEl>
                                        <p:attrNameLst>
                                          <p:attrName>style.visibility</p:attrName>
                                        </p:attrNameLst>
                                      </p:cBhvr>
                                      <p:to>
                                        <p:strVal val="visible"/>
                                      </p:to>
                                    </p:set>
                                    <p:animEffect transition="in" filter="fade">
                                      <p:cBhvr>
                                        <p:cTn id="226" dur="500"/>
                                        <p:tgtEl>
                                          <p:spTgt spid="4"/>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19"/>
                                        </p:tgtEl>
                                        <p:attrNameLst>
                                          <p:attrName>style.visibility</p:attrName>
                                        </p:attrNameLst>
                                      </p:cBhvr>
                                      <p:to>
                                        <p:strVal val="visible"/>
                                      </p:to>
                                    </p:set>
                                    <p:animEffect transition="in" filter="fade">
                                      <p:cBhvr>
                                        <p:cTn id="2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9" grpId="0"/>
      <p:bldP spid="25" grpId="0" animBg="1"/>
      <p:bldP spid="27" grpId="0" animBg="1"/>
      <p:bldP spid="29" grpId="0" animBg="1"/>
      <p:bldP spid="34" grpId="0" animBg="1"/>
      <p:bldP spid="40" grpId="0" animBg="1"/>
      <p:bldP spid="14" grpId="0" animBg="1"/>
      <p:bldP spid="46" grpId="0" animBg="1"/>
      <p:bldP spid="72" grpId="0" animBg="1"/>
      <p:bldP spid="98" grpId="0" animBg="1"/>
      <p:bldP spid="166" grpId="0"/>
      <p:bldP spid="1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87824" y="3617158"/>
            <a:ext cx="1944094" cy="12596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cxnSp>
        <p:nvCxnSpPr>
          <p:cNvPr id="15" name="Connecteur droit avec flèche 14"/>
          <p:cNvCxnSpPr>
            <a:stCxn id="132" idx="0"/>
            <a:endCxn id="72" idx="2"/>
          </p:cNvCxnSpPr>
          <p:nvPr/>
        </p:nvCxnSpPr>
        <p:spPr>
          <a:xfrm flipV="1">
            <a:off x="1082936" y="2932319"/>
            <a:ext cx="5109" cy="368376"/>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e 23"/>
          <p:cNvGrpSpPr/>
          <p:nvPr/>
        </p:nvGrpSpPr>
        <p:grpSpPr>
          <a:xfrm>
            <a:off x="2987823" y="677748"/>
            <a:ext cx="1944095" cy="1254911"/>
            <a:chOff x="1672331" y="1136765"/>
            <a:chExt cx="5694424" cy="1386210"/>
          </a:xfrm>
          <a:solidFill>
            <a:schemeClr val="bg1"/>
          </a:solidFill>
        </p:grpSpPr>
        <p:sp>
          <p:nvSpPr>
            <p:cNvPr id="25" name="Rectangle 24"/>
            <p:cNvSpPr/>
            <p:nvPr/>
          </p:nvSpPr>
          <p:spPr>
            <a:xfrm>
              <a:off x="1672331" y="1136765"/>
              <a:ext cx="5694424" cy="138621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34" name="ZoneTexte 33"/>
            <p:cNvSpPr txBox="1"/>
            <p:nvPr/>
          </p:nvSpPr>
          <p:spPr>
            <a:xfrm>
              <a:off x="2575568" y="1656258"/>
              <a:ext cx="3961427" cy="356977"/>
            </a:xfrm>
            <a:prstGeom prst="rect">
              <a:avLst/>
            </a:prstGeom>
            <a:grpFill/>
          </p:spPr>
          <p:txBody>
            <a:bodyPr wrap="square" rtlCol="0">
              <a:spAutoFit/>
            </a:bodyPr>
            <a:lstStyle/>
            <a:p>
              <a:pPr defTabSz="514350"/>
              <a:r>
                <a:rPr lang="fr-FR" sz="1500" b="1" dirty="0">
                  <a:latin typeface="Calibri" panose="020F0502020204030204"/>
                </a:rPr>
                <a:t>Environmental</a:t>
              </a:r>
            </a:p>
          </p:txBody>
        </p:sp>
      </p:grpSp>
      <p:grpSp>
        <p:nvGrpSpPr>
          <p:cNvPr id="47" name="Groupe 46"/>
          <p:cNvGrpSpPr/>
          <p:nvPr/>
        </p:nvGrpSpPr>
        <p:grpSpPr>
          <a:xfrm>
            <a:off x="2987823" y="2153293"/>
            <a:ext cx="1944094" cy="1254911"/>
            <a:chOff x="2934844" y="1598354"/>
            <a:chExt cx="7572279" cy="1673216"/>
          </a:xfrm>
          <a:solidFill>
            <a:schemeClr val="bg1"/>
          </a:solidFill>
        </p:grpSpPr>
        <p:sp>
          <p:nvSpPr>
            <p:cNvPr id="40" name="Rectangle 39"/>
            <p:cNvSpPr/>
            <p:nvPr/>
          </p:nvSpPr>
          <p:spPr>
            <a:xfrm>
              <a:off x="2934844" y="1598354"/>
              <a:ext cx="7572279" cy="167321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46" name="ZoneTexte 45"/>
            <p:cNvSpPr txBox="1"/>
            <p:nvPr/>
          </p:nvSpPr>
          <p:spPr>
            <a:xfrm>
              <a:off x="4716425" y="2239866"/>
              <a:ext cx="4315531" cy="430887"/>
            </a:xfrm>
            <a:prstGeom prst="rect">
              <a:avLst/>
            </a:prstGeom>
            <a:grpFill/>
          </p:spPr>
          <p:txBody>
            <a:bodyPr wrap="square" rtlCol="0">
              <a:spAutoFit/>
            </a:bodyPr>
            <a:lstStyle/>
            <a:p>
              <a:pPr defTabSz="514350"/>
              <a:r>
                <a:rPr lang="fr-FR" sz="1500" b="1" dirty="0">
                  <a:latin typeface="Calibri" panose="020F0502020204030204"/>
                </a:rPr>
                <a:t>Foodborne</a:t>
              </a:r>
            </a:p>
          </p:txBody>
        </p:sp>
      </p:grpSp>
      <p:sp>
        <p:nvSpPr>
          <p:cNvPr id="72" name="ZoneTexte 71"/>
          <p:cNvSpPr txBox="1"/>
          <p:nvPr/>
        </p:nvSpPr>
        <p:spPr>
          <a:xfrm>
            <a:off x="722308" y="2632237"/>
            <a:ext cx="731475" cy="323165"/>
          </a:xfrm>
          <a:prstGeom prst="rect">
            <a:avLst/>
          </a:prstGeom>
          <a:solidFill>
            <a:schemeClr val="bg1"/>
          </a:solidFill>
          <a:ln w="12700">
            <a:solidFill>
              <a:srgbClr val="262626"/>
            </a:solidFill>
          </a:ln>
        </p:spPr>
        <p:txBody>
          <a:bodyPr wrap="square" rtlCol="0">
            <a:spAutoFit/>
          </a:bodyPr>
          <a:lstStyle/>
          <a:p>
            <a:pPr algn="ctr" defTabSz="514350"/>
            <a:r>
              <a:rPr lang="fr-FR" sz="1500" dirty="0">
                <a:latin typeface="Calibri" panose="020F0502020204030204"/>
              </a:rPr>
              <a:t> </a:t>
            </a:r>
            <a:r>
              <a:rPr lang="fr-FR" sz="1500" b="1" dirty="0">
                <a:latin typeface="Calibri" panose="020F0502020204030204"/>
              </a:rPr>
              <a:t>Farm</a:t>
            </a:r>
          </a:p>
        </p:txBody>
      </p:sp>
      <p:cxnSp>
        <p:nvCxnSpPr>
          <p:cNvPr id="115" name="Connecteur droit avec flèche 114"/>
          <p:cNvCxnSpPr/>
          <p:nvPr/>
        </p:nvCxnSpPr>
        <p:spPr>
          <a:xfrm>
            <a:off x="2612307" y="855689"/>
            <a:ext cx="364626" cy="1785"/>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p:cNvCxnSpPr>
            <a:stCxn id="130" idx="3"/>
            <a:endCxn id="4" idx="1"/>
          </p:cNvCxnSpPr>
          <p:nvPr/>
        </p:nvCxnSpPr>
        <p:spPr>
          <a:xfrm flipV="1">
            <a:off x="2626787" y="4246980"/>
            <a:ext cx="361037" cy="5756"/>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Connecteur droit avec flèche 121"/>
          <p:cNvCxnSpPr/>
          <p:nvPr/>
        </p:nvCxnSpPr>
        <p:spPr>
          <a:xfrm>
            <a:off x="2609824" y="2324564"/>
            <a:ext cx="364626" cy="1785"/>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sp>
        <p:nvSpPr>
          <p:cNvPr id="129" name="Rectangle à coins arrondis 128"/>
          <p:cNvSpPr/>
          <p:nvPr/>
        </p:nvSpPr>
        <p:spPr>
          <a:xfrm>
            <a:off x="1675534" y="2156791"/>
            <a:ext cx="928427"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foodborne</a:t>
            </a:r>
            <a:endParaRPr lang="fr-FR" sz="2100" dirty="0">
              <a:solidFill>
                <a:schemeClr val="tx1"/>
              </a:solidFill>
            </a:endParaRPr>
          </a:p>
        </p:txBody>
      </p:sp>
      <p:sp>
        <p:nvSpPr>
          <p:cNvPr id="130" name="Rectangle à coins arrondis 129"/>
          <p:cNvSpPr/>
          <p:nvPr/>
        </p:nvSpPr>
        <p:spPr>
          <a:xfrm>
            <a:off x="1675534" y="4071523"/>
            <a:ext cx="951253"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occupational</a:t>
            </a:r>
            <a:endParaRPr lang="fr-FR" sz="2700" dirty="0">
              <a:solidFill>
                <a:schemeClr val="tx1"/>
              </a:solidFill>
            </a:endParaRPr>
          </a:p>
        </p:txBody>
      </p:sp>
      <p:sp>
        <p:nvSpPr>
          <p:cNvPr id="131" name="Rectangle à coins arrondis 130"/>
          <p:cNvSpPr/>
          <p:nvPr/>
        </p:nvSpPr>
        <p:spPr>
          <a:xfrm>
            <a:off x="1675535" y="679773"/>
            <a:ext cx="939840"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788" dirty="0">
                <a:solidFill>
                  <a:schemeClr val="tx1"/>
                </a:solidFill>
                <a:latin typeface="Calibri" panose="020F0502020204030204" pitchFamily="34" charset="0"/>
                <a:cs typeface="Calibri" panose="020F0502020204030204" pitchFamily="34" charset="0"/>
              </a:rPr>
              <a:t>environmental</a:t>
            </a:r>
            <a:endParaRPr lang="fr-FR" sz="2100" dirty="0">
              <a:solidFill>
                <a:schemeClr val="tx1"/>
              </a:solidFill>
            </a:endParaRPr>
          </a:p>
        </p:txBody>
      </p:sp>
      <p:sp>
        <p:nvSpPr>
          <p:cNvPr id="132" name="Rectangle à coins arrondis 131"/>
          <p:cNvSpPr/>
          <p:nvPr/>
        </p:nvSpPr>
        <p:spPr>
          <a:xfrm>
            <a:off x="638246" y="3300695"/>
            <a:ext cx="889381"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farm</a:t>
            </a:r>
            <a:endParaRPr lang="fr-FR" sz="2100" dirty="0">
              <a:solidFill>
                <a:schemeClr val="tx1"/>
              </a:solidFill>
            </a:endParaRPr>
          </a:p>
        </p:txBody>
      </p:sp>
      <p:sp>
        <p:nvSpPr>
          <p:cNvPr id="215" name="ZoneTexte 214"/>
          <p:cNvSpPr txBox="1"/>
          <p:nvPr/>
        </p:nvSpPr>
        <p:spPr>
          <a:xfrm>
            <a:off x="3380812" y="4088633"/>
            <a:ext cx="1190069" cy="276999"/>
          </a:xfrm>
          <a:prstGeom prst="rect">
            <a:avLst/>
          </a:prstGeom>
          <a:noFill/>
        </p:spPr>
        <p:txBody>
          <a:bodyPr wrap="none" rtlCol="0">
            <a:spAutoFit/>
          </a:bodyPr>
          <a:lstStyle/>
          <a:p>
            <a:r>
              <a:rPr lang="fr-FR" sz="1200" b="1" dirty="0"/>
              <a:t>Occupational</a:t>
            </a:r>
            <a:endParaRPr lang="fr-FR" sz="1200" dirty="0"/>
          </a:p>
        </p:txBody>
      </p:sp>
      <p:sp>
        <p:nvSpPr>
          <p:cNvPr id="94"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sp>
        <p:nvSpPr>
          <p:cNvPr id="48" name="Titre 2"/>
          <p:cNvSpPr>
            <a:spLocks noGrp="1"/>
          </p:cNvSpPr>
          <p:nvPr>
            <p:ph type="title"/>
          </p:nvPr>
        </p:nvSpPr>
        <p:spPr>
          <a:xfrm>
            <a:off x="251520" y="167403"/>
            <a:ext cx="8030340" cy="605329"/>
          </a:xfrm>
        </p:spPr>
        <p:txBody>
          <a:bodyPr/>
          <a:lstStyle/>
          <a:p>
            <a:r>
              <a:rPr lang="fr-FR" sz="2800" dirty="0" smtClean="0"/>
              <a:t>How to </a:t>
            </a:r>
            <a:r>
              <a:rPr lang="fr-FR" sz="2800" dirty="0" err="1" smtClean="0"/>
              <a:t>run</a:t>
            </a:r>
            <a:r>
              <a:rPr lang="fr-FR" sz="2800" dirty="0" smtClean="0"/>
              <a:t> the model?</a:t>
            </a:r>
            <a:endParaRPr lang="fr-FR" sz="2800" dirty="0"/>
          </a:p>
        </p:txBody>
      </p:sp>
      <p:grpSp>
        <p:nvGrpSpPr>
          <p:cNvPr id="14" name="Groupe 13"/>
          <p:cNvGrpSpPr/>
          <p:nvPr/>
        </p:nvGrpSpPr>
        <p:grpSpPr>
          <a:xfrm>
            <a:off x="5520323" y="647016"/>
            <a:ext cx="2659400" cy="3970441"/>
            <a:chOff x="5636351" y="349362"/>
            <a:chExt cx="2880320" cy="4478864"/>
          </a:xfrm>
        </p:grpSpPr>
        <p:sp>
          <p:nvSpPr>
            <p:cNvPr id="13" name="ZoneTexte 12"/>
            <p:cNvSpPr txBox="1"/>
            <p:nvPr/>
          </p:nvSpPr>
          <p:spPr>
            <a:xfrm>
              <a:off x="5856219" y="349362"/>
              <a:ext cx="2461834" cy="381907"/>
            </a:xfrm>
            <a:prstGeom prst="rect">
              <a:avLst/>
            </a:prstGeom>
            <a:noFill/>
          </p:spPr>
          <p:txBody>
            <a:bodyPr wrap="square" rtlCol="0">
              <a:spAutoFit/>
            </a:bodyPr>
            <a:lstStyle/>
            <a:p>
              <a:r>
                <a:rPr lang="fr-FR" sz="1600" b="1" dirty="0"/>
                <a:t>GitHub </a:t>
              </a:r>
              <a:r>
                <a:rPr lang="fr-FR" sz="1600" b="1" dirty="0" err="1" smtClean="0"/>
                <a:t>repositories</a:t>
              </a:r>
              <a:endParaRPr lang="en-US" sz="1600" b="1" dirty="0"/>
            </a:p>
          </p:txBody>
        </p:sp>
        <p:pic>
          <p:nvPicPr>
            <p:cNvPr id="57" name="Image 5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6351" y="733654"/>
              <a:ext cx="2880320" cy="4094572"/>
            </a:xfrm>
            <a:prstGeom prst="rect">
              <a:avLst/>
            </a:prstGeom>
          </p:spPr>
        </p:pic>
      </p:grpSp>
      <p:grpSp>
        <p:nvGrpSpPr>
          <p:cNvPr id="18" name="Groupe 17"/>
          <p:cNvGrpSpPr/>
          <p:nvPr/>
        </p:nvGrpSpPr>
        <p:grpSpPr>
          <a:xfrm>
            <a:off x="2967050" y="690627"/>
            <a:ext cx="6040742" cy="4193856"/>
            <a:chOff x="2624364" y="816293"/>
            <a:chExt cx="6197926" cy="3787060"/>
          </a:xfrm>
        </p:grpSpPr>
        <p:pic>
          <p:nvPicPr>
            <p:cNvPr id="16" name="Imag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4364" y="826591"/>
              <a:ext cx="6197926" cy="3766463"/>
            </a:xfrm>
            <a:prstGeom prst="rect">
              <a:avLst/>
            </a:prstGeom>
          </p:spPr>
        </p:pic>
        <p:sp>
          <p:nvSpPr>
            <p:cNvPr id="17" name="Rectangle 16"/>
            <p:cNvSpPr/>
            <p:nvPr/>
          </p:nvSpPr>
          <p:spPr>
            <a:xfrm>
              <a:off x="2632650" y="816293"/>
              <a:ext cx="6187822" cy="378706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85626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2" grpId="0" animBg="1"/>
      <p:bldP spid="129" grpId="0" animBg="1"/>
      <p:bldP spid="130" grpId="0" animBg="1"/>
      <p:bldP spid="131" grpId="0" animBg="1"/>
      <p:bldP spid="132" grpId="0" animBg="1"/>
      <p:bldP spid="2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87824" y="3617158"/>
            <a:ext cx="1944094" cy="12596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cxnSp>
        <p:nvCxnSpPr>
          <p:cNvPr id="15" name="Connecteur droit avec flèche 14"/>
          <p:cNvCxnSpPr>
            <a:stCxn id="132" idx="0"/>
            <a:endCxn id="72" idx="2"/>
          </p:cNvCxnSpPr>
          <p:nvPr/>
        </p:nvCxnSpPr>
        <p:spPr>
          <a:xfrm flipV="1">
            <a:off x="1082936" y="2932319"/>
            <a:ext cx="5109" cy="368376"/>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e 23"/>
          <p:cNvGrpSpPr/>
          <p:nvPr/>
        </p:nvGrpSpPr>
        <p:grpSpPr>
          <a:xfrm>
            <a:off x="2987823" y="677748"/>
            <a:ext cx="1944095" cy="1254911"/>
            <a:chOff x="1672331" y="1136765"/>
            <a:chExt cx="5694424" cy="1386211"/>
          </a:xfrm>
          <a:solidFill>
            <a:schemeClr val="bg1"/>
          </a:solidFill>
        </p:grpSpPr>
        <p:sp>
          <p:nvSpPr>
            <p:cNvPr id="25" name="Rectangle 24"/>
            <p:cNvSpPr/>
            <p:nvPr/>
          </p:nvSpPr>
          <p:spPr>
            <a:xfrm>
              <a:off x="1672331" y="1136765"/>
              <a:ext cx="5694424" cy="1386211"/>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34" name="ZoneTexte 33"/>
            <p:cNvSpPr txBox="1"/>
            <p:nvPr/>
          </p:nvSpPr>
          <p:spPr>
            <a:xfrm>
              <a:off x="2575568" y="1656258"/>
              <a:ext cx="3961427" cy="356977"/>
            </a:xfrm>
            <a:prstGeom prst="rect">
              <a:avLst/>
            </a:prstGeom>
            <a:grpFill/>
          </p:spPr>
          <p:txBody>
            <a:bodyPr wrap="square" rtlCol="0">
              <a:spAutoFit/>
            </a:bodyPr>
            <a:lstStyle/>
            <a:p>
              <a:pPr defTabSz="514350"/>
              <a:r>
                <a:rPr lang="fr-FR" sz="1500" b="1" dirty="0">
                  <a:latin typeface="Calibri" panose="020F0502020204030204"/>
                </a:rPr>
                <a:t>Environmental</a:t>
              </a:r>
            </a:p>
          </p:txBody>
        </p:sp>
      </p:grpSp>
      <p:grpSp>
        <p:nvGrpSpPr>
          <p:cNvPr id="47" name="Groupe 46"/>
          <p:cNvGrpSpPr/>
          <p:nvPr/>
        </p:nvGrpSpPr>
        <p:grpSpPr>
          <a:xfrm>
            <a:off x="2987823" y="2153294"/>
            <a:ext cx="1944094" cy="1254912"/>
            <a:chOff x="2934844" y="1598354"/>
            <a:chExt cx="7572279" cy="1673216"/>
          </a:xfrm>
          <a:solidFill>
            <a:schemeClr val="bg1"/>
          </a:solidFill>
        </p:grpSpPr>
        <p:sp>
          <p:nvSpPr>
            <p:cNvPr id="40" name="Rectangle 39"/>
            <p:cNvSpPr/>
            <p:nvPr/>
          </p:nvSpPr>
          <p:spPr>
            <a:xfrm>
              <a:off x="2934844" y="1598354"/>
              <a:ext cx="7572279" cy="167321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fr-FR" sz="1350">
                <a:solidFill>
                  <a:prstClr val="white"/>
                </a:solidFill>
                <a:latin typeface="Calibri" panose="020F0502020204030204"/>
              </a:endParaRPr>
            </a:p>
          </p:txBody>
        </p:sp>
        <p:sp>
          <p:nvSpPr>
            <p:cNvPr id="46" name="ZoneTexte 45"/>
            <p:cNvSpPr txBox="1"/>
            <p:nvPr/>
          </p:nvSpPr>
          <p:spPr>
            <a:xfrm>
              <a:off x="4716425" y="2239866"/>
              <a:ext cx="4315531" cy="430887"/>
            </a:xfrm>
            <a:prstGeom prst="rect">
              <a:avLst/>
            </a:prstGeom>
            <a:grpFill/>
          </p:spPr>
          <p:txBody>
            <a:bodyPr wrap="square" rtlCol="0">
              <a:spAutoFit/>
            </a:bodyPr>
            <a:lstStyle/>
            <a:p>
              <a:pPr defTabSz="514350"/>
              <a:r>
                <a:rPr lang="fr-FR" sz="1500" b="1" dirty="0">
                  <a:latin typeface="Calibri" panose="020F0502020204030204"/>
                </a:rPr>
                <a:t>Foodborne</a:t>
              </a:r>
            </a:p>
          </p:txBody>
        </p:sp>
      </p:grpSp>
      <p:sp>
        <p:nvSpPr>
          <p:cNvPr id="72" name="ZoneTexte 71"/>
          <p:cNvSpPr txBox="1"/>
          <p:nvPr/>
        </p:nvSpPr>
        <p:spPr>
          <a:xfrm>
            <a:off x="722308" y="2632237"/>
            <a:ext cx="731475" cy="323165"/>
          </a:xfrm>
          <a:prstGeom prst="rect">
            <a:avLst/>
          </a:prstGeom>
          <a:solidFill>
            <a:schemeClr val="bg1"/>
          </a:solidFill>
          <a:ln w="12700">
            <a:solidFill>
              <a:srgbClr val="262626"/>
            </a:solidFill>
          </a:ln>
        </p:spPr>
        <p:txBody>
          <a:bodyPr wrap="square" rtlCol="0">
            <a:spAutoFit/>
          </a:bodyPr>
          <a:lstStyle/>
          <a:p>
            <a:pPr algn="ctr" defTabSz="514350"/>
            <a:r>
              <a:rPr lang="fr-FR" sz="1500" dirty="0">
                <a:latin typeface="Calibri" panose="020F0502020204030204"/>
              </a:rPr>
              <a:t> </a:t>
            </a:r>
            <a:r>
              <a:rPr lang="fr-FR" sz="1500" b="1" dirty="0">
                <a:latin typeface="Calibri" panose="020F0502020204030204"/>
              </a:rPr>
              <a:t>Farm</a:t>
            </a:r>
          </a:p>
        </p:txBody>
      </p:sp>
      <p:cxnSp>
        <p:nvCxnSpPr>
          <p:cNvPr id="158" name="Connecteur droit avec flèche 157"/>
          <p:cNvCxnSpPr>
            <a:stCxn id="72" idx="3"/>
            <a:endCxn id="133" idx="1"/>
          </p:cNvCxnSpPr>
          <p:nvPr/>
        </p:nvCxnSpPr>
        <p:spPr>
          <a:xfrm>
            <a:off x="1453783" y="2793820"/>
            <a:ext cx="544919" cy="46090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2" name="Connecteur droit avec flèche 161"/>
          <p:cNvCxnSpPr>
            <a:stCxn id="133" idx="3"/>
          </p:cNvCxnSpPr>
          <p:nvPr/>
        </p:nvCxnSpPr>
        <p:spPr>
          <a:xfrm>
            <a:off x="2612307" y="3254720"/>
            <a:ext cx="365397" cy="0"/>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p:cNvCxnSpPr/>
          <p:nvPr/>
        </p:nvCxnSpPr>
        <p:spPr>
          <a:xfrm>
            <a:off x="2612307" y="855689"/>
            <a:ext cx="364626" cy="1785"/>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p:cNvCxnSpPr>
            <a:stCxn id="130" idx="3"/>
            <a:endCxn id="4" idx="1"/>
          </p:cNvCxnSpPr>
          <p:nvPr/>
        </p:nvCxnSpPr>
        <p:spPr>
          <a:xfrm flipV="1">
            <a:off x="2626787" y="4246980"/>
            <a:ext cx="361037" cy="5756"/>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Connecteur droit avec flèche 121"/>
          <p:cNvCxnSpPr/>
          <p:nvPr/>
        </p:nvCxnSpPr>
        <p:spPr>
          <a:xfrm>
            <a:off x="2609824" y="2324564"/>
            <a:ext cx="364626" cy="1785"/>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sp>
        <p:nvSpPr>
          <p:cNvPr id="129" name="Rectangle à coins arrondis 128"/>
          <p:cNvSpPr/>
          <p:nvPr/>
        </p:nvSpPr>
        <p:spPr>
          <a:xfrm>
            <a:off x="1675534" y="2156791"/>
            <a:ext cx="928427"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foodborne</a:t>
            </a:r>
            <a:endParaRPr lang="fr-FR" sz="2100" dirty="0">
              <a:solidFill>
                <a:schemeClr val="tx1"/>
              </a:solidFill>
            </a:endParaRPr>
          </a:p>
        </p:txBody>
      </p:sp>
      <p:sp>
        <p:nvSpPr>
          <p:cNvPr id="130" name="Rectangle à coins arrondis 129"/>
          <p:cNvSpPr/>
          <p:nvPr/>
        </p:nvSpPr>
        <p:spPr>
          <a:xfrm>
            <a:off x="1675534" y="4071523"/>
            <a:ext cx="951253"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occupational</a:t>
            </a:r>
            <a:endParaRPr lang="fr-FR" sz="2700" dirty="0">
              <a:solidFill>
                <a:schemeClr val="tx1"/>
              </a:solidFill>
            </a:endParaRPr>
          </a:p>
        </p:txBody>
      </p:sp>
      <p:sp>
        <p:nvSpPr>
          <p:cNvPr id="131" name="Rectangle à coins arrondis 130"/>
          <p:cNvSpPr/>
          <p:nvPr/>
        </p:nvSpPr>
        <p:spPr>
          <a:xfrm>
            <a:off x="1675535" y="679773"/>
            <a:ext cx="939840"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788" dirty="0">
                <a:solidFill>
                  <a:schemeClr val="tx1"/>
                </a:solidFill>
                <a:latin typeface="Calibri" panose="020F0502020204030204" pitchFamily="34" charset="0"/>
                <a:cs typeface="Calibri" panose="020F0502020204030204" pitchFamily="34" charset="0"/>
              </a:rPr>
              <a:t>environmental</a:t>
            </a:r>
            <a:endParaRPr lang="fr-FR" sz="2100" dirty="0">
              <a:solidFill>
                <a:schemeClr val="tx1"/>
              </a:solidFill>
            </a:endParaRPr>
          </a:p>
        </p:txBody>
      </p:sp>
      <p:sp>
        <p:nvSpPr>
          <p:cNvPr id="132" name="Rectangle à coins arrondis 131"/>
          <p:cNvSpPr/>
          <p:nvPr/>
        </p:nvSpPr>
        <p:spPr>
          <a:xfrm>
            <a:off x="638246" y="3300695"/>
            <a:ext cx="889381" cy="3624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b="1" dirty="0">
                <a:solidFill>
                  <a:schemeClr val="tx1"/>
                </a:solidFill>
                <a:latin typeface="Calibri" panose="020F0502020204030204" pitchFamily="34" charset="0"/>
                <a:cs typeface="Calibri" panose="020F0502020204030204" pitchFamily="34" charset="0"/>
              </a:rPr>
              <a:t>Ɵ</a:t>
            </a:r>
            <a:r>
              <a:rPr lang="fr-FR" sz="900" dirty="0">
                <a:solidFill>
                  <a:schemeClr val="tx1"/>
                </a:solidFill>
                <a:latin typeface="Calibri" panose="020F0502020204030204" pitchFamily="34" charset="0"/>
                <a:cs typeface="Calibri" panose="020F0502020204030204" pitchFamily="34" charset="0"/>
              </a:rPr>
              <a:t>farm</a:t>
            </a:r>
            <a:endParaRPr lang="fr-FR" sz="2100" dirty="0">
              <a:solidFill>
                <a:schemeClr val="tx1"/>
              </a:solidFill>
            </a:endParaRPr>
          </a:p>
        </p:txBody>
      </p:sp>
      <p:sp>
        <p:nvSpPr>
          <p:cNvPr id="11" name="Rectangle 10"/>
          <p:cNvSpPr/>
          <p:nvPr/>
        </p:nvSpPr>
        <p:spPr>
          <a:xfrm>
            <a:off x="1998702" y="2622175"/>
            <a:ext cx="613605"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t>C</a:t>
            </a:r>
            <a:r>
              <a:rPr lang="fr-FR" sz="700" dirty="0"/>
              <a:t>farm, d</a:t>
            </a:r>
            <a:endParaRPr lang="fr-FR" sz="1100" dirty="0"/>
          </a:p>
        </p:txBody>
      </p:sp>
      <p:sp>
        <p:nvSpPr>
          <p:cNvPr id="133" name="Rectangle 132"/>
          <p:cNvSpPr/>
          <p:nvPr/>
        </p:nvSpPr>
        <p:spPr>
          <a:xfrm>
            <a:off x="1998702" y="3101234"/>
            <a:ext cx="613605"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t>P</a:t>
            </a:r>
            <a:r>
              <a:rPr lang="fr-FR" sz="700" dirty="0"/>
              <a:t>farm, d</a:t>
            </a:r>
            <a:endParaRPr lang="fr-FR" sz="1100" dirty="0"/>
          </a:p>
        </p:txBody>
      </p:sp>
      <p:cxnSp>
        <p:nvCxnSpPr>
          <p:cNvPr id="135" name="Connecteur droit avec flèche 134"/>
          <p:cNvCxnSpPr>
            <a:stCxn id="72" idx="3"/>
            <a:endCxn id="11" idx="1"/>
          </p:cNvCxnSpPr>
          <p:nvPr/>
        </p:nvCxnSpPr>
        <p:spPr>
          <a:xfrm flipV="1">
            <a:off x="1453783" y="2775661"/>
            <a:ext cx="544919" cy="6617"/>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5" name="Connecteur droit avec flèche 154"/>
          <p:cNvCxnSpPr>
            <a:stCxn id="11" idx="3"/>
          </p:cNvCxnSpPr>
          <p:nvPr/>
        </p:nvCxnSpPr>
        <p:spPr>
          <a:xfrm>
            <a:off x="2612307" y="2775661"/>
            <a:ext cx="370490" cy="0"/>
          </a:xfrm>
          <a:prstGeom prst="straightConnector1">
            <a:avLst/>
          </a:prstGeom>
          <a:ln>
            <a:solidFill>
              <a:srgbClr val="262626"/>
            </a:solidFill>
            <a:tailEnd type="triangle"/>
          </a:ln>
        </p:spPr>
        <p:style>
          <a:lnRef idx="1">
            <a:schemeClr val="accent1"/>
          </a:lnRef>
          <a:fillRef idx="0">
            <a:schemeClr val="accent1"/>
          </a:fillRef>
          <a:effectRef idx="0">
            <a:schemeClr val="accent1"/>
          </a:effectRef>
          <a:fontRef idx="minor">
            <a:schemeClr val="tx1"/>
          </a:fontRef>
        </p:style>
      </p:cxnSp>
      <p:sp>
        <p:nvSpPr>
          <p:cNvPr id="156" name="Rectangle 155"/>
          <p:cNvSpPr/>
          <p:nvPr/>
        </p:nvSpPr>
        <p:spPr>
          <a:xfrm>
            <a:off x="5231691" y="2153294"/>
            <a:ext cx="1428541"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t>Dose </a:t>
            </a:r>
            <a:r>
              <a:rPr lang="fr-FR" sz="1200" dirty="0" err="1" smtClean="0"/>
              <a:t>meat</a:t>
            </a:r>
            <a:r>
              <a:rPr lang="fr-FR" sz="1200" dirty="0"/>
              <a:t> (CFU)</a:t>
            </a:r>
          </a:p>
        </p:txBody>
      </p:sp>
      <p:cxnSp>
        <p:nvCxnSpPr>
          <p:cNvPr id="157" name="Connecteur droit avec flèche 156"/>
          <p:cNvCxnSpPr>
            <a:endCxn id="156" idx="1"/>
          </p:cNvCxnSpPr>
          <p:nvPr/>
        </p:nvCxnSpPr>
        <p:spPr>
          <a:xfrm>
            <a:off x="4931917" y="2306780"/>
            <a:ext cx="299774" cy="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5231690" y="2622175"/>
            <a:ext cx="1428542"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err="1" smtClean="0"/>
              <a:t>Prevalence</a:t>
            </a:r>
            <a:r>
              <a:rPr lang="fr-FR" sz="1200" dirty="0" smtClean="0"/>
              <a:t> </a:t>
            </a:r>
            <a:r>
              <a:rPr lang="fr-FR" sz="1200" dirty="0" err="1" smtClean="0"/>
              <a:t>mea</a:t>
            </a:r>
            <a:r>
              <a:rPr lang="fr-FR" sz="1200" dirty="0" err="1"/>
              <a:t>t</a:t>
            </a:r>
            <a:endParaRPr lang="fr-FR" sz="1200" dirty="0"/>
          </a:p>
        </p:txBody>
      </p:sp>
      <p:cxnSp>
        <p:nvCxnSpPr>
          <p:cNvPr id="160" name="Connecteur droit avec flèche 159"/>
          <p:cNvCxnSpPr>
            <a:endCxn id="159" idx="1"/>
          </p:cNvCxnSpPr>
          <p:nvPr/>
        </p:nvCxnSpPr>
        <p:spPr>
          <a:xfrm>
            <a:off x="4931918" y="2775661"/>
            <a:ext cx="299772" cy="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1" name="Rectangle 160"/>
          <p:cNvSpPr/>
          <p:nvPr/>
        </p:nvSpPr>
        <p:spPr>
          <a:xfrm>
            <a:off x="5231690" y="4088633"/>
            <a:ext cx="1572558"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cs typeface="Calibri" panose="020F0502020204030204" pitchFamily="34" charset="0"/>
              </a:rPr>
              <a:t>Dose </a:t>
            </a:r>
            <a:r>
              <a:rPr lang="fr-FR" sz="1200" dirty="0" err="1" smtClean="0">
                <a:cs typeface="Calibri" panose="020F0502020204030204" pitchFamily="34" charset="0"/>
              </a:rPr>
              <a:t>worker</a:t>
            </a:r>
            <a:r>
              <a:rPr lang="fr-FR" sz="1200" dirty="0" smtClean="0">
                <a:cs typeface="Calibri" panose="020F0502020204030204" pitchFamily="34" charset="0"/>
              </a:rPr>
              <a:t> </a:t>
            </a:r>
            <a:r>
              <a:rPr lang="fr-FR" sz="1200" dirty="0"/>
              <a:t>(CFU)</a:t>
            </a:r>
          </a:p>
        </p:txBody>
      </p:sp>
      <p:cxnSp>
        <p:nvCxnSpPr>
          <p:cNvPr id="163" name="Connecteur droit avec flèche 162"/>
          <p:cNvCxnSpPr>
            <a:stCxn id="4" idx="3"/>
            <a:endCxn id="161" idx="1"/>
          </p:cNvCxnSpPr>
          <p:nvPr/>
        </p:nvCxnSpPr>
        <p:spPr>
          <a:xfrm flipV="1">
            <a:off x="4931918" y="4242119"/>
            <a:ext cx="299772" cy="486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3" name="Rectangle 172"/>
          <p:cNvSpPr/>
          <p:nvPr/>
        </p:nvSpPr>
        <p:spPr>
          <a:xfrm>
            <a:off x="5237072" y="880619"/>
            <a:ext cx="1567176"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cs typeface="Calibri" panose="020F0502020204030204" pitchFamily="34" charset="0"/>
              </a:rPr>
              <a:t>Dose </a:t>
            </a:r>
            <a:r>
              <a:rPr lang="fr-FR" sz="1200" dirty="0" err="1" smtClean="0"/>
              <a:t>swim</a:t>
            </a:r>
            <a:r>
              <a:rPr lang="fr-FR" sz="1200" dirty="0" smtClean="0"/>
              <a:t> (CFU)</a:t>
            </a:r>
            <a:endParaRPr lang="fr-FR" sz="1200" dirty="0"/>
          </a:p>
        </p:txBody>
      </p:sp>
      <p:sp>
        <p:nvSpPr>
          <p:cNvPr id="175" name="Rectangle 174"/>
          <p:cNvSpPr/>
          <p:nvPr/>
        </p:nvSpPr>
        <p:spPr>
          <a:xfrm>
            <a:off x="5231689" y="1425574"/>
            <a:ext cx="1572559" cy="30697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smtClean="0">
                <a:cs typeface="Calibri" panose="020F0502020204030204" pitchFamily="34" charset="0"/>
              </a:rPr>
              <a:t>Dose </a:t>
            </a:r>
            <a:r>
              <a:rPr lang="fr-FR" sz="1200" dirty="0" err="1" smtClean="0"/>
              <a:t>lettuce</a:t>
            </a:r>
            <a:r>
              <a:rPr lang="fr-FR" sz="1200" dirty="0"/>
              <a:t> (CFU)</a:t>
            </a:r>
          </a:p>
        </p:txBody>
      </p:sp>
      <p:cxnSp>
        <p:nvCxnSpPr>
          <p:cNvPr id="176" name="Connecteur droit avec flèche 175"/>
          <p:cNvCxnSpPr>
            <a:endCxn id="175" idx="1"/>
          </p:cNvCxnSpPr>
          <p:nvPr/>
        </p:nvCxnSpPr>
        <p:spPr>
          <a:xfrm flipV="1">
            <a:off x="4931918" y="1579060"/>
            <a:ext cx="299771" cy="486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9" name="Connecteur en angle 118"/>
          <p:cNvCxnSpPr/>
          <p:nvPr/>
        </p:nvCxnSpPr>
        <p:spPr>
          <a:xfrm>
            <a:off x="2612602" y="2849941"/>
            <a:ext cx="368464" cy="99153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Connecteur en angle 179"/>
          <p:cNvCxnSpPr>
            <a:stCxn id="133" idx="2"/>
          </p:cNvCxnSpPr>
          <p:nvPr/>
        </p:nvCxnSpPr>
        <p:spPr>
          <a:xfrm rot="16200000" flipH="1">
            <a:off x="2355473" y="3358237"/>
            <a:ext cx="565943" cy="66587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5" name="ZoneTexte 214"/>
          <p:cNvSpPr txBox="1"/>
          <p:nvPr/>
        </p:nvSpPr>
        <p:spPr>
          <a:xfrm>
            <a:off x="3380812" y="4088633"/>
            <a:ext cx="1190069" cy="276999"/>
          </a:xfrm>
          <a:prstGeom prst="rect">
            <a:avLst/>
          </a:prstGeom>
          <a:noFill/>
        </p:spPr>
        <p:txBody>
          <a:bodyPr wrap="none" rtlCol="0">
            <a:spAutoFit/>
          </a:bodyPr>
          <a:lstStyle/>
          <a:p>
            <a:r>
              <a:rPr lang="fr-FR" sz="1200" b="1" dirty="0"/>
              <a:t>Occupational</a:t>
            </a:r>
            <a:endParaRPr lang="fr-FR" sz="1200" dirty="0"/>
          </a:p>
        </p:txBody>
      </p:sp>
      <p:cxnSp>
        <p:nvCxnSpPr>
          <p:cNvPr id="225" name="Connecteur en angle 224"/>
          <p:cNvCxnSpPr/>
          <p:nvPr/>
        </p:nvCxnSpPr>
        <p:spPr>
          <a:xfrm flipV="1">
            <a:off x="2615521" y="1254488"/>
            <a:ext cx="375516" cy="1470458"/>
          </a:xfrm>
          <a:prstGeom prst="bentConnector3">
            <a:avLst>
              <a:gd name="adj1" fmla="val 4716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p:cNvCxnSpPr/>
          <p:nvPr/>
        </p:nvCxnSpPr>
        <p:spPr>
          <a:xfrm flipV="1">
            <a:off x="4931917" y="1028295"/>
            <a:ext cx="299773" cy="4860"/>
          </a:xfrm>
          <a:prstGeom prst="straightConnector1">
            <a:avLst/>
          </a:prstGeom>
          <a:ln w="28575">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Rectangle à coins arrondis 1"/>
          <p:cNvSpPr/>
          <p:nvPr/>
        </p:nvSpPr>
        <p:spPr>
          <a:xfrm>
            <a:off x="5105219" y="470067"/>
            <a:ext cx="1836266" cy="424847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p:cNvSpPr txBox="1"/>
          <p:nvPr/>
        </p:nvSpPr>
        <p:spPr>
          <a:xfrm>
            <a:off x="6941485" y="2420343"/>
            <a:ext cx="2274755" cy="738664"/>
          </a:xfrm>
          <a:prstGeom prst="rect">
            <a:avLst/>
          </a:prstGeom>
          <a:noFill/>
        </p:spPr>
        <p:txBody>
          <a:bodyPr wrap="square" rtlCol="0">
            <a:spAutoFit/>
          </a:bodyPr>
          <a:lstStyle/>
          <a:p>
            <a:pPr algn="ctr"/>
            <a:r>
              <a:rPr lang="fr-FR" sz="1400" b="1" dirty="0" smtClean="0">
                <a:solidFill>
                  <a:srgbClr val="FF0000"/>
                </a:solidFill>
              </a:rPr>
              <a:t>HYPOTHETICAL </a:t>
            </a:r>
          </a:p>
          <a:p>
            <a:pPr algn="ctr"/>
            <a:r>
              <a:rPr lang="fr-FR" sz="1400" b="1" dirty="0" smtClean="0">
                <a:solidFill>
                  <a:srgbClr val="FF0000"/>
                </a:solidFill>
              </a:rPr>
              <a:t>BASELINE SCENARIO</a:t>
            </a:r>
          </a:p>
          <a:p>
            <a:pPr algn="ctr"/>
            <a:r>
              <a:rPr lang="fr-FR" sz="1400" b="1" dirty="0" err="1" smtClean="0">
                <a:solidFill>
                  <a:srgbClr val="FF0000"/>
                </a:solidFill>
              </a:rPr>
              <a:t>defined</a:t>
            </a:r>
            <a:r>
              <a:rPr lang="fr-FR" sz="1400" b="1" dirty="0" smtClean="0">
                <a:solidFill>
                  <a:srgbClr val="FF0000"/>
                </a:solidFill>
              </a:rPr>
              <a:t> </a:t>
            </a:r>
            <a:r>
              <a:rPr lang="fr-FR" sz="1400" b="1" dirty="0">
                <a:solidFill>
                  <a:srgbClr val="FF0000"/>
                </a:solidFill>
              </a:rPr>
              <a:t>by </a:t>
            </a:r>
            <a:r>
              <a:rPr lang="fr-FR" sz="1400" b="1" dirty="0" smtClean="0">
                <a:latin typeface="Calibri" panose="020F0502020204030204" pitchFamily="34" charset="0"/>
                <a:cs typeface="Calibri" panose="020F0502020204030204" pitchFamily="34" charset="0"/>
              </a:rPr>
              <a:t>Ɵ</a:t>
            </a:r>
            <a:r>
              <a:rPr lang="fr-FR" sz="1400" b="1" dirty="0" smtClean="0">
                <a:solidFill>
                  <a:srgbClr val="FF0000"/>
                </a:solidFill>
              </a:rPr>
              <a:t> </a:t>
            </a:r>
            <a:endParaRPr lang="fr-FR" sz="1400" b="1" dirty="0">
              <a:solidFill>
                <a:srgbClr val="FF0000"/>
              </a:solidFill>
            </a:endParaRPr>
          </a:p>
        </p:txBody>
      </p:sp>
      <p:sp>
        <p:nvSpPr>
          <p:cNvPr id="94"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sp>
        <p:nvSpPr>
          <p:cNvPr id="27" name="Rectangle à coins arrondis 26"/>
          <p:cNvSpPr/>
          <p:nvPr/>
        </p:nvSpPr>
        <p:spPr>
          <a:xfrm>
            <a:off x="7074747" y="555527"/>
            <a:ext cx="1960698" cy="1597768"/>
          </a:xfrm>
          <a:prstGeom prst="round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smtClean="0">
                <a:solidFill>
                  <a:schemeClr val="tx1"/>
                </a:solidFill>
              </a:rPr>
              <a:t>Dose-</a:t>
            </a:r>
            <a:r>
              <a:rPr lang="fr-FR" sz="1400" b="1" dirty="0" err="1" smtClean="0">
                <a:solidFill>
                  <a:schemeClr val="tx1"/>
                </a:solidFill>
              </a:rPr>
              <a:t>Response</a:t>
            </a:r>
            <a:r>
              <a:rPr lang="fr-FR" sz="1400" b="1" dirty="0" smtClean="0">
                <a:solidFill>
                  <a:schemeClr val="tx1"/>
                </a:solidFill>
              </a:rPr>
              <a:t> </a:t>
            </a:r>
          </a:p>
          <a:p>
            <a:pPr algn="ctr"/>
            <a:r>
              <a:rPr lang="fr-FR" sz="1400" b="1" dirty="0" smtClean="0">
                <a:solidFill>
                  <a:schemeClr val="tx1"/>
                </a:solidFill>
              </a:rPr>
              <a:t>DOSE </a:t>
            </a:r>
            <a:r>
              <a:rPr lang="fr-FR" sz="1400" b="1" dirty="0" smtClean="0">
                <a:solidFill>
                  <a:schemeClr val="tx1"/>
                </a:solidFill>
                <a:sym typeface="Wingdings" panose="05000000000000000000" pitchFamily="2" charset="2"/>
              </a:rPr>
              <a:t> RISK</a:t>
            </a:r>
            <a:br>
              <a:rPr lang="fr-FR" sz="1400" b="1" dirty="0" smtClean="0">
                <a:solidFill>
                  <a:schemeClr val="tx1"/>
                </a:solidFill>
                <a:sym typeface="Wingdings" panose="05000000000000000000" pitchFamily="2" charset="2"/>
              </a:rPr>
            </a:br>
            <a:r>
              <a:rPr lang="fr-FR" sz="1400" b="1" dirty="0" smtClean="0">
                <a:solidFill>
                  <a:schemeClr val="tx1"/>
                </a:solidFill>
                <a:sym typeface="Wingdings" panose="05000000000000000000" pitchFamily="2" charset="2"/>
              </a:rPr>
              <a:t/>
            </a:r>
            <a:br>
              <a:rPr lang="fr-FR" sz="1400" b="1" dirty="0" smtClean="0">
                <a:solidFill>
                  <a:schemeClr val="tx1"/>
                </a:solidFill>
                <a:sym typeface="Wingdings" panose="05000000000000000000" pitchFamily="2" charset="2"/>
              </a:rPr>
            </a:br>
            <a:r>
              <a:rPr lang="fr-FR" sz="1400" b="1" dirty="0" err="1" smtClean="0">
                <a:solidFill>
                  <a:schemeClr val="tx1"/>
                </a:solidFill>
                <a:sym typeface="Wingdings" panose="05000000000000000000" pitchFamily="2" charset="2"/>
              </a:rPr>
              <a:t>RISK</a:t>
            </a:r>
            <a:r>
              <a:rPr lang="fr-FR" sz="1400" b="1" dirty="0" smtClean="0">
                <a:solidFill>
                  <a:schemeClr val="tx1"/>
                </a:solidFill>
                <a:sym typeface="Wingdings" panose="05000000000000000000" pitchFamily="2" charset="2"/>
              </a:rPr>
              <a:t> = </a:t>
            </a:r>
            <a:r>
              <a:rPr lang="fr-FR" sz="1400" b="1" dirty="0" err="1" smtClean="0">
                <a:solidFill>
                  <a:srgbClr val="E1000F"/>
                </a:solidFill>
              </a:rPr>
              <a:t>Probability</a:t>
            </a:r>
            <a:r>
              <a:rPr lang="fr-FR" sz="1400" b="1" dirty="0" smtClean="0">
                <a:solidFill>
                  <a:srgbClr val="E1000F"/>
                </a:solidFill>
              </a:rPr>
              <a:t> </a:t>
            </a:r>
            <a:endParaRPr lang="fr-FR" sz="1400" b="1" dirty="0">
              <a:solidFill>
                <a:srgbClr val="E1000F"/>
              </a:solidFill>
            </a:endParaRPr>
          </a:p>
          <a:p>
            <a:pPr algn="ctr"/>
            <a:r>
              <a:rPr lang="fr-FR" sz="1400" b="1" dirty="0">
                <a:solidFill>
                  <a:srgbClr val="E1000F"/>
                </a:solidFill>
              </a:rPr>
              <a:t>of </a:t>
            </a:r>
            <a:r>
              <a:rPr lang="fr-FR" sz="1400" b="1" dirty="0" smtClean="0">
                <a:solidFill>
                  <a:srgbClr val="E1000F"/>
                </a:solidFill>
              </a:rPr>
              <a:t>ESBL </a:t>
            </a:r>
            <a:r>
              <a:rPr lang="fr-FR" sz="1400" b="1" i="1" dirty="0">
                <a:solidFill>
                  <a:srgbClr val="E1000F"/>
                </a:solidFill>
              </a:rPr>
              <a:t>E. coli</a:t>
            </a:r>
          </a:p>
          <a:p>
            <a:pPr algn="ctr"/>
            <a:r>
              <a:rPr lang="fr-FR" sz="1400" b="1" dirty="0" err="1" smtClean="0">
                <a:solidFill>
                  <a:srgbClr val="E1000F"/>
                </a:solidFill>
              </a:rPr>
              <a:t>Colonization</a:t>
            </a:r>
            <a:endParaRPr lang="fr-FR" sz="1400" b="1" dirty="0">
              <a:solidFill>
                <a:srgbClr val="E1000F"/>
              </a:solidFill>
            </a:endParaRPr>
          </a:p>
        </p:txBody>
      </p:sp>
      <p:sp>
        <p:nvSpPr>
          <p:cNvPr id="54" name="Titre 2"/>
          <p:cNvSpPr>
            <a:spLocks noGrp="1"/>
          </p:cNvSpPr>
          <p:nvPr>
            <p:ph type="title"/>
          </p:nvPr>
        </p:nvSpPr>
        <p:spPr>
          <a:xfrm>
            <a:off x="251520" y="167403"/>
            <a:ext cx="8030340" cy="605329"/>
          </a:xfrm>
        </p:spPr>
        <p:txBody>
          <a:bodyPr/>
          <a:lstStyle/>
          <a:p>
            <a:r>
              <a:rPr lang="fr-FR" sz="2800" dirty="0" smtClean="0"/>
              <a:t>How to </a:t>
            </a:r>
            <a:r>
              <a:rPr lang="fr-FR" sz="2800" dirty="0" err="1" smtClean="0"/>
              <a:t>run</a:t>
            </a:r>
            <a:r>
              <a:rPr lang="fr-FR" sz="2800" dirty="0" smtClean="0"/>
              <a:t> the model?</a:t>
            </a:r>
            <a:endParaRPr lang="fr-FR" sz="2800" dirty="0"/>
          </a:p>
        </p:txBody>
      </p:sp>
      <p:sp>
        <p:nvSpPr>
          <p:cNvPr id="55" name="Rectangle à coins arrondis 54"/>
          <p:cNvSpPr/>
          <p:nvPr/>
        </p:nvSpPr>
        <p:spPr>
          <a:xfrm>
            <a:off x="7074747" y="3360051"/>
            <a:ext cx="1960698" cy="1209907"/>
          </a:xfrm>
          <a:prstGeom prst="round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smtClean="0">
                <a:solidFill>
                  <a:schemeClr val="tx1"/>
                </a:solidFill>
              </a:rPr>
              <a:t>1 simulation</a:t>
            </a:r>
          </a:p>
          <a:p>
            <a:pPr algn="ctr"/>
            <a:r>
              <a:rPr lang="fr-FR" sz="1400" b="1" dirty="0">
                <a:solidFill>
                  <a:schemeClr val="tx1"/>
                </a:solidFill>
              </a:rPr>
              <a:t>=</a:t>
            </a:r>
            <a:endParaRPr lang="fr-FR" sz="1400" b="1" dirty="0" smtClean="0">
              <a:solidFill>
                <a:schemeClr val="tx1"/>
              </a:solidFill>
            </a:endParaRPr>
          </a:p>
          <a:p>
            <a:pPr algn="ctr"/>
            <a:r>
              <a:rPr lang="fr-FR" sz="1400" b="1" dirty="0" smtClean="0">
                <a:solidFill>
                  <a:schemeClr val="tx1"/>
                </a:solidFill>
              </a:rPr>
              <a:t>1 BROILER FLOCK</a:t>
            </a:r>
          </a:p>
        </p:txBody>
      </p:sp>
    </p:spTree>
    <p:extLst>
      <p:ext uri="{BB962C8B-B14F-4D97-AF65-F5344CB8AC3E}">
        <p14:creationId xmlns:p14="http://schemas.microsoft.com/office/powerpoint/2010/main" val="2206609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fade">
                                      <p:cBhvr>
                                        <p:cTn id="63" dur="500"/>
                                        <p:tgtEl>
                                          <p:spTgt spid="5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3" grpId="0" animBg="1"/>
      <p:bldP spid="156" grpId="0" animBg="1"/>
      <p:bldP spid="159" grpId="0" animBg="1"/>
      <p:bldP spid="161" grpId="0" animBg="1"/>
      <p:bldP spid="173" grpId="0" animBg="1"/>
      <p:bldP spid="175" grpId="0" animBg="1"/>
      <p:bldP spid="2" grpId="0" animBg="1"/>
      <p:bldP spid="3" grpId="0"/>
      <p:bldP spid="27" grpId="0" animBg="1"/>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Why</a:t>
            </a:r>
            <a:r>
              <a:rPr lang="fr-FR" dirty="0" smtClean="0"/>
              <a:t> do QMRA ?</a:t>
            </a:r>
            <a:endParaRPr lang="fr-FR" dirty="0"/>
          </a:p>
        </p:txBody>
      </p:sp>
      <p:sp>
        <p:nvSpPr>
          <p:cNvPr id="3" name="Espace réservé du numéro de diapositive 2"/>
          <p:cNvSpPr>
            <a:spLocks noGrp="1"/>
          </p:cNvSpPr>
          <p:nvPr>
            <p:ph type="sldNum" sz="quarter" idx="19"/>
          </p:nvPr>
        </p:nvSpPr>
        <p:spPr/>
        <p:txBody>
          <a:bodyPr/>
          <a:lstStyle/>
          <a:p>
            <a:fld id="{733122C9-A0B9-462F-8757-0847AD287B63}" type="slidenum">
              <a:rPr lang="fr-FR" smtClean="0"/>
              <a:pPr/>
              <a:t>9</a:t>
            </a:fld>
            <a:endParaRPr lang="fr-FR" dirty="0"/>
          </a:p>
        </p:txBody>
      </p:sp>
      <p:sp>
        <p:nvSpPr>
          <p:cNvPr id="6"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800" dirty="0"/>
              <a:t>ENVIRE meeting Wroclaw 2025</a:t>
            </a:r>
          </a:p>
        </p:txBody>
      </p:sp>
    </p:spTree>
    <p:extLst>
      <p:ext uri="{BB962C8B-B14F-4D97-AF65-F5344CB8AC3E}">
        <p14:creationId xmlns:p14="http://schemas.microsoft.com/office/powerpoint/2010/main" val="19173115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8"/>
          </p:nvPr>
        </p:nvSpPr>
        <p:spPr/>
        <p:txBody>
          <a:bodyPr/>
          <a:lstStyle/>
          <a:p>
            <a:fld id="{733122C9-A0B9-462F-8757-0847AD287B63}" type="slidenum">
              <a:rPr lang="fr-FR" smtClean="0"/>
              <a:pPr/>
              <a:t>10</a:t>
            </a:fld>
            <a:endParaRPr lang="fr-FR" dirty="0"/>
          </a:p>
        </p:txBody>
      </p:sp>
      <p:sp>
        <p:nvSpPr>
          <p:cNvPr id="5" name="Espace réservé du texte 4"/>
          <p:cNvSpPr>
            <a:spLocks noGrp="1"/>
          </p:cNvSpPr>
          <p:nvPr>
            <p:ph type="body" sz="quarter" idx="13"/>
          </p:nvPr>
        </p:nvSpPr>
        <p:spPr>
          <a:xfrm>
            <a:off x="253802" y="915486"/>
            <a:ext cx="8594295" cy="2232248"/>
          </a:xfrm>
        </p:spPr>
        <p:txBody>
          <a:bodyPr/>
          <a:lstStyle/>
          <a:p>
            <a:pPr algn="ctr"/>
            <a:r>
              <a:rPr lang="en-US" sz="1800" dirty="0" smtClean="0"/>
              <a:t>“</a:t>
            </a:r>
            <a:r>
              <a:rPr lang="en-US" sz="1800" b="0" i="1" dirty="0" smtClean="0"/>
              <a:t>Models </a:t>
            </a:r>
            <a:r>
              <a:rPr lang="en-US" sz="1800" b="0" i="1" dirty="0"/>
              <a:t>are always </a:t>
            </a:r>
            <a:r>
              <a:rPr lang="en-US" sz="1800" b="0" i="1" dirty="0" smtClean="0"/>
              <a:t>incomplete </a:t>
            </a:r>
            <a:r>
              <a:rPr lang="en-US" sz="1800" b="0" i="1" dirty="0"/>
              <a:t>representations of the system they are intended to </a:t>
            </a:r>
            <a:r>
              <a:rPr lang="en-US" sz="1800" b="0" i="1" dirty="0" smtClean="0"/>
              <a:t>model</a:t>
            </a:r>
            <a:r>
              <a:rPr lang="en-US" sz="1800" b="0" i="1" dirty="0"/>
              <a:t>, but </a:t>
            </a:r>
            <a:r>
              <a:rPr lang="en-US" sz="1800" b="0" i="1" dirty="0" smtClean="0"/>
              <a:t>they can </a:t>
            </a:r>
            <a:r>
              <a:rPr lang="en-US" sz="1800" b="0" i="1" dirty="0"/>
              <a:t>still be </a:t>
            </a:r>
            <a:r>
              <a:rPr lang="en-US" sz="1800" b="0" i="1" dirty="0" smtClean="0"/>
              <a:t>useful</a:t>
            </a:r>
            <a:r>
              <a:rPr lang="en-US" sz="1800" dirty="0" smtClean="0"/>
              <a:t>” – </a:t>
            </a:r>
            <a:r>
              <a:rPr lang="en-US" sz="1800" dirty="0" smtClean="0">
                <a:solidFill>
                  <a:schemeClr val="bg2"/>
                </a:solidFill>
              </a:rPr>
              <a:t>WHO (2021)</a:t>
            </a:r>
          </a:p>
          <a:p>
            <a:pPr marL="285750" indent="-285750">
              <a:buFont typeface="Arial" panose="020B0604020202020204" pitchFamily="34" charset="0"/>
              <a:buChar char="•"/>
            </a:pPr>
            <a:r>
              <a:rPr lang="en-US" sz="1800" dirty="0" smtClean="0">
                <a:solidFill>
                  <a:schemeClr val="tx1"/>
                </a:solidFill>
              </a:rPr>
              <a:t>Testing expensive intervention protocols</a:t>
            </a:r>
          </a:p>
          <a:p>
            <a:pPr marL="285750" indent="-285750">
              <a:buFont typeface="Arial" panose="020B0604020202020204" pitchFamily="34" charset="0"/>
              <a:buChar char="•"/>
            </a:pPr>
            <a:r>
              <a:rPr lang="en-US" sz="1800" dirty="0" smtClean="0">
                <a:solidFill>
                  <a:schemeClr val="tx1"/>
                </a:solidFill>
              </a:rPr>
              <a:t>Identifying influential parameters</a:t>
            </a:r>
          </a:p>
          <a:p>
            <a:pPr marL="285750" indent="-285750">
              <a:buFont typeface="Arial" panose="020B0604020202020204" pitchFamily="34" charset="0"/>
              <a:buChar char="•"/>
            </a:pPr>
            <a:r>
              <a:rPr lang="en-US" sz="1800" dirty="0" smtClean="0">
                <a:solidFill>
                  <a:schemeClr val="tx1"/>
                </a:solidFill>
              </a:rPr>
              <a:t>Compare different scenarios</a:t>
            </a:r>
          </a:p>
          <a:p>
            <a:pPr marL="285750" indent="-285750">
              <a:buFont typeface="Arial" panose="020B0604020202020204" pitchFamily="34" charset="0"/>
              <a:buChar char="•"/>
            </a:pPr>
            <a:r>
              <a:rPr lang="en-US" sz="1800" dirty="0" smtClean="0">
                <a:solidFill>
                  <a:schemeClr val="tx1"/>
                </a:solidFill>
              </a:rPr>
              <a:t>Categorize pathways with high exposure </a:t>
            </a:r>
            <a:endParaRPr lang="en-US" sz="1800" dirty="0">
              <a:solidFill>
                <a:schemeClr val="tx1"/>
              </a:solidFill>
            </a:endParaRPr>
          </a:p>
        </p:txBody>
      </p:sp>
      <p:sp>
        <p:nvSpPr>
          <p:cNvPr id="6" name="Titre 5"/>
          <p:cNvSpPr>
            <a:spLocks noGrp="1"/>
          </p:cNvSpPr>
          <p:nvPr>
            <p:ph type="title"/>
          </p:nvPr>
        </p:nvSpPr>
        <p:spPr/>
        <p:txBody>
          <a:bodyPr/>
          <a:lstStyle/>
          <a:p>
            <a:r>
              <a:rPr lang="fr-FR" sz="2400" dirty="0" smtClean="0"/>
              <a:t>Use of QMRA </a:t>
            </a:r>
            <a:r>
              <a:rPr lang="fr-FR" sz="2400" dirty="0" err="1" smtClean="0"/>
              <a:t>models</a:t>
            </a:r>
            <a:endParaRPr lang="fr-FR" sz="2400" dirty="0"/>
          </a:p>
        </p:txBody>
      </p:sp>
      <p:sp>
        <p:nvSpPr>
          <p:cNvPr id="8" name="Rectangle à coins arrondis 7"/>
          <p:cNvSpPr/>
          <p:nvPr/>
        </p:nvSpPr>
        <p:spPr>
          <a:xfrm>
            <a:off x="1582960" y="3858522"/>
            <a:ext cx="1800200" cy="57606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solidFill>
                  <a:schemeClr val="tx1"/>
                </a:solidFill>
              </a:rPr>
              <a:t>QMRA</a:t>
            </a:r>
            <a:endParaRPr lang="fr-FR" sz="1600" b="1" dirty="0">
              <a:solidFill>
                <a:schemeClr val="tx1"/>
              </a:solidFill>
            </a:endParaRPr>
          </a:p>
        </p:txBody>
      </p:sp>
      <p:sp>
        <p:nvSpPr>
          <p:cNvPr id="9" name="Rectangle à coins arrondis 8"/>
          <p:cNvSpPr/>
          <p:nvPr/>
        </p:nvSpPr>
        <p:spPr>
          <a:xfrm>
            <a:off x="5508104" y="3872386"/>
            <a:ext cx="1800200" cy="57606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err="1" smtClean="0">
                <a:solidFill>
                  <a:schemeClr val="tx1"/>
                </a:solidFill>
              </a:rPr>
              <a:t>Risk</a:t>
            </a:r>
            <a:r>
              <a:rPr lang="fr-FR" sz="1600" b="1" dirty="0" smtClean="0">
                <a:solidFill>
                  <a:schemeClr val="tx1"/>
                </a:solidFill>
              </a:rPr>
              <a:t> management</a:t>
            </a:r>
            <a:endParaRPr lang="fr-FR" sz="1600" b="1" dirty="0">
              <a:solidFill>
                <a:schemeClr val="tx1"/>
              </a:solidFill>
            </a:endParaRPr>
          </a:p>
        </p:txBody>
      </p:sp>
      <p:sp>
        <p:nvSpPr>
          <p:cNvPr id="10" name="ZoneTexte 9"/>
          <p:cNvSpPr txBox="1"/>
          <p:nvPr/>
        </p:nvSpPr>
        <p:spPr>
          <a:xfrm>
            <a:off x="253802" y="3291830"/>
            <a:ext cx="8062614" cy="369332"/>
          </a:xfrm>
          <a:prstGeom prst="rect">
            <a:avLst/>
          </a:prstGeom>
          <a:noFill/>
        </p:spPr>
        <p:txBody>
          <a:bodyPr wrap="square" rtlCol="0">
            <a:spAutoFit/>
          </a:bodyPr>
          <a:lstStyle/>
          <a:p>
            <a:r>
              <a:rPr lang="fr-FR" dirty="0" smtClean="0">
                <a:solidFill>
                  <a:srgbClr val="FF0000"/>
                </a:solidFill>
              </a:rPr>
              <a:t>Guidelines by Codex </a:t>
            </a:r>
            <a:r>
              <a:rPr lang="fr-FR" dirty="0" err="1" smtClean="0">
                <a:solidFill>
                  <a:srgbClr val="FF0000"/>
                </a:solidFill>
              </a:rPr>
              <a:t>Alimentarius</a:t>
            </a:r>
            <a:r>
              <a:rPr lang="fr-FR" dirty="0" smtClean="0">
                <a:solidFill>
                  <a:srgbClr val="FF0000"/>
                </a:solidFill>
              </a:rPr>
              <a:t> Commission </a:t>
            </a:r>
            <a:r>
              <a:rPr lang="fr-FR" dirty="0" smtClean="0"/>
              <a:t>– </a:t>
            </a:r>
            <a:r>
              <a:rPr lang="fr-FR" b="1" dirty="0" smtClean="0">
                <a:solidFill>
                  <a:schemeClr val="bg2"/>
                </a:solidFill>
              </a:rPr>
              <a:t>FAO and WHO (1999)</a:t>
            </a:r>
            <a:endParaRPr lang="fr-FR" b="1" dirty="0">
              <a:solidFill>
                <a:schemeClr val="bg2"/>
              </a:solidFill>
            </a:endParaRPr>
          </a:p>
        </p:txBody>
      </p:sp>
      <p:cxnSp>
        <p:nvCxnSpPr>
          <p:cNvPr id="13" name="Connecteur droit avec flèche 12"/>
          <p:cNvCxnSpPr>
            <a:stCxn id="8" idx="3"/>
            <a:endCxn id="9" idx="1"/>
          </p:cNvCxnSpPr>
          <p:nvPr/>
        </p:nvCxnSpPr>
        <p:spPr>
          <a:xfrm>
            <a:off x="3383160" y="4146554"/>
            <a:ext cx="2124944" cy="138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7658692" y="3830320"/>
            <a:ext cx="1179753" cy="646331"/>
          </a:xfrm>
          <a:prstGeom prst="rect">
            <a:avLst/>
          </a:prstGeom>
          <a:noFill/>
        </p:spPr>
        <p:txBody>
          <a:bodyPr wrap="square" rtlCol="0">
            <a:spAutoFit/>
          </a:bodyPr>
          <a:lstStyle/>
          <a:p>
            <a:pPr algn="ctr"/>
            <a:r>
              <a:rPr lang="fr-FR" dirty="0" smtClean="0"/>
              <a:t>Policy </a:t>
            </a:r>
            <a:r>
              <a:rPr lang="fr-FR" dirty="0" err="1" smtClean="0"/>
              <a:t>making</a:t>
            </a:r>
            <a:endParaRPr lang="fr-FR" dirty="0"/>
          </a:p>
        </p:txBody>
      </p:sp>
      <p:sp>
        <p:nvSpPr>
          <p:cNvPr id="20" name="Flèche droite 19"/>
          <p:cNvSpPr/>
          <p:nvPr/>
        </p:nvSpPr>
        <p:spPr>
          <a:xfrm>
            <a:off x="7489032" y="4038542"/>
            <a:ext cx="288032" cy="216024"/>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4157217" y="3808725"/>
            <a:ext cx="648072" cy="338554"/>
          </a:xfrm>
          <a:prstGeom prst="rect">
            <a:avLst/>
          </a:prstGeom>
          <a:noFill/>
        </p:spPr>
        <p:txBody>
          <a:bodyPr wrap="square" rtlCol="0">
            <a:spAutoFit/>
          </a:bodyPr>
          <a:lstStyle/>
          <a:p>
            <a:r>
              <a:rPr lang="fr-FR" sz="1600" b="1" dirty="0" err="1" smtClean="0">
                <a:solidFill>
                  <a:srgbClr val="FF0000"/>
                </a:solidFill>
              </a:rPr>
              <a:t>Risk</a:t>
            </a:r>
            <a:endParaRPr lang="fr-FR" sz="1600" b="1" dirty="0">
              <a:solidFill>
                <a:srgbClr val="FF0000"/>
              </a:solidFill>
            </a:endParaRPr>
          </a:p>
        </p:txBody>
      </p:sp>
      <p:sp>
        <p:nvSpPr>
          <p:cNvPr id="22" name="ZoneTexte 21"/>
          <p:cNvSpPr txBox="1"/>
          <p:nvPr/>
        </p:nvSpPr>
        <p:spPr>
          <a:xfrm>
            <a:off x="3563888" y="4153485"/>
            <a:ext cx="1834730" cy="338554"/>
          </a:xfrm>
          <a:prstGeom prst="rect">
            <a:avLst/>
          </a:prstGeom>
          <a:noFill/>
        </p:spPr>
        <p:txBody>
          <a:bodyPr wrap="square" rtlCol="0">
            <a:spAutoFit/>
          </a:bodyPr>
          <a:lstStyle/>
          <a:p>
            <a:r>
              <a:rPr lang="fr-FR" sz="1600" b="1" dirty="0" err="1" smtClean="0">
                <a:solidFill>
                  <a:srgbClr val="FF0000"/>
                </a:solidFill>
              </a:rPr>
              <a:t>characterization</a:t>
            </a:r>
            <a:endParaRPr lang="fr-FR" sz="1600" b="1" dirty="0">
              <a:solidFill>
                <a:srgbClr val="FF0000"/>
              </a:solidFill>
            </a:endParaRPr>
          </a:p>
        </p:txBody>
      </p:sp>
      <p:sp>
        <p:nvSpPr>
          <p:cNvPr id="14"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spTree>
    <p:extLst>
      <p:ext uri="{BB962C8B-B14F-4D97-AF65-F5344CB8AC3E}">
        <p14:creationId xmlns:p14="http://schemas.microsoft.com/office/powerpoint/2010/main" val="349408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animBg="1"/>
      <p:bldP spid="9" grpId="0" animBg="1"/>
      <p:bldP spid="10" grpId="0"/>
      <p:bldP spid="19" grpId="0"/>
      <p:bldP spid="20" grpId="0" animBg="1"/>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8"/>
          </p:nvPr>
        </p:nvSpPr>
        <p:spPr/>
        <p:txBody>
          <a:bodyPr/>
          <a:lstStyle/>
          <a:p>
            <a:fld id="{733122C9-A0B9-462F-8757-0847AD287B63}" type="slidenum">
              <a:rPr lang="fr-FR" smtClean="0"/>
              <a:pPr/>
              <a:t>11</a:t>
            </a:fld>
            <a:endParaRPr lang="fr-FR" dirty="0"/>
          </a:p>
        </p:txBody>
      </p:sp>
      <p:sp>
        <p:nvSpPr>
          <p:cNvPr id="5" name="Espace réservé du texte 4"/>
          <p:cNvSpPr>
            <a:spLocks noGrp="1"/>
          </p:cNvSpPr>
          <p:nvPr>
            <p:ph type="body" sz="quarter" idx="13"/>
          </p:nvPr>
        </p:nvSpPr>
        <p:spPr>
          <a:xfrm>
            <a:off x="275431" y="843558"/>
            <a:ext cx="8868569" cy="864096"/>
          </a:xfrm>
        </p:spPr>
        <p:txBody>
          <a:bodyPr/>
          <a:lstStyle/>
          <a:p>
            <a:r>
              <a:rPr lang="fr-FR" sz="1600" dirty="0" smtClean="0"/>
              <a:t>How to </a:t>
            </a:r>
            <a:r>
              <a:rPr lang="fr-FR" sz="1600" dirty="0" err="1" smtClean="0"/>
              <a:t>interpret</a:t>
            </a:r>
            <a:r>
              <a:rPr lang="fr-FR" sz="1600" dirty="0" smtClean="0"/>
              <a:t> the </a:t>
            </a:r>
            <a:r>
              <a:rPr lang="fr-FR" sz="1600" dirty="0" err="1" smtClean="0"/>
              <a:t>estimated</a:t>
            </a:r>
            <a:r>
              <a:rPr lang="fr-FR" sz="1600" dirty="0" smtClean="0"/>
              <a:t> </a:t>
            </a:r>
            <a:r>
              <a:rPr lang="fr-FR" sz="1600" dirty="0" err="1" smtClean="0"/>
              <a:t>risk</a:t>
            </a:r>
            <a:r>
              <a:rPr lang="fr-FR" sz="1600" dirty="0" smtClean="0"/>
              <a:t> ?</a:t>
            </a:r>
            <a:endParaRPr lang="fr-FR" sz="1600" dirty="0"/>
          </a:p>
          <a:p>
            <a:pPr marL="285750" indent="-285750">
              <a:buFont typeface="Arial" panose="020B0604020202020204" pitchFamily="34" charset="0"/>
              <a:buChar char="•"/>
            </a:pPr>
            <a:r>
              <a:rPr lang="fr-FR" sz="1200" dirty="0" smtClean="0"/>
              <a:t>BOTTOM UP </a:t>
            </a:r>
            <a:r>
              <a:rPr lang="fr-FR" sz="1200" dirty="0" err="1" smtClean="0"/>
              <a:t>appraoch</a:t>
            </a:r>
            <a:r>
              <a:rPr lang="fr-FR" sz="1200" dirty="0" smtClean="0"/>
              <a:t>: </a:t>
            </a:r>
            <a:r>
              <a:rPr lang="en-US" sz="1200" dirty="0" smtClean="0">
                <a:solidFill>
                  <a:schemeClr val="tx2">
                    <a:lumMod val="75000"/>
                  </a:schemeClr>
                </a:solidFill>
              </a:rPr>
              <a:t>Estimate </a:t>
            </a:r>
            <a:r>
              <a:rPr lang="en-US" sz="1200" dirty="0">
                <a:solidFill>
                  <a:schemeClr val="tx2">
                    <a:lumMod val="75000"/>
                  </a:schemeClr>
                </a:solidFill>
              </a:rPr>
              <a:t>the </a:t>
            </a:r>
            <a:r>
              <a:rPr lang="en-US" sz="1200" dirty="0">
                <a:solidFill>
                  <a:schemeClr val="tx2">
                    <a:lumMod val="50000"/>
                  </a:schemeClr>
                </a:solidFill>
              </a:rPr>
              <a:t>number of cases </a:t>
            </a:r>
            <a:r>
              <a:rPr lang="en-US" sz="1200" dirty="0">
                <a:solidFill>
                  <a:schemeClr val="tx2">
                    <a:lumMod val="75000"/>
                  </a:schemeClr>
                </a:solidFill>
              </a:rPr>
              <a:t>caused by </a:t>
            </a:r>
            <a:r>
              <a:rPr lang="en-US" sz="1200" dirty="0">
                <a:solidFill>
                  <a:srgbClr val="92D050"/>
                </a:solidFill>
              </a:rPr>
              <a:t>a typical lot </a:t>
            </a:r>
            <a:r>
              <a:rPr lang="en-US" sz="1200" dirty="0">
                <a:solidFill>
                  <a:schemeClr val="tx2">
                    <a:lumMod val="75000"/>
                  </a:schemeClr>
                </a:solidFill>
              </a:rPr>
              <a:t>produced by a process </a:t>
            </a:r>
            <a:r>
              <a:rPr lang="fr-FR" sz="1200" dirty="0">
                <a:solidFill>
                  <a:srgbClr val="FF0000"/>
                </a:solidFill>
                <a:latin typeface="Calibri" panose="020F0502020204030204" pitchFamily="34" charset="0"/>
                <a:cs typeface="Calibri" panose="020F0502020204030204" pitchFamily="34" charset="0"/>
              </a:rPr>
              <a:t>Ɵ</a:t>
            </a:r>
            <a:endParaRPr lang="en-US" sz="1200" dirty="0"/>
          </a:p>
          <a:p>
            <a:pPr marL="285750" indent="-285750">
              <a:buFont typeface="Arial" panose="020B0604020202020204" pitchFamily="34" charset="0"/>
              <a:buChar char="•"/>
            </a:pPr>
            <a:r>
              <a:rPr lang="fr-FR" sz="1200" dirty="0" smtClean="0">
                <a:solidFill>
                  <a:schemeClr val="tx1"/>
                </a:solidFill>
              </a:rPr>
              <a:t>TOP DOWN </a:t>
            </a:r>
            <a:r>
              <a:rPr lang="fr-FR" sz="1200" dirty="0" err="1" smtClean="0">
                <a:solidFill>
                  <a:schemeClr val="tx1"/>
                </a:solidFill>
              </a:rPr>
              <a:t>approach</a:t>
            </a:r>
            <a:r>
              <a:rPr lang="fr-FR" sz="1200" dirty="0" smtClean="0">
                <a:solidFill>
                  <a:schemeClr val="tx1"/>
                </a:solidFill>
              </a:rPr>
              <a:t>: </a:t>
            </a:r>
            <a:r>
              <a:rPr lang="fr-FR" sz="1200" dirty="0" err="1" smtClean="0">
                <a:solidFill>
                  <a:schemeClr val="tx2">
                    <a:lumMod val="75000"/>
                  </a:schemeClr>
                </a:solidFill>
              </a:rPr>
              <a:t>Estimate</a:t>
            </a:r>
            <a:r>
              <a:rPr lang="fr-FR" sz="1200" dirty="0" smtClean="0">
                <a:solidFill>
                  <a:schemeClr val="tx2">
                    <a:lumMod val="75000"/>
                  </a:schemeClr>
                </a:solidFill>
              </a:rPr>
              <a:t> the </a:t>
            </a:r>
            <a:r>
              <a:rPr lang="fr-FR" sz="1200" dirty="0" err="1" smtClean="0">
                <a:solidFill>
                  <a:schemeClr val="tx2">
                    <a:lumMod val="50000"/>
                  </a:schemeClr>
                </a:solidFill>
              </a:rPr>
              <a:t>number</a:t>
            </a:r>
            <a:r>
              <a:rPr lang="fr-FR" sz="1200" dirty="0" smtClean="0">
                <a:solidFill>
                  <a:schemeClr val="tx2">
                    <a:lumMod val="50000"/>
                  </a:schemeClr>
                </a:solidFill>
              </a:rPr>
              <a:t> of cases </a:t>
            </a:r>
            <a:r>
              <a:rPr lang="fr-FR" sz="1200" dirty="0" smtClean="0">
                <a:solidFill>
                  <a:schemeClr val="tx2">
                    <a:lumMod val="75000"/>
                  </a:schemeClr>
                </a:solidFill>
              </a:rPr>
              <a:t>over a </a:t>
            </a:r>
            <a:r>
              <a:rPr lang="fr-FR" sz="1200" dirty="0" smtClean="0">
                <a:solidFill>
                  <a:srgbClr val="92D050"/>
                </a:solidFill>
              </a:rPr>
              <a:t>time </a:t>
            </a:r>
            <a:r>
              <a:rPr lang="fr-FR" sz="1200" dirty="0" err="1" smtClean="0">
                <a:solidFill>
                  <a:srgbClr val="92D050"/>
                </a:solidFill>
              </a:rPr>
              <a:t>period</a:t>
            </a:r>
            <a:r>
              <a:rPr lang="fr-FR" sz="1200" dirty="0" smtClean="0">
                <a:solidFill>
                  <a:srgbClr val="92D050"/>
                </a:solidFill>
              </a:rPr>
              <a:t> </a:t>
            </a:r>
            <a:r>
              <a:rPr lang="fr-FR" sz="1200" dirty="0" smtClean="0">
                <a:solidFill>
                  <a:schemeClr val="tx2">
                    <a:lumMod val="75000"/>
                  </a:schemeClr>
                </a:solidFill>
              </a:rPr>
              <a:t>(</a:t>
            </a:r>
            <a:r>
              <a:rPr lang="fr-FR" sz="1200" dirty="0" err="1" smtClean="0">
                <a:solidFill>
                  <a:schemeClr val="tx2">
                    <a:lumMod val="75000"/>
                  </a:schemeClr>
                </a:solidFill>
              </a:rPr>
              <a:t>yearly</a:t>
            </a:r>
            <a:r>
              <a:rPr lang="fr-FR" sz="1200" dirty="0" smtClean="0">
                <a:solidFill>
                  <a:schemeClr val="tx2">
                    <a:lumMod val="75000"/>
                  </a:schemeClr>
                </a:solidFill>
              </a:rPr>
              <a:t>) in </a:t>
            </a:r>
            <a:r>
              <a:rPr lang="fr-FR" sz="1200" dirty="0" smtClean="0">
                <a:solidFill>
                  <a:srgbClr val="92D050"/>
                </a:solidFill>
              </a:rPr>
              <a:t>a </a:t>
            </a:r>
            <a:r>
              <a:rPr lang="fr-FR" sz="1200" dirty="0" err="1" smtClean="0">
                <a:solidFill>
                  <a:srgbClr val="92D050"/>
                </a:solidFill>
              </a:rPr>
              <a:t>region</a:t>
            </a:r>
            <a:r>
              <a:rPr lang="fr-FR" sz="1200" dirty="0" smtClean="0">
                <a:solidFill>
                  <a:srgbClr val="92D050"/>
                </a:solidFill>
              </a:rPr>
              <a:t> </a:t>
            </a:r>
            <a:r>
              <a:rPr lang="fr-FR" sz="1200" dirty="0" err="1" smtClean="0">
                <a:solidFill>
                  <a:schemeClr val="tx2">
                    <a:lumMod val="75000"/>
                  </a:schemeClr>
                </a:solidFill>
              </a:rPr>
              <a:t>with</a:t>
            </a:r>
            <a:r>
              <a:rPr lang="fr-FR" sz="1200" dirty="0" smtClean="0">
                <a:solidFill>
                  <a:schemeClr val="tx2">
                    <a:lumMod val="75000"/>
                  </a:schemeClr>
                </a:solidFill>
              </a:rPr>
              <a:t> due to a </a:t>
            </a:r>
            <a:r>
              <a:rPr lang="en-US" sz="1200" dirty="0">
                <a:solidFill>
                  <a:schemeClr val="tx2">
                    <a:lumMod val="75000"/>
                  </a:schemeClr>
                </a:solidFill>
              </a:rPr>
              <a:t>process </a:t>
            </a:r>
            <a:r>
              <a:rPr lang="fr-FR" sz="1200" dirty="0">
                <a:solidFill>
                  <a:srgbClr val="FF0000"/>
                </a:solidFill>
                <a:latin typeface="Calibri" panose="020F0502020204030204" pitchFamily="34" charset="0"/>
                <a:cs typeface="Calibri" panose="020F0502020204030204" pitchFamily="34" charset="0"/>
              </a:rPr>
              <a:t>Ɵ</a:t>
            </a:r>
            <a:endParaRPr lang="en-US" sz="1200" dirty="0"/>
          </a:p>
          <a:p>
            <a:endParaRPr lang="fr-FR" sz="1400" dirty="0">
              <a:solidFill>
                <a:srgbClr val="5770BE"/>
              </a:solidFill>
            </a:endParaRPr>
          </a:p>
        </p:txBody>
      </p:sp>
      <p:sp>
        <p:nvSpPr>
          <p:cNvPr id="6" name="Titre 5"/>
          <p:cNvSpPr>
            <a:spLocks noGrp="1"/>
          </p:cNvSpPr>
          <p:nvPr>
            <p:ph type="title"/>
          </p:nvPr>
        </p:nvSpPr>
        <p:spPr/>
        <p:txBody>
          <a:bodyPr/>
          <a:lstStyle/>
          <a:p>
            <a:r>
              <a:rPr lang="fr-FR" dirty="0" smtClean="0">
                <a:solidFill>
                  <a:srgbClr val="FF0000"/>
                </a:solidFill>
              </a:rPr>
              <a:t>WORK IN PROGRESS </a:t>
            </a:r>
            <a:r>
              <a:rPr lang="fr-FR" dirty="0" smtClean="0"/>
              <a:t>- </a:t>
            </a:r>
            <a:r>
              <a:rPr lang="fr-FR" dirty="0" err="1" smtClean="0"/>
              <a:t>Risk</a:t>
            </a:r>
            <a:r>
              <a:rPr lang="fr-FR" dirty="0" smtClean="0"/>
              <a:t> </a:t>
            </a:r>
            <a:r>
              <a:rPr lang="fr-FR" dirty="0" err="1" smtClean="0"/>
              <a:t>characterization</a:t>
            </a:r>
            <a:endParaRPr lang="fr-FR" dirty="0"/>
          </a:p>
        </p:txBody>
      </p:sp>
      <p:sp>
        <p:nvSpPr>
          <p:cNvPr id="2" name="Rectangle à coins arrondis 1"/>
          <p:cNvSpPr/>
          <p:nvPr/>
        </p:nvSpPr>
        <p:spPr>
          <a:xfrm>
            <a:off x="2559436" y="1907635"/>
            <a:ext cx="720080" cy="288032"/>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smtClean="0">
                <a:solidFill>
                  <a:schemeClr val="tx1"/>
                </a:solidFill>
              </a:rPr>
              <a:t>Dose</a:t>
            </a:r>
            <a:endParaRPr lang="fr-FR" sz="1400" dirty="0">
              <a:solidFill>
                <a:schemeClr val="tx1"/>
              </a:solidFill>
            </a:endParaRPr>
          </a:p>
        </p:txBody>
      </p:sp>
      <mc:AlternateContent xmlns:mc="http://schemas.openxmlformats.org/markup-compatibility/2006" xmlns:a14="http://schemas.microsoft.com/office/drawing/2010/main">
        <mc:Choice Requires="a14">
          <p:sp>
            <p:nvSpPr>
              <p:cNvPr id="8" name="Rectangle à coins arrondis 7"/>
              <p:cNvSpPr/>
              <p:nvPr/>
            </p:nvSpPr>
            <p:spPr>
              <a:xfrm>
                <a:off x="2487428" y="2545112"/>
                <a:ext cx="864096" cy="288032"/>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smtClean="0">
                    <a:solidFill>
                      <a:schemeClr val="tx1"/>
                    </a:solidFill>
                  </a:rPr>
                  <a:t>R</a:t>
                </a:r>
                <a:r>
                  <a:rPr lang="fr-FR" sz="1400" dirty="0" smtClean="0">
                    <a:solidFill>
                      <a:schemeClr val="tx1"/>
                    </a:solidFill>
                    <a:latin typeface="Calibri" panose="020F0502020204030204" pitchFamily="34" charset="0"/>
                    <a:cs typeface="Calibri" panose="020F0502020204030204" pitchFamily="34" charset="0"/>
                  </a:rPr>
                  <a:t>(</a:t>
                </a:r>
                <a14:m>
                  <m:oMath xmlns:m="http://schemas.openxmlformats.org/officeDocument/2006/math">
                    <m:r>
                      <m:rPr>
                        <m:nor/>
                      </m:rPr>
                      <a:rPr lang="el-GR" sz="1400" b="1" dirty="0">
                        <a:solidFill>
                          <a:schemeClr val="accent3"/>
                        </a:solidFill>
                        <a:cs typeface="Calibri" panose="020F0502020204030204" pitchFamily="34" charset="0"/>
                      </a:rPr>
                      <m:t>ξ</m:t>
                    </m:r>
                  </m:oMath>
                </a14:m>
                <a:r>
                  <a:rPr lang="fr-FR" sz="1400" dirty="0" smtClean="0">
                    <a:solidFill>
                      <a:schemeClr val="tx1"/>
                    </a:solidFill>
                    <a:latin typeface="Calibri" panose="020F0502020204030204" pitchFamily="34" charset="0"/>
                    <a:cs typeface="Calibri" panose="020F0502020204030204" pitchFamily="34" charset="0"/>
                  </a:rPr>
                  <a:t>)</a:t>
                </a:r>
                <a:endParaRPr lang="fr-FR" sz="1400" dirty="0">
                  <a:solidFill>
                    <a:schemeClr val="tx1"/>
                  </a:solidFill>
                </a:endParaRPr>
              </a:p>
            </p:txBody>
          </p:sp>
        </mc:Choice>
        <mc:Fallback xmlns="">
          <p:sp>
            <p:nvSpPr>
              <p:cNvPr id="8" name="Rectangle à coins arrondis 7"/>
              <p:cNvSpPr>
                <a:spLocks noRot="1" noChangeAspect="1" noMove="1" noResize="1" noEditPoints="1" noAdjustHandles="1" noChangeArrowheads="1" noChangeShapeType="1" noTextEdit="1"/>
              </p:cNvSpPr>
              <p:nvPr/>
            </p:nvSpPr>
            <p:spPr>
              <a:xfrm>
                <a:off x="2487428" y="2545112"/>
                <a:ext cx="864096" cy="288032"/>
              </a:xfrm>
              <a:prstGeom prst="roundRect">
                <a:avLst/>
              </a:prstGeom>
              <a:blipFill>
                <a:blip r:embed="rId2"/>
                <a:stretch>
                  <a:fillRect t="-5882" b="-21569"/>
                </a:stretch>
              </a:blipFill>
              <a:ln>
                <a:solidFill>
                  <a:schemeClr val="tx1"/>
                </a:solidFill>
              </a:ln>
            </p:spPr>
            <p:txBody>
              <a:bodyPr/>
              <a:lstStyle/>
              <a:p>
                <a:r>
                  <a:rPr lang="fr-FR">
                    <a:noFill/>
                  </a:rPr>
                  <a:t> </a:t>
                </a:r>
              </a:p>
            </p:txBody>
          </p:sp>
        </mc:Fallback>
      </mc:AlternateContent>
      <p:cxnSp>
        <p:nvCxnSpPr>
          <p:cNvPr id="9" name="Connecteur droit avec flèche 8"/>
          <p:cNvCxnSpPr>
            <a:stCxn id="2" idx="2"/>
            <a:endCxn id="8" idx="0"/>
          </p:cNvCxnSpPr>
          <p:nvPr/>
        </p:nvCxnSpPr>
        <p:spPr>
          <a:xfrm>
            <a:off x="2919476" y="2195667"/>
            <a:ext cx="0" cy="3494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p:cNvSpPr txBox="1"/>
              <p:nvPr/>
            </p:nvSpPr>
            <p:spPr>
              <a:xfrm>
                <a:off x="3563888" y="2506502"/>
                <a:ext cx="5400600" cy="276999"/>
              </a:xfrm>
              <a:prstGeom prst="rect">
                <a:avLst/>
              </a:prstGeom>
              <a:noFill/>
            </p:spPr>
            <p:txBody>
              <a:bodyPr wrap="square" rtlCol="0">
                <a:spAutoFit/>
              </a:bodyPr>
              <a:lstStyle/>
              <a:p>
                <a:r>
                  <a:rPr lang="fr-FR" sz="1200" b="1" dirty="0" err="1" smtClean="0"/>
                  <a:t>Conditional</a:t>
                </a:r>
                <a:r>
                  <a:rPr lang="fr-FR" sz="1200" b="1" dirty="0" smtClean="0"/>
                  <a:t> </a:t>
                </a:r>
                <a:r>
                  <a:rPr lang="fr-FR" sz="1200" b="1" dirty="0" err="1" smtClean="0"/>
                  <a:t>risk</a:t>
                </a:r>
                <a:r>
                  <a:rPr lang="fr-FR" sz="1200" dirty="0"/>
                  <a:t> </a:t>
                </a:r>
                <a:r>
                  <a:rPr lang="fr-FR" sz="1200" dirty="0" smtClean="0"/>
                  <a:t>(</a:t>
                </a:r>
                <a:r>
                  <a:rPr lang="fr-FR" sz="1200" dirty="0" err="1"/>
                  <a:t>p</a:t>
                </a:r>
                <a:r>
                  <a:rPr lang="fr-FR" sz="1200" dirty="0" err="1" smtClean="0"/>
                  <a:t>robability</a:t>
                </a:r>
                <a:r>
                  <a:rPr lang="fr-FR" sz="1200" dirty="0" smtClean="0"/>
                  <a:t>) of </a:t>
                </a:r>
                <a:r>
                  <a:rPr lang="fr-FR" sz="1200" dirty="0" err="1" smtClean="0"/>
                  <a:t>illness</a:t>
                </a:r>
                <a:r>
                  <a:rPr lang="fr-FR" sz="1200" dirty="0" smtClean="0"/>
                  <a:t> per </a:t>
                </a:r>
                <a:r>
                  <a:rPr lang="fr-FR" sz="1200" b="1" u="sng" dirty="0" err="1" smtClean="0"/>
                  <a:t>serving</a:t>
                </a:r>
                <a:r>
                  <a:rPr lang="fr-FR" sz="1200" dirty="0" smtClean="0"/>
                  <a:t> </a:t>
                </a:r>
                <a:r>
                  <a:rPr lang="fr-FR" sz="1200" dirty="0" err="1" smtClean="0"/>
                  <a:t>from</a:t>
                </a:r>
                <a:r>
                  <a:rPr lang="fr-FR" sz="1200" dirty="0" smtClean="0"/>
                  <a:t> </a:t>
                </a:r>
                <a:r>
                  <a:rPr lang="fr-FR" sz="1200" dirty="0" err="1" smtClean="0"/>
                  <a:t>broiler</a:t>
                </a:r>
                <a:r>
                  <a:rPr lang="fr-FR" sz="1200" dirty="0" smtClean="0"/>
                  <a:t> </a:t>
                </a:r>
                <a:r>
                  <a:rPr lang="fr-FR" sz="1200" dirty="0" err="1" smtClean="0"/>
                  <a:t>flock</a:t>
                </a:r>
                <a:r>
                  <a:rPr lang="fr-FR" sz="1200" dirty="0" smtClean="0"/>
                  <a:t> </a:t>
                </a:r>
                <a14:m>
                  <m:oMath xmlns:m="http://schemas.openxmlformats.org/officeDocument/2006/math">
                    <m:r>
                      <m:rPr>
                        <m:nor/>
                      </m:rPr>
                      <a:rPr lang="el-GR" sz="1200" b="1" dirty="0">
                        <a:solidFill>
                          <a:schemeClr val="accent3"/>
                        </a:solidFill>
                        <a:cs typeface="Calibri" panose="020F0502020204030204" pitchFamily="34" charset="0"/>
                      </a:rPr>
                      <m:t>ξ</m:t>
                    </m:r>
                  </m:oMath>
                </a14:m>
                <a:r>
                  <a:rPr lang="fr-FR" sz="1200" dirty="0"/>
                  <a:t> </a:t>
                </a:r>
              </a:p>
            </p:txBody>
          </p:sp>
        </mc:Choice>
        <mc:Fallback xmlns="">
          <p:sp>
            <p:nvSpPr>
              <p:cNvPr id="13" name="ZoneTexte 12"/>
              <p:cNvSpPr txBox="1">
                <a:spLocks noRot="1" noChangeAspect="1" noMove="1" noResize="1" noEditPoints="1" noAdjustHandles="1" noChangeArrowheads="1" noChangeShapeType="1" noTextEdit="1"/>
              </p:cNvSpPr>
              <p:nvPr/>
            </p:nvSpPr>
            <p:spPr>
              <a:xfrm>
                <a:off x="3563888" y="2506502"/>
                <a:ext cx="5400600" cy="276999"/>
              </a:xfrm>
              <a:prstGeom prst="rect">
                <a:avLst/>
              </a:prstGeom>
              <a:blipFill>
                <a:blip r:embed="rId3"/>
                <a:stretch>
                  <a:fillRect l="-113" t="-2174" b="-1304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p:cNvSpPr txBox="1"/>
              <p:nvPr/>
            </p:nvSpPr>
            <p:spPr>
              <a:xfrm>
                <a:off x="3565780" y="1917297"/>
                <a:ext cx="4463432" cy="276999"/>
              </a:xfrm>
              <a:prstGeom prst="rect">
                <a:avLst/>
              </a:prstGeom>
              <a:noFill/>
            </p:spPr>
            <p:txBody>
              <a:bodyPr wrap="square" rtlCol="0">
                <a:spAutoFit/>
              </a:bodyPr>
              <a:lstStyle/>
              <a:p>
                <a:r>
                  <a:rPr lang="fr-FR" sz="1200" dirty="0" smtClean="0"/>
                  <a:t>CFU </a:t>
                </a:r>
                <a:r>
                  <a:rPr lang="fr-FR" sz="1200" dirty="0" err="1" smtClean="0"/>
                  <a:t>Ingested</a:t>
                </a:r>
                <a:r>
                  <a:rPr lang="fr-FR" sz="1200" dirty="0" smtClean="0"/>
                  <a:t> – </a:t>
                </a:r>
                <a:r>
                  <a:rPr lang="fr-FR" sz="1200" i="1" dirty="0" err="1" smtClean="0"/>
                  <a:t>Related</a:t>
                </a:r>
                <a:r>
                  <a:rPr lang="fr-FR" sz="1200" i="1" dirty="0" smtClean="0"/>
                  <a:t> to a </a:t>
                </a:r>
                <a:r>
                  <a:rPr lang="fr-FR" sz="1200" i="1" dirty="0" err="1" smtClean="0"/>
                  <a:t>broiler</a:t>
                </a:r>
                <a:r>
                  <a:rPr lang="fr-FR" sz="1200" i="1" dirty="0" smtClean="0"/>
                  <a:t> </a:t>
                </a:r>
                <a:r>
                  <a:rPr lang="fr-FR" sz="1200" i="1" dirty="0" err="1" smtClean="0"/>
                  <a:t>flock</a:t>
                </a:r>
                <a:r>
                  <a:rPr lang="fr-FR" sz="1200" i="1" dirty="0" smtClean="0"/>
                  <a:t> </a:t>
                </a:r>
                <a14:m>
                  <m:oMath xmlns:m="http://schemas.openxmlformats.org/officeDocument/2006/math">
                    <m:r>
                      <m:rPr>
                        <m:nor/>
                      </m:rPr>
                      <a:rPr lang="el-GR" sz="1200" b="1" dirty="0">
                        <a:solidFill>
                          <a:schemeClr val="accent3"/>
                        </a:solidFill>
                        <a:cs typeface="Calibri" panose="020F0502020204030204" pitchFamily="34" charset="0"/>
                      </a:rPr>
                      <m:t>ξ</m:t>
                    </m:r>
                  </m:oMath>
                </a14:m>
                <a:endParaRPr lang="fr-FR" sz="1200" i="1" u="sng" dirty="0"/>
              </a:p>
            </p:txBody>
          </p:sp>
        </mc:Choice>
        <mc:Fallback xmlns="">
          <p:sp>
            <p:nvSpPr>
              <p:cNvPr id="14" name="ZoneTexte 13"/>
              <p:cNvSpPr txBox="1">
                <a:spLocks noRot="1" noChangeAspect="1" noMove="1" noResize="1" noEditPoints="1" noAdjustHandles="1" noChangeArrowheads="1" noChangeShapeType="1" noTextEdit="1"/>
              </p:cNvSpPr>
              <p:nvPr/>
            </p:nvSpPr>
            <p:spPr>
              <a:xfrm>
                <a:off x="3565780" y="1917297"/>
                <a:ext cx="4463432" cy="276999"/>
              </a:xfrm>
              <a:prstGeom prst="rect">
                <a:avLst/>
              </a:prstGeom>
              <a:blipFill>
                <a:blip r:embed="rId4"/>
                <a:stretch>
                  <a:fillRect l="-137" t="-4444" b="-15556"/>
                </a:stretch>
              </a:blipFill>
            </p:spPr>
            <p:txBody>
              <a:bodyPr/>
              <a:lstStyle/>
              <a:p>
                <a:r>
                  <a:rPr lang="en-US">
                    <a:noFill/>
                  </a:rPr>
                  <a:t> </a:t>
                </a:r>
              </a:p>
            </p:txBody>
          </p:sp>
        </mc:Fallback>
      </mc:AlternateContent>
      <p:sp>
        <p:nvSpPr>
          <p:cNvPr id="15" name="ZoneTexte 14"/>
          <p:cNvSpPr txBox="1"/>
          <p:nvPr/>
        </p:nvSpPr>
        <p:spPr>
          <a:xfrm>
            <a:off x="1331640" y="2229783"/>
            <a:ext cx="1659844" cy="253916"/>
          </a:xfrm>
          <a:prstGeom prst="rect">
            <a:avLst/>
          </a:prstGeom>
          <a:noFill/>
        </p:spPr>
        <p:txBody>
          <a:bodyPr wrap="square" rtlCol="0">
            <a:spAutoFit/>
          </a:bodyPr>
          <a:lstStyle/>
          <a:p>
            <a:r>
              <a:rPr lang="fr-FR" sz="1050" dirty="0" smtClean="0"/>
              <a:t>Dose-</a:t>
            </a:r>
            <a:r>
              <a:rPr lang="fr-FR" sz="1050" dirty="0" err="1" smtClean="0"/>
              <a:t>Response</a:t>
            </a:r>
            <a:r>
              <a:rPr lang="fr-FR" sz="1050" dirty="0" smtClean="0"/>
              <a:t> model</a:t>
            </a:r>
            <a:endParaRPr lang="fr-FR" sz="1050" dirty="0"/>
          </a:p>
        </p:txBody>
      </p:sp>
      <p:sp>
        <p:nvSpPr>
          <p:cNvPr id="17" name="Rectangle à coins arrondis 16"/>
          <p:cNvSpPr/>
          <p:nvPr/>
        </p:nvSpPr>
        <p:spPr>
          <a:xfrm>
            <a:off x="2493006" y="3170499"/>
            <a:ext cx="864096" cy="288032"/>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smtClean="0">
                <a:solidFill>
                  <a:schemeClr val="tx1"/>
                </a:solidFill>
              </a:rPr>
              <a:t>R</a:t>
            </a:r>
            <a:r>
              <a:rPr lang="fr-FR" sz="1400" dirty="0" smtClean="0">
                <a:solidFill>
                  <a:srgbClr val="FF0000"/>
                </a:solidFill>
                <a:latin typeface="Calibri" panose="020F0502020204030204" pitchFamily="34" charset="0"/>
                <a:cs typeface="Calibri" panose="020F0502020204030204" pitchFamily="34" charset="0"/>
              </a:rPr>
              <a:t>Ɵ</a:t>
            </a:r>
            <a:endParaRPr lang="fr-FR" sz="1400" dirty="0">
              <a:solidFill>
                <a:schemeClr val="tx1"/>
              </a:solidFill>
            </a:endParaRPr>
          </a:p>
        </p:txBody>
      </p:sp>
      <p:sp>
        <p:nvSpPr>
          <p:cNvPr id="18" name="ZoneTexte 17"/>
          <p:cNvSpPr txBox="1"/>
          <p:nvPr/>
        </p:nvSpPr>
        <p:spPr>
          <a:xfrm>
            <a:off x="404427" y="3170499"/>
            <a:ext cx="1917974" cy="276999"/>
          </a:xfrm>
          <a:prstGeom prst="rect">
            <a:avLst/>
          </a:prstGeom>
          <a:noFill/>
        </p:spPr>
        <p:txBody>
          <a:bodyPr wrap="square" rtlCol="0">
            <a:spAutoFit/>
          </a:bodyPr>
          <a:lstStyle/>
          <a:p>
            <a:r>
              <a:rPr lang="fr-FR" sz="1200" b="1" dirty="0"/>
              <a:t>BOTTOM UP</a:t>
            </a:r>
            <a:r>
              <a:rPr lang="fr-FR" sz="1200" b="1" dirty="0" smtClean="0"/>
              <a:t> </a:t>
            </a:r>
            <a:r>
              <a:rPr lang="fr-FR" sz="1200" b="1" dirty="0" err="1" smtClean="0"/>
              <a:t>approach</a:t>
            </a:r>
            <a:endParaRPr lang="fr-FR" sz="1200" b="1" dirty="0"/>
          </a:p>
        </p:txBody>
      </p:sp>
      <p:cxnSp>
        <p:nvCxnSpPr>
          <p:cNvPr id="20" name="Connecteur droit avec flèche 19"/>
          <p:cNvCxnSpPr>
            <a:stCxn id="8" idx="2"/>
            <a:endCxn id="17" idx="0"/>
          </p:cNvCxnSpPr>
          <p:nvPr/>
        </p:nvCxnSpPr>
        <p:spPr>
          <a:xfrm>
            <a:off x="2919476" y="2833144"/>
            <a:ext cx="5578" cy="3373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ZoneTexte 21"/>
          <p:cNvSpPr txBox="1"/>
          <p:nvPr/>
        </p:nvSpPr>
        <p:spPr>
          <a:xfrm>
            <a:off x="3586098" y="3163880"/>
            <a:ext cx="5234373" cy="276999"/>
          </a:xfrm>
          <a:prstGeom prst="rect">
            <a:avLst/>
          </a:prstGeom>
          <a:noFill/>
        </p:spPr>
        <p:txBody>
          <a:bodyPr wrap="square" rtlCol="0">
            <a:spAutoFit/>
          </a:bodyPr>
          <a:lstStyle/>
          <a:p>
            <a:r>
              <a:rPr lang="fr-FR" sz="1200" b="1" dirty="0" err="1"/>
              <a:t>Average</a:t>
            </a:r>
            <a:r>
              <a:rPr lang="fr-FR" sz="1200" b="1" dirty="0"/>
              <a:t> </a:t>
            </a:r>
            <a:r>
              <a:rPr lang="fr-FR" sz="1200" b="1" dirty="0" err="1"/>
              <a:t>risk</a:t>
            </a:r>
            <a:r>
              <a:rPr lang="fr-FR" sz="1200" b="1" dirty="0"/>
              <a:t> </a:t>
            </a:r>
            <a:r>
              <a:rPr lang="fr-FR" sz="1200" dirty="0"/>
              <a:t>(</a:t>
            </a:r>
            <a:r>
              <a:rPr lang="fr-FR" sz="1200" dirty="0" err="1"/>
              <a:t>probability</a:t>
            </a:r>
            <a:r>
              <a:rPr lang="fr-FR" sz="1200" dirty="0"/>
              <a:t>) of </a:t>
            </a:r>
            <a:r>
              <a:rPr lang="fr-FR" sz="1200" dirty="0" err="1"/>
              <a:t>illness</a:t>
            </a:r>
            <a:r>
              <a:rPr lang="fr-FR" sz="1200" dirty="0"/>
              <a:t> per </a:t>
            </a:r>
            <a:r>
              <a:rPr lang="fr-FR" sz="1200" b="1" u="sng" dirty="0" err="1" smtClean="0"/>
              <a:t>Encounter</a:t>
            </a:r>
            <a:endParaRPr lang="fr-FR" sz="1200" b="1" u="sng" dirty="0"/>
          </a:p>
        </p:txBody>
      </p:sp>
      <p:sp>
        <p:nvSpPr>
          <p:cNvPr id="23" name="Rectangle à coins arrondis 22"/>
          <p:cNvSpPr/>
          <p:nvPr/>
        </p:nvSpPr>
        <p:spPr>
          <a:xfrm>
            <a:off x="2353419" y="3746563"/>
            <a:ext cx="1152128" cy="288032"/>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smtClean="0">
                <a:solidFill>
                  <a:schemeClr val="tx1"/>
                </a:solidFill>
              </a:rPr>
              <a:t>1-(1-R</a:t>
            </a:r>
            <a:r>
              <a:rPr lang="fr-FR" sz="1400" dirty="0" smtClean="0">
                <a:solidFill>
                  <a:srgbClr val="FF0000"/>
                </a:solidFill>
                <a:latin typeface="Calibri" panose="020F0502020204030204" pitchFamily="34" charset="0"/>
                <a:cs typeface="Calibri" panose="020F0502020204030204" pitchFamily="34" charset="0"/>
              </a:rPr>
              <a:t>Ɵ</a:t>
            </a:r>
            <a:r>
              <a:rPr lang="fr-FR" sz="1600" b="1" dirty="0" smtClean="0">
                <a:solidFill>
                  <a:schemeClr val="tx1"/>
                </a:solidFill>
                <a:latin typeface="Calibri" panose="020F0502020204030204" pitchFamily="34" charset="0"/>
                <a:cs typeface="Calibri" panose="020F0502020204030204" pitchFamily="34" charset="0"/>
              </a:rPr>
              <a:t>)^n</a:t>
            </a:r>
            <a:endParaRPr lang="fr-FR" sz="1400" b="1" dirty="0">
              <a:solidFill>
                <a:schemeClr val="tx1"/>
              </a:solidFill>
            </a:endParaRPr>
          </a:p>
        </p:txBody>
      </p:sp>
      <p:cxnSp>
        <p:nvCxnSpPr>
          <p:cNvPr id="27" name="Connecteur droit avec flèche 26"/>
          <p:cNvCxnSpPr>
            <a:stCxn id="17" idx="2"/>
            <a:endCxn id="23" idx="0"/>
          </p:cNvCxnSpPr>
          <p:nvPr/>
        </p:nvCxnSpPr>
        <p:spPr>
          <a:xfrm>
            <a:off x="2925054" y="3458531"/>
            <a:ext cx="4429"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ZoneTexte 32"/>
          <p:cNvSpPr txBox="1"/>
          <p:nvPr/>
        </p:nvSpPr>
        <p:spPr>
          <a:xfrm>
            <a:off x="3563888" y="3727111"/>
            <a:ext cx="5688632" cy="276999"/>
          </a:xfrm>
          <a:prstGeom prst="rect">
            <a:avLst/>
          </a:prstGeom>
          <a:noFill/>
        </p:spPr>
        <p:txBody>
          <a:bodyPr wrap="square" rtlCol="0">
            <a:spAutoFit/>
          </a:bodyPr>
          <a:lstStyle/>
          <a:p>
            <a:r>
              <a:rPr lang="fr-FR" sz="1200" b="1" dirty="0" err="1" smtClean="0"/>
              <a:t>Average</a:t>
            </a:r>
            <a:r>
              <a:rPr lang="fr-FR" sz="1200" b="1" dirty="0" smtClean="0"/>
              <a:t> </a:t>
            </a:r>
            <a:r>
              <a:rPr lang="fr-FR" sz="1200" b="1" dirty="0" err="1"/>
              <a:t>risk</a:t>
            </a:r>
            <a:r>
              <a:rPr lang="fr-FR" sz="1200" b="1" dirty="0"/>
              <a:t> </a:t>
            </a:r>
            <a:r>
              <a:rPr lang="fr-FR" sz="1200" dirty="0"/>
              <a:t>(</a:t>
            </a:r>
            <a:r>
              <a:rPr lang="fr-FR" sz="1200" dirty="0" err="1"/>
              <a:t>probability</a:t>
            </a:r>
            <a:r>
              <a:rPr lang="fr-FR" sz="1200" dirty="0"/>
              <a:t>) of </a:t>
            </a:r>
            <a:r>
              <a:rPr lang="fr-FR" sz="1200" dirty="0" err="1"/>
              <a:t>illness</a:t>
            </a:r>
            <a:r>
              <a:rPr lang="fr-FR" sz="1200" dirty="0"/>
              <a:t> per </a:t>
            </a:r>
            <a:r>
              <a:rPr lang="fr-FR" sz="1200" b="1" u="sng" dirty="0" err="1" smtClean="0"/>
              <a:t>individual</a:t>
            </a:r>
            <a:r>
              <a:rPr lang="fr-FR" sz="1200" dirty="0" smtClean="0"/>
              <a:t> </a:t>
            </a:r>
            <a:r>
              <a:rPr lang="fr-FR" sz="1200" i="1" dirty="0" smtClean="0"/>
              <a:t>(</a:t>
            </a:r>
            <a:r>
              <a:rPr lang="fr-FR" sz="1200" i="1" dirty="0" err="1" smtClean="0"/>
              <a:t>yearly</a:t>
            </a:r>
            <a:r>
              <a:rPr lang="fr-FR" sz="1200" i="1" dirty="0" smtClean="0"/>
              <a:t>)</a:t>
            </a:r>
            <a:endParaRPr lang="fr-FR" sz="1200" i="1" dirty="0"/>
          </a:p>
        </p:txBody>
      </p:sp>
      <p:sp>
        <p:nvSpPr>
          <p:cNvPr id="34" name="ZoneTexte 33"/>
          <p:cNvSpPr txBox="1"/>
          <p:nvPr/>
        </p:nvSpPr>
        <p:spPr>
          <a:xfrm>
            <a:off x="395536" y="3727110"/>
            <a:ext cx="1935756" cy="276999"/>
          </a:xfrm>
          <a:prstGeom prst="rect">
            <a:avLst/>
          </a:prstGeom>
          <a:noFill/>
        </p:spPr>
        <p:txBody>
          <a:bodyPr wrap="square" rtlCol="0">
            <a:spAutoFit/>
          </a:bodyPr>
          <a:lstStyle/>
          <a:p>
            <a:r>
              <a:rPr lang="fr-FR" sz="1200" b="1" dirty="0"/>
              <a:t>TOP DOWN</a:t>
            </a:r>
            <a:r>
              <a:rPr lang="fr-FR" sz="1200" b="1" dirty="0" smtClean="0"/>
              <a:t> </a:t>
            </a:r>
            <a:r>
              <a:rPr lang="fr-FR" sz="1200" b="1" dirty="0" err="1" smtClean="0"/>
              <a:t>approach</a:t>
            </a:r>
            <a:endParaRPr lang="fr-FR" sz="1200" b="1" dirty="0"/>
          </a:p>
        </p:txBody>
      </p:sp>
      <p:sp>
        <p:nvSpPr>
          <p:cNvPr id="41" name="Ellipse 40"/>
          <p:cNvSpPr/>
          <p:nvPr/>
        </p:nvSpPr>
        <p:spPr>
          <a:xfrm>
            <a:off x="3567708" y="4172510"/>
            <a:ext cx="360040" cy="36004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n</a:t>
            </a:r>
          </a:p>
        </p:txBody>
      </p:sp>
      <p:cxnSp>
        <p:nvCxnSpPr>
          <p:cNvPr id="43" name="Connecteur droit avec flèche 42"/>
          <p:cNvCxnSpPr>
            <a:stCxn id="41" idx="1"/>
          </p:cNvCxnSpPr>
          <p:nvPr/>
        </p:nvCxnSpPr>
        <p:spPr>
          <a:xfrm flipH="1" flipV="1">
            <a:off x="3509368" y="4033430"/>
            <a:ext cx="111067" cy="1918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ZoneTexte 46"/>
          <p:cNvSpPr txBox="1"/>
          <p:nvPr/>
        </p:nvSpPr>
        <p:spPr>
          <a:xfrm>
            <a:off x="3995936" y="4299942"/>
            <a:ext cx="3600400" cy="276999"/>
          </a:xfrm>
          <a:prstGeom prst="rect">
            <a:avLst/>
          </a:prstGeom>
          <a:noFill/>
        </p:spPr>
        <p:txBody>
          <a:bodyPr wrap="square" rtlCol="0">
            <a:spAutoFit/>
          </a:bodyPr>
          <a:lstStyle/>
          <a:p>
            <a:r>
              <a:rPr lang="fr-FR" sz="1200" dirty="0" err="1" smtClean="0"/>
              <a:t>Number</a:t>
            </a:r>
            <a:r>
              <a:rPr lang="fr-FR" sz="1200" dirty="0" smtClean="0"/>
              <a:t> of </a:t>
            </a:r>
            <a:r>
              <a:rPr lang="fr-FR" sz="1200" b="1" u="sng" dirty="0" err="1" smtClean="0"/>
              <a:t>Encounters</a:t>
            </a:r>
            <a:r>
              <a:rPr lang="fr-FR" sz="1200" b="1" u="sng" dirty="0" smtClean="0"/>
              <a:t> per </a:t>
            </a:r>
            <a:r>
              <a:rPr lang="fr-FR" sz="1200" b="1" u="sng" dirty="0" err="1" smtClean="0"/>
              <a:t>individual</a:t>
            </a:r>
            <a:r>
              <a:rPr lang="fr-FR" sz="1200" b="1" dirty="0" smtClean="0"/>
              <a:t> </a:t>
            </a:r>
            <a:r>
              <a:rPr lang="fr-FR" sz="1200" i="1" dirty="0"/>
              <a:t>(</a:t>
            </a:r>
            <a:r>
              <a:rPr lang="fr-FR" sz="1200" i="1" dirty="0" err="1"/>
              <a:t>yearly</a:t>
            </a:r>
            <a:r>
              <a:rPr lang="fr-FR" sz="1200" i="1" dirty="0" smtClean="0"/>
              <a:t>)</a:t>
            </a:r>
            <a:endParaRPr lang="fr-FR" sz="1200" i="1" dirty="0"/>
          </a:p>
        </p:txBody>
      </p:sp>
      <mc:AlternateContent xmlns:mc="http://schemas.openxmlformats.org/markup-compatibility/2006" xmlns:a14="http://schemas.microsoft.com/office/drawing/2010/main">
        <mc:Choice Requires="a14">
          <p:sp>
            <p:nvSpPr>
              <p:cNvPr id="51" name="ZoneTexte 50"/>
              <p:cNvSpPr txBox="1"/>
              <p:nvPr/>
            </p:nvSpPr>
            <p:spPr>
              <a:xfrm>
                <a:off x="2415420" y="2887836"/>
                <a:ext cx="288032" cy="2517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fr-FR" sz="800" i="1" smtClean="0">
                              <a:latin typeface="Cambria Math" panose="02040503050406030204" pitchFamily="18" charset="0"/>
                            </a:rPr>
                          </m:ctrlPr>
                        </m:naryPr>
                        <m:sub/>
                        <m:sup/>
                        <m:e>
                          <m:r>
                            <m:rPr>
                              <m:nor/>
                            </m:rPr>
                            <a:rPr lang="fr-FR" sz="800" b="1" dirty="0"/>
                            <m:t>R</m:t>
                          </m:r>
                          <m:r>
                            <m:rPr>
                              <m:nor/>
                            </m:rPr>
                            <a:rPr lang="fr-FR" sz="800" dirty="0">
                              <a:latin typeface="Calibri" panose="020F0502020204030204" pitchFamily="34" charset="0"/>
                              <a:cs typeface="Calibri" panose="020F0502020204030204" pitchFamily="34" charset="0"/>
                            </a:rPr>
                            <m:t>(</m:t>
                          </m:r>
                          <m:r>
                            <m:rPr>
                              <m:nor/>
                            </m:rPr>
                            <a:rPr lang="el-GR" sz="800" b="1" dirty="0">
                              <a:solidFill>
                                <a:schemeClr val="accent3"/>
                              </a:solidFill>
                              <a:cs typeface="Calibri" panose="020F0502020204030204" pitchFamily="34" charset="0"/>
                            </a:rPr>
                            <m:t>ξ</m:t>
                          </m:r>
                          <m:r>
                            <m:rPr>
                              <m:nor/>
                            </m:rPr>
                            <a:rPr lang="fr-FR" sz="800" dirty="0">
                              <a:latin typeface="Calibri" panose="020F0502020204030204" pitchFamily="34" charset="0"/>
                              <a:cs typeface="Calibri" panose="020F0502020204030204" pitchFamily="34" charset="0"/>
                            </a:rPr>
                            <m:t>)</m:t>
                          </m:r>
                          <m:r>
                            <m:rPr>
                              <m:nor/>
                            </m:rPr>
                            <a:rPr lang="fr-FR" sz="800" dirty="0"/>
                            <m:t> </m:t>
                          </m:r>
                          <m:r>
                            <a:rPr lang="fr-FR" sz="800" b="0" i="1" smtClean="0">
                              <a:latin typeface="Cambria Math" panose="02040503050406030204" pitchFamily="18" charset="0"/>
                            </a:rPr>
                            <m:t>𝑑</m:t>
                          </m:r>
                          <m:r>
                            <m:rPr>
                              <m:nor/>
                            </m:rPr>
                            <a:rPr lang="el-GR" sz="800" b="1" dirty="0">
                              <a:solidFill>
                                <a:schemeClr val="accent3"/>
                              </a:solidFill>
                              <a:cs typeface="Calibri" panose="020F0502020204030204" pitchFamily="34" charset="0"/>
                            </a:rPr>
                            <m:t>ξ</m:t>
                          </m:r>
                        </m:e>
                      </m:nary>
                    </m:oMath>
                  </m:oMathPara>
                </a14:m>
                <a:endParaRPr lang="fr-FR" sz="800" dirty="0"/>
              </a:p>
            </p:txBody>
          </p:sp>
        </mc:Choice>
        <mc:Fallback xmlns="">
          <p:sp>
            <p:nvSpPr>
              <p:cNvPr id="51" name="ZoneTexte 50"/>
              <p:cNvSpPr txBox="1">
                <a:spLocks noRot="1" noChangeAspect="1" noMove="1" noResize="1" noEditPoints="1" noAdjustHandles="1" noChangeArrowheads="1" noChangeShapeType="1" noTextEdit="1"/>
              </p:cNvSpPr>
              <p:nvPr/>
            </p:nvSpPr>
            <p:spPr>
              <a:xfrm>
                <a:off x="2415420" y="2887836"/>
                <a:ext cx="288032" cy="251736"/>
              </a:xfrm>
              <a:prstGeom prst="rect">
                <a:avLst/>
              </a:prstGeom>
              <a:blipFill>
                <a:blip r:embed="rId5"/>
                <a:stretch>
                  <a:fillRect l="-153191" t="-217073" r="-155319" b="-300000"/>
                </a:stretch>
              </a:blipFill>
            </p:spPr>
            <p:txBody>
              <a:bodyPr/>
              <a:lstStyle/>
              <a:p>
                <a:r>
                  <a:rPr lang="fr-FR">
                    <a:noFill/>
                  </a:rPr>
                  <a:t> </a:t>
                </a:r>
              </a:p>
            </p:txBody>
          </p:sp>
        </mc:Fallback>
      </mc:AlternateContent>
      <p:sp>
        <p:nvSpPr>
          <p:cNvPr id="3" name="ZoneTexte 2"/>
          <p:cNvSpPr txBox="1"/>
          <p:nvPr/>
        </p:nvSpPr>
        <p:spPr>
          <a:xfrm>
            <a:off x="6510510" y="2251973"/>
            <a:ext cx="1008112" cy="276999"/>
          </a:xfrm>
          <a:prstGeom prst="rect">
            <a:avLst/>
          </a:prstGeom>
          <a:noFill/>
        </p:spPr>
        <p:txBody>
          <a:bodyPr wrap="square" rtlCol="0">
            <a:spAutoFit/>
          </a:bodyPr>
          <a:lstStyle/>
          <a:p>
            <a:r>
              <a:rPr lang="fr-FR" sz="1200" b="1" u="sng" dirty="0" err="1" smtClean="0"/>
              <a:t>Encounter</a:t>
            </a:r>
            <a:endParaRPr lang="fr-FR" sz="1200" b="1" u="sng" dirty="0"/>
          </a:p>
        </p:txBody>
      </p:sp>
      <p:sp>
        <p:nvSpPr>
          <p:cNvPr id="7" name="Multiplication 6"/>
          <p:cNvSpPr/>
          <p:nvPr/>
        </p:nvSpPr>
        <p:spPr>
          <a:xfrm>
            <a:off x="6584215" y="2519452"/>
            <a:ext cx="868105" cy="288032"/>
          </a:xfrm>
          <a:prstGeom prst="mathMultiply">
            <a:avLst/>
          </a:prstGeom>
          <a:solidFill>
            <a:srgbClr val="FF000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grpSp>
        <p:nvGrpSpPr>
          <p:cNvPr id="10" name="Groupe 9"/>
          <p:cNvGrpSpPr/>
          <p:nvPr/>
        </p:nvGrpSpPr>
        <p:grpSpPr>
          <a:xfrm>
            <a:off x="7353851" y="1993886"/>
            <a:ext cx="1504890" cy="413433"/>
            <a:chOff x="7353851" y="1993886"/>
            <a:chExt cx="1504890" cy="413433"/>
          </a:xfrm>
        </p:grpSpPr>
        <p:pic>
          <p:nvPicPr>
            <p:cNvPr id="28" name="Image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18666" y="2039162"/>
              <a:ext cx="340075" cy="340075"/>
            </a:xfrm>
            <a:prstGeom prst="rect">
              <a:avLst/>
            </a:prstGeom>
          </p:spPr>
        </p:pic>
        <p:pic>
          <p:nvPicPr>
            <p:cNvPr id="29" name="Imag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53851" y="1993886"/>
              <a:ext cx="392214" cy="392214"/>
            </a:xfrm>
            <a:prstGeom prst="rect">
              <a:avLst/>
            </a:prstGeom>
          </p:spPr>
        </p:pic>
        <p:pic>
          <p:nvPicPr>
            <p:cNvPr id="30" name="Image 2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81790" y="2054830"/>
              <a:ext cx="352489" cy="352489"/>
            </a:xfrm>
            <a:prstGeom prst="rect">
              <a:avLst/>
            </a:prstGeom>
          </p:spPr>
        </p:pic>
        <p:pic>
          <p:nvPicPr>
            <p:cNvPr id="31" name="Imag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13928" y="2071572"/>
              <a:ext cx="299999" cy="305510"/>
            </a:xfrm>
            <a:prstGeom prst="rect">
              <a:avLst/>
            </a:prstGeom>
          </p:spPr>
        </p:pic>
      </p:grpSp>
    </p:spTree>
    <p:extLst>
      <p:ext uri="{BB962C8B-B14F-4D97-AF65-F5344CB8AC3E}">
        <p14:creationId xmlns:p14="http://schemas.microsoft.com/office/powerpoint/2010/main" val="157482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1"/>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animBg="1"/>
      <p:bldP spid="8" grpId="0" animBg="1"/>
      <p:bldP spid="13" grpId="0"/>
      <p:bldP spid="14" grpId="0"/>
      <p:bldP spid="15" grpId="0"/>
      <p:bldP spid="17" grpId="0" animBg="1"/>
      <p:bldP spid="18" grpId="0"/>
      <p:bldP spid="22" grpId="0"/>
      <p:bldP spid="23" grpId="0" animBg="1"/>
      <p:bldP spid="33" grpId="0"/>
      <p:bldP spid="34" grpId="0"/>
      <p:bldP spid="41" grpId="0" animBg="1"/>
      <p:bldP spid="47" grpId="0"/>
      <p:bldP spid="51" grpId="0"/>
      <p:bldP spid="3"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9"/>
          </p:nvPr>
        </p:nvSpPr>
        <p:spPr/>
        <p:txBody>
          <a:bodyPr/>
          <a:lstStyle/>
          <a:p>
            <a:fld id="{733122C9-A0B9-462F-8757-0847AD287B63}" type="slidenum">
              <a:rPr lang="fr-FR" smtClean="0"/>
              <a:pPr/>
              <a:t>12</a:t>
            </a:fld>
            <a:endParaRPr lang="fr-FR" dirty="0"/>
          </a:p>
        </p:txBody>
      </p:sp>
      <p:sp>
        <p:nvSpPr>
          <p:cNvPr id="3" name="Titre 2"/>
          <p:cNvSpPr>
            <a:spLocks noGrp="1"/>
          </p:cNvSpPr>
          <p:nvPr>
            <p:ph type="title"/>
          </p:nvPr>
        </p:nvSpPr>
        <p:spPr/>
        <p:txBody>
          <a:bodyPr/>
          <a:lstStyle/>
          <a:p>
            <a:r>
              <a:rPr lang="fr-FR" dirty="0" smtClean="0"/>
              <a:t>Communications</a:t>
            </a:r>
            <a:endParaRPr lang="fr-FR" dirty="0"/>
          </a:p>
        </p:txBody>
      </p:sp>
      <p:sp>
        <p:nvSpPr>
          <p:cNvPr id="7"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solidFill>
                  <a:schemeClr val="bg1"/>
                </a:solidFill>
              </a:rPr>
              <a:t>ENVIRE meeting Wroclaw 2025</a:t>
            </a:r>
          </a:p>
        </p:txBody>
      </p:sp>
    </p:spTree>
    <p:extLst>
      <p:ext uri="{BB962C8B-B14F-4D97-AF65-F5344CB8AC3E}">
        <p14:creationId xmlns:p14="http://schemas.microsoft.com/office/powerpoint/2010/main" val="3153714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p:cNvSpPr>
          <p:nvPr>
            <p:ph type="sldNum" sz="quarter" idx="18"/>
          </p:nvPr>
        </p:nvSpPr>
        <p:spPr/>
        <p:txBody>
          <a:bodyPr/>
          <a:lstStyle/>
          <a:p>
            <a:fld id="{733122C9-A0B9-462F-8757-0847AD287B63}" type="slidenum">
              <a:rPr lang="fr-FR" smtClean="0"/>
              <a:pPr/>
              <a:t>13</a:t>
            </a:fld>
            <a:endParaRPr lang="fr-FR" dirty="0"/>
          </a:p>
        </p:txBody>
      </p:sp>
      <p:sp>
        <p:nvSpPr>
          <p:cNvPr id="9" name="Titre 1"/>
          <p:cNvSpPr txBox="1">
            <a:spLocks/>
          </p:cNvSpPr>
          <p:nvPr/>
        </p:nvSpPr>
        <p:spPr bwMode="gray">
          <a:xfrm>
            <a:off x="359998" y="267494"/>
            <a:ext cx="8424000" cy="72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550" b="1" kern="1200" baseline="0">
                <a:solidFill>
                  <a:srgbClr val="262626"/>
                </a:solidFill>
                <a:latin typeface="+mj-lt"/>
                <a:ea typeface="+mj-ea"/>
                <a:cs typeface="+mj-cs"/>
              </a:defRPr>
            </a:lvl1pPr>
          </a:lstStyle>
          <a:p>
            <a:r>
              <a:rPr lang="fr-FR" sz="2800" dirty="0" smtClean="0"/>
              <a:t>Scientific communications</a:t>
            </a:r>
            <a:endParaRPr lang="fr-FR" dirty="0"/>
          </a:p>
        </p:txBody>
      </p:sp>
      <p:sp>
        <p:nvSpPr>
          <p:cNvPr id="11" name="ZoneTexte 10"/>
          <p:cNvSpPr txBox="1"/>
          <p:nvPr/>
        </p:nvSpPr>
        <p:spPr>
          <a:xfrm>
            <a:off x="359998" y="695357"/>
            <a:ext cx="8784976" cy="3970318"/>
          </a:xfrm>
          <a:prstGeom prst="rect">
            <a:avLst/>
          </a:prstGeom>
          <a:noFill/>
        </p:spPr>
        <p:txBody>
          <a:bodyPr wrap="square" rtlCol="0">
            <a:spAutoFit/>
          </a:bodyPr>
          <a:lstStyle/>
          <a:p>
            <a:r>
              <a:rPr lang="fr-FR" b="1" dirty="0" err="1" smtClean="0">
                <a:solidFill>
                  <a:srgbClr val="5770BE"/>
                </a:solidFill>
              </a:rPr>
              <a:t>Presentations</a:t>
            </a:r>
            <a:r>
              <a:rPr lang="fr-FR" b="1" dirty="0" smtClean="0">
                <a:solidFill>
                  <a:srgbClr val="5770BE"/>
                </a:solidFill>
              </a:rPr>
              <a:t>:</a:t>
            </a:r>
          </a:p>
          <a:p>
            <a:pPr marL="285750" indent="-285750">
              <a:buFont typeface="Arial" panose="020B0604020202020204" pitchFamily="34" charset="0"/>
              <a:buChar char="•"/>
            </a:pPr>
            <a:r>
              <a:rPr lang="fr-FR" b="1" dirty="0" smtClean="0"/>
              <a:t>16 May ‘24 </a:t>
            </a:r>
            <a:r>
              <a:rPr lang="fr-FR" dirty="0" smtClean="0"/>
              <a:t>– </a:t>
            </a:r>
            <a:r>
              <a:rPr lang="fr-FR" dirty="0" err="1" smtClean="0"/>
              <a:t>Presentation</a:t>
            </a:r>
            <a:r>
              <a:rPr lang="fr-FR" dirty="0" smtClean="0"/>
              <a:t> at </a:t>
            </a:r>
            <a:r>
              <a:rPr lang="fr-FR" b="1" dirty="0" err="1" smtClean="0">
                <a:solidFill>
                  <a:srgbClr val="FF0000"/>
                </a:solidFill>
              </a:rPr>
              <a:t>ModStatSAP</a:t>
            </a:r>
            <a:r>
              <a:rPr lang="fr-FR" dirty="0" smtClean="0"/>
              <a:t> – Paris</a:t>
            </a:r>
          </a:p>
          <a:p>
            <a:pPr marL="285750" indent="-285750">
              <a:buFont typeface="Arial" panose="020B0604020202020204" pitchFamily="34" charset="0"/>
              <a:buChar char="•"/>
            </a:pPr>
            <a:r>
              <a:rPr lang="fr-FR" b="1" dirty="0" smtClean="0"/>
              <a:t>15 May ’25 </a:t>
            </a:r>
            <a:r>
              <a:rPr lang="fr-FR" dirty="0" smtClean="0"/>
              <a:t>– </a:t>
            </a:r>
            <a:r>
              <a:rPr lang="fr-FR" dirty="0" err="1" smtClean="0"/>
              <a:t>Presentation</a:t>
            </a:r>
            <a:r>
              <a:rPr lang="fr-FR" dirty="0" smtClean="0"/>
              <a:t> at </a:t>
            </a:r>
            <a:r>
              <a:rPr lang="fr-FR" b="1" dirty="0" smtClean="0">
                <a:solidFill>
                  <a:srgbClr val="FF0000"/>
                </a:solidFill>
              </a:rPr>
              <a:t>PROMISE </a:t>
            </a:r>
            <a:r>
              <a:rPr lang="fr-FR" b="1" dirty="0" err="1" smtClean="0">
                <a:solidFill>
                  <a:srgbClr val="FF0000"/>
                </a:solidFill>
              </a:rPr>
              <a:t>Seminar</a:t>
            </a:r>
            <a:r>
              <a:rPr lang="fr-FR" dirty="0" smtClean="0"/>
              <a:t> – Online</a:t>
            </a:r>
          </a:p>
          <a:p>
            <a:pPr marL="285750" indent="-285750">
              <a:buFont typeface="Arial" panose="020B0604020202020204" pitchFamily="34" charset="0"/>
              <a:buChar char="•"/>
            </a:pPr>
            <a:endParaRPr lang="fr-FR" b="1" dirty="0" smtClean="0"/>
          </a:p>
          <a:p>
            <a:r>
              <a:rPr lang="fr-FR" b="1" dirty="0" smtClean="0">
                <a:solidFill>
                  <a:srgbClr val="5770BE"/>
                </a:solidFill>
              </a:rPr>
              <a:t>Posters:</a:t>
            </a:r>
          </a:p>
          <a:p>
            <a:pPr marL="285750" indent="-285750">
              <a:buFont typeface="Arial" panose="020B0604020202020204" pitchFamily="34" charset="0"/>
              <a:buChar char="•"/>
            </a:pPr>
            <a:r>
              <a:rPr lang="fr-FR" b="1" dirty="0" smtClean="0"/>
              <a:t>24 August </a:t>
            </a:r>
            <a:r>
              <a:rPr lang="fr-FR" b="1" dirty="0"/>
              <a:t>‘24</a:t>
            </a:r>
            <a:r>
              <a:rPr lang="fr-FR" dirty="0" smtClean="0"/>
              <a:t>– Poster at </a:t>
            </a:r>
            <a:r>
              <a:rPr lang="fr-FR" b="1" dirty="0" smtClean="0">
                <a:solidFill>
                  <a:srgbClr val="FF0000"/>
                </a:solidFill>
              </a:rPr>
              <a:t>ModAH</a:t>
            </a:r>
            <a:r>
              <a:rPr lang="fr-FR" dirty="0" smtClean="0"/>
              <a:t> – Nantes</a:t>
            </a:r>
          </a:p>
          <a:p>
            <a:pPr marL="285750" indent="-285750">
              <a:buFont typeface="Arial" panose="020B0604020202020204" pitchFamily="34" charset="0"/>
              <a:buChar char="•"/>
            </a:pPr>
            <a:r>
              <a:rPr lang="fr-FR" b="1" dirty="0" smtClean="0"/>
              <a:t>12 </a:t>
            </a:r>
            <a:r>
              <a:rPr lang="fr-FR" b="1" dirty="0" err="1" smtClean="0"/>
              <a:t>November</a:t>
            </a:r>
            <a:r>
              <a:rPr lang="fr-FR" b="1" dirty="0" smtClean="0"/>
              <a:t> </a:t>
            </a:r>
            <a:r>
              <a:rPr lang="fr-FR" b="1" dirty="0"/>
              <a:t>‘24</a:t>
            </a:r>
            <a:r>
              <a:rPr lang="fr-FR" dirty="0" smtClean="0"/>
              <a:t>– </a:t>
            </a:r>
            <a:r>
              <a:rPr lang="fr-FR" dirty="0"/>
              <a:t>Poster </a:t>
            </a:r>
            <a:r>
              <a:rPr lang="fr-FR" dirty="0" smtClean="0"/>
              <a:t>at </a:t>
            </a:r>
            <a:r>
              <a:rPr lang="fr-FR" b="1" dirty="0" smtClean="0">
                <a:solidFill>
                  <a:srgbClr val="FF0000"/>
                </a:solidFill>
              </a:rPr>
              <a:t>EcoToxicoMic </a:t>
            </a:r>
            <a:r>
              <a:rPr lang="fr-FR" b="1" dirty="0" smtClean="0"/>
              <a:t>–</a:t>
            </a:r>
            <a:r>
              <a:rPr lang="fr-FR" b="1" dirty="0" smtClean="0">
                <a:solidFill>
                  <a:srgbClr val="FF0000"/>
                </a:solidFill>
              </a:rPr>
              <a:t> </a:t>
            </a:r>
            <a:r>
              <a:rPr lang="fr-FR" dirty="0" err="1" smtClean="0"/>
              <a:t>Gotenberg</a:t>
            </a:r>
            <a:endParaRPr lang="fr-FR" dirty="0" smtClean="0"/>
          </a:p>
          <a:p>
            <a:r>
              <a:rPr lang="fr-FR" b="1" dirty="0" smtClean="0">
                <a:solidFill>
                  <a:schemeClr val="bg2"/>
                </a:solidFill>
              </a:rPr>
              <a:t/>
            </a:r>
            <a:br>
              <a:rPr lang="fr-FR" b="1" dirty="0" smtClean="0">
                <a:solidFill>
                  <a:schemeClr val="bg2"/>
                </a:solidFill>
              </a:rPr>
            </a:br>
            <a:r>
              <a:rPr lang="fr-FR" b="1" dirty="0" err="1" smtClean="0">
                <a:solidFill>
                  <a:schemeClr val="bg2"/>
                </a:solidFill>
              </a:rPr>
              <a:t>Miscellaneous</a:t>
            </a:r>
            <a:r>
              <a:rPr lang="fr-FR" b="1" dirty="0" smtClean="0">
                <a:solidFill>
                  <a:schemeClr val="bg2"/>
                </a:solidFill>
              </a:rPr>
              <a:t>:</a:t>
            </a:r>
          </a:p>
          <a:p>
            <a:pPr marL="285750" indent="-285750">
              <a:buFont typeface="Arial" panose="020B0604020202020204" pitchFamily="34" charset="0"/>
              <a:buChar char="•"/>
            </a:pPr>
            <a:r>
              <a:rPr lang="fr-FR" b="1" dirty="0" err="1" smtClean="0"/>
              <a:t>June</a:t>
            </a:r>
            <a:r>
              <a:rPr lang="fr-FR" dirty="0" smtClean="0"/>
              <a:t> and </a:t>
            </a:r>
            <a:r>
              <a:rPr lang="fr-FR" b="1" dirty="0" err="1" smtClean="0"/>
              <a:t>November</a:t>
            </a:r>
            <a:r>
              <a:rPr lang="fr-FR" dirty="0" smtClean="0"/>
              <a:t> </a:t>
            </a:r>
            <a:r>
              <a:rPr lang="fr-FR" b="1" dirty="0"/>
              <a:t>‘24 </a:t>
            </a:r>
            <a:r>
              <a:rPr lang="fr-FR" dirty="0" smtClean="0"/>
              <a:t>-</a:t>
            </a:r>
            <a:r>
              <a:rPr lang="fr-FR" b="1" dirty="0" smtClean="0">
                <a:solidFill>
                  <a:srgbClr val="FF0000"/>
                </a:solidFill>
              </a:rPr>
              <a:t> Short study visit – </a:t>
            </a:r>
            <a:r>
              <a:rPr lang="fr-FR" dirty="0" smtClean="0"/>
              <a:t>Berlin</a:t>
            </a:r>
          </a:p>
          <a:p>
            <a:pPr marL="285750" indent="-285750">
              <a:buFont typeface="Arial" panose="020B0604020202020204" pitchFamily="34" charset="0"/>
              <a:buChar char="•"/>
            </a:pPr>
            <a:r>
              <a:rPr lang="fr-FR" b="1" dirty="0" smtClean="0"/>
              <a:t>16 </a:t>
            </a:r>
            <a:r>
              <a:rPr lang="fr-FR" b="1" dirty="0" err="1"/>
              <a:t>October</a:t>
            </a:r>
            <a:r>
              <a:rPr lang="fr-FR" b="1" dirty="0"/>
              <a:t> ‘24 &amp; 12 </a:t>
            </a:r>
            <a:r>
              <a:rPr lang="fr-FR" b="1" dirty="0" err="1"/>
              <a:t>February</a:t>
            </a:r>
            <a:r>
              <a:rPr lang="fr-FR" b="1" dirty="0"/>
              <a:t> </a:t>
            </a:r>
            <a:r>
              <a:rPr lang="fr-FR" b="1" dirty="0" smtClean="0"/>
              <a:t>’25 </a:t>
            </a:r>
            <a:r>
              <a:rPr lang="fr-FR" dirty="0" smtClean="0"/>
              <a:t>– </a:t>
            </a:r>
            <a:r>
              <a:rPr lang="fr-FR" b="1" dirty="0" err="1" smtClean="0">
                <a:solidFill>
                  <a:srgbClr val="FF0000"/>
                </a:solidFill>
              </a:rPr>
              <a:t>Visit</a:t>
            </a:r>
            <a:r>
              <a:rPr lang="fr-FR" b="1" dirty="0" smtClean="0">
                <a:solidFill>
                  <a:srgbClr val="FF0000"/>
                </a:solidFill>
              </a:rPr>
              <a:t> </a:t>
            </a:r>
            <a:r>
              <a:rPr lang="fr-FR" b="1" dirty="0" err="1" smtClean="0">
                <a:solidFill>
                  <a:srgbClr val="FF0000"/>
                </a:solidFill>
              </a:rPr>
              <a:t>poultry</a:t>
            </a:r>
            <a:r>
              <a:rPr lang="fr-FR" b="1" dirty="0" smtClean="0">
                <a:solidFill>
                  <a:srgbClr val="FF0000"/>
                </a:solidFill>
              </a:rPr>
              <a:t> abattoir </a:t>
            </a:r>
            <a:r>
              <a:rPr lang="fr-FR" dirty="0"/>
              <a:t>– </a:t>
            </a:r>
            <a:r>
              <a:rPr lang="fr-FR" dirty="0" smtClean="0"/>
              <a:t>Ardèche</a:t>
            </a:r>
            <a:endParaRPr lang="fr-FR" dirty="0"/>
          </a:p>
          <a:p>
            <a:endParaRPr lang="fr-FR" b="1" dirty="0">
              <a:solidFill>
                <a:srgbClr val="FF0000"/>
              </a:solidFill>
            </a:endParaRPr>
          </a:p>
          <a:p>
            <a:r>
              <a:rPr lang="fr-FR" b="1" dirty="0">
                <a:solidFill>
                  <a:srgbClr val="5770BE"/>
                </a:solidFill>
              </a:rPr>
              <a:t>A</a:t>
            </a:r>
            <a:r>
              <a:rPr lang="fr-FR" b="1" dirty="0" smtClean="0">
                <a:solidFill>
                  <a:srgbClr val="5770BE"/>
                </a:solidFill>
              </a:rPr>
              <a:t>rticle 1: </a:t>
            </a:r>
            <a:r>
              <a:rPr lang="fr-FR" dirty="0" err="1" smtClean="0"/>
              <a:t>Occupational</a:t>
            </a:r>
            <a:r>
              <a:rPr lang="fr-FR" dirty="0" smtClean="0"/>
              <a:t> module </a:t>
            </a:r>
            <a:r>
              <a:rPr lang="fr-FR" b="1" dirty="0" err="1" smtClean="0">
                <a:solidFill>
                  <a:srgbClr val="FF0000"/>
                </a:solidFill>
              </a:rPr>
              <a:t>under</a:t>
            </a:r>
            <a:r>
              <a:rPr lang="fr-FR" b="1" dirty="0" smtClean="0">
                <a:solidFill>
                  <a:srgbClr val="FF0000"/>
                </a:solidFill>
              </a:rPr>
              <a:t> </a:t>
            </a:r>
            <a:r>
              <a:rPr lang="fr-FR" b="1" dirty="0" err="1" smtClean="0">
                <a:solidFill>
                  <a:srgbClr val="FF0000"/>
                </a:solidFill>
              </a:rPr>
              <a:t>review</a:t>
            </a:r>
            <a:r>
              <a:rPr lang="fr-FR" b="1" dirty="0" smtClean="0">
                <a:solidFill>
                  <a:srgbClr val="FF0000"/>
                </a:solidFill>
              </a:rPr>
              <a:t> </a:t>
            </a:r>
            <a:r>
              <a:rPr lang="fr-FR" dirty="0" smtClean="0"/>
              <a:t>MRA Journal</a:t>
            </a:r>
          </a:p>
          <a:p>
            <a:r>
              <a:rPr lang="fr-FR" b="1" dirty="0" smtClean="0">
                <a:solidFill>
                  <a:srgbClr val="5770BE"/>
                </a:solidFill>
              </a:rPr>
              <a:t>Article 2:</a:t>
            </a:r>
            <a:r>
              <a:rPr lang="fr-FR" dirty="0" smtClean="0"/>
              <a:t> </a:t>
            </a:r>
            <a:r>
              <a:rPr lang="fr-FR" dirty="0" err="1" smtClean="0"/>
              <a:t>Risk</a:t>
            </a:r>
            <a:r>
              <a:rPr lang="fr-FR" dirty="0" smtClean="0"/>
              <a:t> </a:t>
            </a:r>
            <a:r>
              <a:rPr lang="fr-FR" dirty="0" err="1" smtClean="0"/>
              <a:t>characterization</a:t>
            </a:r>
            <a:r>
              <a:rPr lang="fr-FR" dirty="0" smtClean="0"/>
              <a:t> </a:t>
            </a:r>
            <a:r>
              <a:rPr lang="fr-FR" b="1" dirty="0" err="1" smtClean="0">
                <a:solidFill>
                  <a:srgbClr val="FF0000"/>
                </a:solidFill>
              </a:rPr>
              <a:t>under</a:t>
            </a:r>
            <a:r>
              <a:rPr lang="fr-FR" b="1" dirty="0" smtClean="0">
                <a:solidFill>
                  <a:srgbClr val="FF0000"/>
                </a:solidFill>
              </a:rPr>
              <a:t> </a:t>
            </a:r>
            <a:r>
              <a:rPr lang="fr-FR" b="1" dirty="0" err="1" smtClean="0">
                <a:solidFill>
                  <a:srgbClr val="FF0000"/>
                </a:solidFill>
              </a:rPr>
              <a:t>preparation</a:t>
            </a:r>
            <a:endParaRPr lang="fr-FR" b="1" dirty="0">
              <a:solidFill>
                <a:srgbClr val="FF0000"/>
              </a:solidFill>
            </a:endParaRPr>
          </a:p>
        </p:txBody>
      </p:sp>
      <p:sp>
        <p:nvSpPr>
          <p:cNvPr id="15"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t>ENVIRE meeting Wroclaw 2025</a:t>
            </a:r>
          </a:p>
        </p:txBody>
      </p:sp>
    </p:spTree>
    <p:extLst>
      <p:ext uri="{BB962C8B-B14F-4D97-AF65-F5344CB8AC3E}">
        <p14:creationId xmlns:p14="http://schemas.microsoft.com/office/powerpoint/2010/main" val="267087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4" end="4"/>
                                            </p:txEl>
                                          </p:spTgt>
                                        </p:tgtEl>
                                        <p:attrNameLst>
                                          <p:attrName>style.visibility</p:attrName>
                                        </p:attrNameLst>
                                      </p:cBhvr>
                                      <p:to>
                                        <p:strVal val="visible"/>
                                      </p:to>
                                    </p:set>
                                    <p:animEffect transition="in" filter="fade">
                                      <p:cBhvr>
                                        <p:cTn id="20" dur="500"/>
                                        <p:tgtEl>
                                          <p:spTgt spid="1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xEl>
                                              <p:pRg st="5" end="5"/>
                                            </p:txEl>
                                          </p:spTgt>
                                        </p:tgtEl>
                                        <p:attrNameLst>
                                          <p:attrName>style.visibility</p:attrName>
                                        </p:attrNameLst>
                                      </p:cBhvr>
                                      <p:to>
                                        <p:strVal val="visible"/>
                                      </p:to>
                                    </p:set>
                                    <p:animEffect transition="in" filter="fade">
                                      <p:cBhvr>
                                        <p:cTn id="25" dur="500"/>
                                        <p:tgtEl>
                                          <p:spTgt spid="11">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500"/>
                                        <p:tgtEl>
                                          <p:spTgt spid="11">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animEffect transition="in" filter="fade">
                                      <p:cBhvr>
                                        <p:cTn id="33" dur="500"/>
                                        <p:tgtEl>
                                          <p:spTgt spid="11">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8" end="8"/>
                                            </p:txEl>
                                          </p:spTgt>
                                        </p:tgtEl>
                                        <p:attrNameLst>
                                          <p:attrName>style.visibility</p:attrName>
                                        </p:attrNameLst>
                                      </p:cBhvr>
                                      <p:to>
                                        <p:strVal val="visible"/>
                                      </p:to>
                                    </p:set>
                                    <p:animEffect transition="in" filter="fade">
                                      <p:cBhvr>
                                        <p:cTn id="38" dur="500"/>
                                        <p:tgtEl>
                                          <p:spTgt spid="11">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
                                            <p:txEl>
                                              <p:pRg st="9" end="9"/>
                                            </p:txEl>
                                          </p:spTgt>
                                        </p:tgtEl>
                                        <p:attrNameLst>
                                          <p:attrName>style.visibility</p:attrName>
                                        </p:attrNameLst>
                                      </p:cBhvr>
                                      <p:to>
                                        <p:strVal val="visible"/>
                                      </p:to>
                                    </p:set>
                                    <p:animEffect transition="in" filter="fade">
                                      <p:cBhvr>
                                        <p:cTn id="43" dur="500"/>
                                        <p:tgtEl>
                                          <p:spTgt spid="11">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
                                            <p:txEl>
                                              <p:pRg st="11" end="11"/>
                                            </p:txEl>
                                          </p:spTgt>
                                        </p:tgtEl>
                                        <p:attrNameLst>
                                          <p:attrName>style.visibility</p:attrName>
                                        </p:attrNameLst>
                                      </p:cBhvr>
                                      <p:to>
                                        <p:strVal val="visible"/>
                                      </p:to>
                                    </p:set>
                                    <p:animEffect transition="in" filter="fade">
                                      <p:cBhvr>
                                        <p:cTn id="48" dur="500"/>
                                        <p:tgtEl>
                                          <p:spTgt spid="11">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
                                            <p:txEl>
                                              <p:pRg st="12" end="12"/>
                                            </p:txEl>
                                          </p:spTgt>
                                        </p:tgtEl>
                                        <p:attrNameLst>
                                          <p:attrName>style.visibility</p:attrName>
                                        </p:attrNameLst>
                                      </p:cBhvr>
                                      <p:to>
                                        <p:strVal val="visible"/>
                                      </p:to>
                                    </p:set>
                                    <p:animEffect transition="in" filter="fade">
                                      <p:cBhvr>
                                        <p:cTn id="53" dur="500"/>
                                        <p:tgtEl>
                                          <p:spTgt spid="1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9"/>
          </p:nvPr>
        </p:nvSpPr>
        <p:spPr/>
        <p:txBody>
          <a:bodyPr/>
          <a:lstStyle/>
          <a:p>
            <a:fld id="{733122C9-A0B9-462F-8757-0847AD287B63}" type="slidenum">
              <a:rPr lang="fr-FR" smtClean="0"/>
              <a:pPr/>
              <a:t>14</a:t>
            </a:fld>
            <a:endParaRPr lang="fr-FR" dirty="0"/>
          </a:p>
        </p:txBody>
      </p:sp>
      <p:sp>
        <p:nvSpPr>
          <p:cNvPr id="3" name="Titre 2"/>
          <p:cNvSpPr>
            <a:spLocks noGrp="1"/>
          </p:cNvSpPr>
          <p:nvPr>
            <p:ph type="title"/>
          </p:nvPr>
        </p:nvSpPr>
        <p:spPr/>
        <p:txBody>
          <a:bodyPr/>
          <a:lstStyle/>
          <a:p>
            <a:r>
              <a:rPr lang="fr-FR" dirty="0" smtClean="0"/>
              <a:t>Thank you !</a:t>
            </a:r>
            <a:br>
              <a:rPr lang="fr-FR" dirty="0" smtClean="0"/>
            </a:br>
            <a:r>
              <a:rPr lang="fr-FR" dirty="0" smtClean="0"/>
              <a:t/>
            </a:r>
            <a:br>
              <a:rPr lang="fr-FR" dirty="0" smtClean="0"/>
            </a:br>
            <a:r>
              <a:rPr lang="fr-FR" dirty="0" smtClean="0"/>
              <a:t>Questions ?</a:t>
            </a:r>
            <a:endParaRPr lang="fr-FR" dirty="0"/>
          </a:p>
        </p:txBody>
      </p:sp>
      <p:sp>
        <p:nvSpPr>
          <p:cNvPr id="5" name="Espace réservé du pied de page 6">
            <a:extLst>
              <a:ext uri="{FF2B5EF4-FFF2-40B4-BE49-F238E27FC236}">
                <a16:creationId xmlns:a16="http://schemas.microsoft.com/office/drawing/2014/main" id="{58D2D2E4-32B7-472C-B25E-7B1B89330F98}"/>
              </a:ext>
            </a:extLst>
          </p:cNvPr>
          <p:cNvSpPr>
            <a:spLocks noGrp="1"/>
          </p:cNvSpPr>
          <p:nvPr>
            <p:ph type="ftr" sz="quarter" idx="4294967295"/>
          </p:nvPr>
        </p:nvSpPr>
        <p:spPr>
          <a:xfrm>
            <a:off x="251520" y="4659982"/>
            <a:ext cx="3086100" cy="211622"/>
          </a:xfrm>
          <a:prstGeom prst="rect">
            <a:avLst/>
          </a:prstGeom>
        </p:spPr>
        <p:txBody>
          <a:bodyPr/>
          <a:lstStyle/>
          <a:p>
            <a:r>
              <a:rPr lang="fr-FR" sz="700" dirty="0">
                <a:solidFill>
                  <a:schemeClr val="bg1"/>
                </a:solidFill>
              </a:rPr>
              <a:t>ENVIRE meeting Wroclaw 2025</a:t>
            </a:r>
          </a:p>
        </p:txBody>
      </p:sp>
    </p:spTree>
    <p:extLst>
      <p:ext uri="{BB962C8B-B14F-4D97-AF65-F5344CB8AC3E}">
        <p14:creationId xmlns:p14="http://schemas.microsoft.com/office/powerpoint/2010/main" val="34469719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PÉRATEURS">
  <a:themeElements>
    <a:clrScheme name="ANSES">
      <a:dk1>
        <a:srgbClr val="000000"/>
      </a:dk1>
      <a:lt1>
        <a:srgbClr val="FFFFFF"/>
      </a:lt1>
      <a:dk2>
        <a:srgbClr val="FF9940"/>
      </a:dk2>
      <a:lt2>
        <a:srgbClr val="5770BE"/>
      </a:lt2>
      <a:accent1>
        <a:srgbClr val="FFE800"/>
      </a:accent1>
      <a:accent2>
        <a:srgbClr val="00AC8C"/>
      </a:accent2>
      <a:accent3>
        <a:srgbClr val="E1000F"/>
      </a:accent3>
      <a:accent4>
        <a:srgbClr val="FF9940"/>
      </a:accent4>
      <a:accent5>
        <a:srgbClr val="5770BE"/>
      </a:accent5>
      <a:accent6>
        <a:srgbClr val="FFE800"/>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D54A084C8F2B4CA8686A7FE6FEC766" ma:contentTypeVersion="3" ma:contentTypeDescription="Crée un document." ma:contentTypeScope="" ma:versionID="8b32da4b91c97cb35bdb20eea6372da2">
  <xsd:schema xmlns:xsd="http://www.w3.org/2001/XMLSchema" xmlns:xs="http://www.w3.org/2001/XMLSchema" xmlns:p="http://schemas.microsoft.com/office/2006/metadata/properties" xmlns:ns1="http://schemas.microsoft.com/sharepoint/v3" xmlns:ns2="764a75d7-b33f-4a9f-acbd-b0607662a84d" targetNamespace="http://schemas.microsoft.com/office/2006/metadata/properties" ma:root="true" ma:fieldsID="baa7a559f12054f6179d6fa0128cc081" ns1:_="" ns2:_="">
    <xsd:import namespace="http://schemas.microsoft.com/sharepoint/v3"/>
    <xsd:import namespace="764a75d7-b33f-4a9f-acbd-b0607662a84d"/>
    <xsd:element name="properties">
      <xsd:complexType>
        <xsd:sequence>
          <xsd:element name="documentManagement">
            <xsd:complexType>
              <xsd:all>
                <xsd:element ref="ns1:PublishingStartDate" minOccurs="0"/>
                <xsd:element ref="ns1:PublishingExpirationDate"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64a75d7-b33f-4a9f-acbd-b0607662a84d"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45952003-BABE-423F-A734-CAABEB3702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64a75d7-b33f-4a9f-acbd-b0607662a8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35014B-76D7-404F-A34E-09D134117695}">
  <ds:schemaRefs>
    <ds:schemaRef ds:uri="http://schemas.microsoft.com/sharepoint/v3/contenttype/forms"/>
  </ds:schemaRefs>
</ds:datastoreItem>
</file>

<file path=customXml/itemProps3.xml><?xml version="1.0" encoding="utf-8"?>
<ds:datastoreItem xmlns:ds="http://schemas.openxmlformats.org/officeDocument/2006/customXml" ds:itemID="{DC95FFB1-59D7-49A1-AFDD-C527B4A1D76C}">
  <ds:schemaRefs>
    <ds:schemaRef ds:uri="http://schemas.microsoft.com/office/2006/documentManagement/types"/>
    <ds:schemaRef ds:uri="http://www.w3.org/XML/1998/namespace"/>
    <ds:schemaRef ds:uri="http://schemas.openxmlformats.org/package/2006/metadata/core-properties"/>
    <ds:schemaRef ds:uri="http://purl.org/dc/dcmitype/"/>
    <ds:schemaRef ds:uri="http://purl.org/dc/elements/1.1/"/>
    <ds:schemaRef ds:uri="764a75d7-b33f-4a9f-acbd-b0607662a84d"/>
    <ds:schemaRef ds:uri="http://schemas.microsoft.com/office/2006/metadata/properties"/>
    <ds:schemaRef ds:uri="http://schemas.microsoft.com/office/infopath/2007/PartnerControls"/>
    <ds:schemaRef ds:uri="http://schemas.microsoft.com/sharepoint/v3"/>
    <ds:schemaRef ds:uri="http://purl.org/dc/terms/"/>
  </ds:schemaRefs>
</ds:datastoreItem>
</file>

<file path=docProps/app.xml><?xml version="1.0" encoding="utf-8"?>
<Properties xmlns="http://schemas.openxmlformats.org/officeDocument/2006/extended-properties" xmlns:vt="http://schemas.openxmlformats.org/officeDocument/2006/docPropsVTypes">
  <Template>TEMPLATE_OPÉRATEURS_ETAT</Template>
  <TotalTime>16072</TotalTime>
  <Words>559</Words>
  <Application>Microsoft Office PowerPoint</Application>
  <PresentationFormat>Affichage à l'écran (16:9)</PresentationFormat>
  <Paragraphs>150</Paragraphs>
  <Slides>14</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Calibri</vt:lpstr>
      <vt:lpstr>Cambria Math</vt:lpstr>
      <vt:lpstr>Marianne</vt:lpstr>
      <vt:lpstr>Wingdings</vt:lpstr>
      <vt:lpstr>OPÉRATEURS</vt:lpstr>
      <vt:lpstr>Présentation PowerPoint</vt:lpstr>
      <vt:lpstr>WP 3 - Recapitulation</vt:lpstr>
      <vt:lpstr>Objective: Build a QMRA model </vt:lpstr>
      <vt:lpstr>Model implementation</vt:lpstr>
      <vt:lpstr>How it works ?</vt:lpstr>
      <vt:lpstr>What is modelled ?</vt:lpstr>
      <vt:lpstr>How to run the model?</vt:lpstr>
      <vt:lpstr>How to run the model?</vt:lpstr>
      <vt:lpstr>Why do QMRA ?</vt:lpstr>
      <vt:lpstr>Use of QMRA models</vt:lpstr>
      <vt:lpstr>WORK IN PROGRESS - Risk characterization</vt:lpstr>
      <vt:lpstr>Communications</vt:lpstr>
      <vt:lpstr>Présentation PowerPoint</vt:lpstr>
      <vt:lpstr>Thank you !  Questions ?</vt:lpstr>
    </vt:vector>
  </TitlesOfParts>
  <Manager>Client</Manager>
  <Company>Client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Client</dc:subject>
  <dc:creator>Quentin Gaildry</dc:creator>
  <cp:lastModifiedBy>BASAK Subhasish</cp:lastModifiedBy>
  <cp:revision>912</cp:revision>
  <dcterms:created xsi:type="dcterms:W3CDTF">2020-11-30T09:05:25Z</dcterms:created>
  <dcterms:modified xsi:type="dcterms:W3CDTF">2025-05-06T07:57:17Z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0x010100A2D54A084C8F2B4CA8686A7FE6FEC766</vt:lpwstr>
  </property>
</Properties>
</file>