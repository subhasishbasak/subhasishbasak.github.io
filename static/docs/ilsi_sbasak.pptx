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80" r:id="rId4"/>
    <p:sldId id="276" r:id="rId5"/>
    <p:sldId id="279" r:id="rId6"/>
    <p:sldId id="284" r:id="rId7"/>
    <p:sldId id="281" r:id="rId8"/>
    <p:sldId id="285" r:id="rId9"/>
    <p:sldId id="282" r:id="rId10"/>
    <p:sldId id="278" r:id="rId11"/>
    <p:sldId id="273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FF"/>
    <a:srgbClr val="3C3C64"/>
    <a:srgbClr val="E6E6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90" d="100"/>
          <a:sy n="90" d="100"/>
        </p:scale>
        <p:origin x="135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FCE72-B38F-447B-9C80-EEE76D258505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77B5B-37D9-40BD-AD3E-CABEA765D11A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4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30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187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7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54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23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04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774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774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93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686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601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7E8B-B4F2-4731-AEA6-532BAC3071EA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819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F75A-5EAB-4F5C-A89C-AA275552D76C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5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DE04E-CF5C-406A-982A-40CE1BED8155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58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A3C7-8B5A-4AB6-BA12-9B8622BB4C2D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311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CE701-8A95-4843-97EA-0AAFEF091AA1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32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7082-C92C-4A1E-ABCF-414C1AB19F49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787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CBC-EF22-4DA3-9C94-E1D01CC27742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851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7AAD-8068-4ABB-9C25-C01F2C91C761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535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DCB9-52BB-4097-BBE2-FA0EC96C0FF4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909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5B92-B14F-4AFE-AE43-AC73F6E97BF5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630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5465-A130-4E66-B6D3-FA4AAB741E64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04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BF02E-73C3-4D64-B06F-F55064864EBE}" type="datetime1">
              <a:rPr lang="fr-FR" smtClean="0"/>
              <a:t>08/10/2025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31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4.jpe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4.jpe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6331" y="651932"/>
            <a:ext cx="11590867" cy="568113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Application, Challenges, and Perspectives </a:t>
            </a:r>
            <a:br>
              <a:rPr lang="en-US" sz="36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in farm-to-fork QMRA modelling: </a:t>
            </a:r>
            <a:br>
              <a:rPr lang="en-US" sz="36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NAMs for foodborne risk management and policy making</a:t>
            </a:r>
            <a:br>
              <a:rPr lang="fr-FR" sz="4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br>
              <a:rPr lang="fr-FR" sz="4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fr-FR" sz="36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Subhasish BASAK</a:t>
            </a:r>
            <a:br>
              <a:rPr lang="fr-FR" sz="3600" baseline="300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INRAE Bordeaux-Aquitaine</a:t>
            </a:r>
            <a:r>
              <a:rPr lang="fr-FR" sz="18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, France</a:t>
            </a:r>
            <a:br>
              <a:rPr lang="fr-FR" sz="27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br>
              <a:rPr lang="fr-FR" sz="31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fr-FR" sz="31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33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33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33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33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33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Scientists</a:t>
            </a:r>
            <a:r>
              <a:rPr lang="fr-FR" sz="33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Event</a:t>
            </a:r>
            <a:br>
              <a:rPr lang="fr-FR" sz="33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fr-FR" sz="24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October</a:t>
            </a:r>
            <a:r>
              <a:rPr lang="fr-FR" sz="2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10, 2025 </a:t>
            </a:r>
            <a:br>
              <a:rPr lang="fr-FR" sz="2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</a:br>
            <a:r>
              <a:rPr lang="fr-FR" sz="2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Prague, </a:t>
            </a:r>
            <a:r>
              <a:rPr lang="fr-FR" sz="24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Czech</a:t>
            </a:r>
            <a:r>
              <a:rPr lang="fr-FR" sz="2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Republic</a:t>
            </a:r>
            <a:br>
              <a:rPr lang="fr-FR" sz="4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br>
              <a:rPr lang="fr-FR" sz="22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endParaRPr lang="fr-FR" sz="2800" dirty="0">
              <a:solidFill>
                <a:schemeClr val="bg1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12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3" y="6510868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626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What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is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QMRA ?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2</a:t>
            </a:fld>
            <a:endParaRPr lang="fr-FR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1B98923-FC51-410A-8E8D-CE0543D4A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79036"/>
            <a:ext cx="978274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QMRA </a:t>
            </a:r>
            <a:r>
              <a:rPr lang="fr-FR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: Quantitative </a:t>
            </a:r>
            <a:r>
              <a:rPr lang="fr-FR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Microbial</a:t>
            </a:r>
            <a:r>
              <a:rPr lang="fr-FR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Risk </a:t>
            </a:r>
            <a:r>
              <a:rPr lang="fr-FR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endParaRPr lang="fr-FR" altLang="fr-FR" sz="2800" b="1" dirty="0">
              <a:solidFill>
                <a:srgbClr val="FF0000"/>
              </a:solidFill>
              <a:latin typeface="Adobe Devanagari" panose="02040503050201020203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800" b="1" i="0" u="none" strike="noStrike" cap="none" normalizeH="0" baseline="0" dirty="0" err="1">
                <a:ln>
                  <a:noFill/>
                </a:ln>
                <a:solidFill>
                  <a:srgbClr val="3F3FFF"/>
                </a:solidFill>
                <a:effectLst/>
                <a:latin typeface="Adobe Devanagari" panose="02040503050201020203"/>
              </a:rPr>
              <a:t>Mathematical</a:t>
            </a: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rgbClr val="3F3FFF"/>
                </a:solidFill>
                <a:effectLst/>
                <a:latin typeface="Adobe Devanagari" panose="02040503050201020203"/>
              </a:rPr>
              <a:t> model 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: production to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consumption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of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food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item</a:t>
            </a:r>
            <a:b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</a:br>
            <a:endParaRPr lang="fr-FR" altLang="fr-FR" sz="2800" dirty="0">
              <a:latin typeface="Adobe Devanagari" panose="02040503050201020203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dobe Devanagari" panose="02040503050201020203"/>
              </a:rPr>
              <a:t>Example: </a:t>
            </a:r>
            <a:r>
              <a:rPr kumimoji="0" lang="fr-FR" altLang="fr-FR" sz="2800" i="0" u="none" strike="noStrike" cap="none" normalizeH="0" baseline="0" dirty="0">
                <a:ln>
                  <a:noFill/>
                </a:ln>
                <a:effectLst/>
                <a:latin typeface="Adobe Devanagari" panose="02040503050201020203"/>
              </a:rPr>
              <a:t>QMRA</a:t>
            </a: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rgbClr val="3F3FFF"/>
                </a:solidFill>
                <a:effectLst/>
                <a:latin typeface="Adobe Devanagari" panose="02040503050201020203"/>
              </a:rPr>
              <a:t> 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for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raw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milk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cheese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3F3FFF"/>
                </a:solidFill>
                <a:effectLst/>
                <a:latin typeface="Adobe Devanagari" panose="02040503050201020203"/>
              </a:rPr>
              <a:t>(Basak et al., 2024)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25FBD5A-D7E2-4145-81DF-3D5497AE32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375" y="3834165"/>
            <a:ext cx="660736" cy="6607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C468208-F664-4F5F-835E-8D0DA638D3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452" y="3612715"/>
            <a:ext cx="560299" cy="56029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F02E413-7881-42B7-8CF0-79EEBBDCD7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633" y="3561542"/>
            <a:ext cx="660736" cy="66073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2B4E6C1-AA72-478A-9913-854FE4364B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17" y="3587823"/>
            <a:ext cx="965728" cy="96572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276A7F2-894C-4B21-9F2D-8F4766997C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42" y="4347673"/>
            <a:ext cx="499224" cy="499224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C15907F8-9131-4D15-ADFE-EFDB03F828BC}"/>
              </a:ext>
            </a:extLst>
          </p:cNvPr>
          <p:cNvGrpSpPr/>
          <p:nvPr/>
        </p:nvGrpSpPr>
        <p:grpSpPr>
          <a:xfrm>
            <a:off x="6004098" y="4326318"/>
            <a:ext cx="849659" cy="520579"/>
            <a:chOff x="6135934" y="4849276"/>
            <a:chExt cx="849659" cy="520579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4F31CE55-A858-493B-9747-788220B7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5934" y="4870631"/>
              <a:ext cx="499224" cy="499224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96CE8F96-FFBD-41E8-9625-154C4119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369" y="4849276"/>
              <a:ext cx="499224" cy="499224"/>
            </a:xfrm>
            <a:prstGeom prst="rect">
              <a:avLst/>
            </a:prstGeom>
          </p:spPr>
        </p:pic>
      </p:grpSp>
      <p:pic>
        <p:nvPicPr>
          <p:cNvPr id="34" name="Image 33">
            <a:extLst>
              <a:ext uri="{FF2B5EF4-FFF2-40B4-BE49-F238E27FC236}">
                <a16:creationId xmlns:a16="http://schemas.microsoft.com/office/drawing/2014/main" id="{6480522F-8C96-4950-940A-E4BB650046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566" y="3891386"/>
            <a:ext cx="499225" cy="500024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70C55B9D-FFE2-4796-8674-943EA8CD879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300" y="3559714"/>
            <a:ext cx="660735" cy="660735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1168D0E2-7331-49BD-8C17-D0203BADA1AC}"/>
              </a:ext>
            </a:extLst>
          </p:cNvPr>
          <p:cNvGrpSpPr/>
          <p:nvPr/>
        </p:nvGrpSpPr>
        <p:grpSpPr>
          <a:xfrm>
            <a:off x="2866845" y="4258012"/>
            <a:ext cx="983378" cy="508514"/>
            <a:chOff x="2033519" y="4300657"/>
            <a:chExt cx="983378" cy="508514"/>
          </a:xfrm>
        </p:grpSpPr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ABE034AB-9D40-44DB-976D-DB8A2C35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519" y="4300657"/>
              <a:ext cx="508514" cy="508514"/>
            </a:xfrm>
            <a:prstGeom prst="rect">
              <a:avLst/>
            </a:prstGeom>
          </p:spPr>
        </p:pic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D64B1000-F8B5-412E-B954-EE3FC3D33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7673" y="4309947"/>
              <a:ext cx="499224" cy="499224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7ACF0843-A16A-4661-B095-3DC45FCB0E7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53" y="3609243"/>
            <a:ext cx="660735" cy="66073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A70D3DEE-1CF7-446F-8FA9-E8D739F1FB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621" y="3892865"/>
            <a:ext cx="560299" cy="560299"/>
          </a:xfrm>
          <a:prstGeom prst="rect">
            <a:avLst/>
          </a:prstGeom>
        </p:spPr>
      </p:pic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20E4D19-D8C3-4B3F-A902-4F99F087E422}"/>
              </a:ext>
            </a:extLst>
          </p:cNvPr>
          <p:cNvSpPr/>
          <p:nvPr/>
        </p:nvSpPr>
        <p:spPr>
          <a:xfrm>
            <a:off x="1714844" y="3431708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C971A59-F124-454A-A578-A75229C551E8}"/>
              </a:ext>
            </a:extLst>
          </p:cNvPr>
          <p:cNvSpPr/>
          <p:nvPr/>
        </p:nvSpPr>
        <p:spPr>
          <a:xfrm>
            <a:off x="4706603" y="3429000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F0267CD6-9A69-41D0-8D69-294D3C5573BD}"/>
              </a:ext>
            </a:extLst>
          </p:cNvPr>
          <p:cNvSpPr/>
          <p:nvPr/>
        </p:nvSpPr>
        <p:spPr>
          <a:xfrm>
            <a:off x="7739282" y="3429000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43EC283B-52FE-4784-8959-22053F1AD869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 flipV="1">
            <a:off x="4150329" y="4192524"/>
            <a:ext cx="556274" cy="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30749E1-7456-4282-961D-6F69CDC3FB07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7142088" y="4192524"/>
            <a:ext cx="597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4F2ADBB9-CED4-4319-B785-CA850B43C5D7}"/>
              </a:ext>
            </a:extLst>
          </p:cNvPr>
          <p:cNvSpPr txBox="1"/>
          <p:nvPr/>
        </p:nvSpPr>
        <p:spPr>
          <a:xfrm>
            <a:off x="1560830" y="5050352"/>
            <a:ext cx="273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obe Devanagari" panose="02040503050201020203"/>
              </a:rPr>
              <a:t>Milk contamination in </a:t>
            </a:r>
            <a:r>
              <a:rPr lang="fr-FR" dirty="0" err="1">
                <a:latin typeface="Adobe Devanagari" panose="02040503050201020203"/>
              </a:rPr>
              <a:t>farm</a:t>
            </a:r>
            <a:endParaRPr lang="fr-FR" dirty="0">
              <a:latin typeface="Adobe Devanagari" panose="02040503050201020203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59E2620-41FD-4AE5-B246-E9CDCEF22029}"/>
              </a:ext>
            </a:extLst>
          </p:cNvPr>
          <p:cNvSpPr txBox="1"/>
          <p:nvPr/>
        </p:nvSpPr>
        <p:spPr>
          <a:xfrm>
            <a:off x="4407425" y="5039027"/>
            <a:ext cx="319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Adobe Devanagari" panose="02040503050201020203"/>
              </a:rPr>
              <a:t>Bacteria</a:t>
            </a:r>
            <a:r>
              <a:rPr lang="fr-FR" dirty="0">
                <a:latin typeface="Adobe Devanagari" panose="02040503050201020203"/>
              </a:rPr>
              <a:t> </a:t>
            </a:r>
            <a:r>
              <a:rPr lang="fr-FR" dirty="0" err="1">
                <a:latin typeface="Adobe Devanagari" panose="02040503050201020203"/>
              </a:rPr>
              <a:t>evolution</a:t>
            </a:r>
            <a:r>
              <a:rPr lang="fr-FR" dirty="0">
                <a:latin typeface="Adobe Devanagari" panose="02040503050201020203"/>
              </a:rPr>
              <a:t> in production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2A3A041-D3D8-4346-B9F0-E110FCD2FA10}"/>
              </a:ext>
            </a:extLst>
          </p:cNvPr>
          <p:cNvSpPr txBox="1"/>
          <p:nvPr/>
        </p:nvSpPr>
        <p:spPr>
          <a:xfrm>
            <a:off x="7749006" y="5046038"/>
            <a:ext cx="251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Adobe Devanagari" panose="02040503050201020203"/>
              </a:rPr>
              <a:t>Consumption</a:t>
            </a:r>
            <a:r>
              <a:rPr lang="fr-FR" dirty="0">
                <a:latin typeface="Adobe Devanagari" panose="02040503050201020203"/>
              </a:rPr>
              <a:t> and </a:t>
            </a:r>
            <a:r>
              <a:rPr lang="fr-FR" dirty="0" err="1">
                <a:latin typeface="Adobe Devanagari" panose="02040503050201020203"/>
              </a:rPr>
              <a:t>illness</a:t>
            </a:r>
            <a:endParaRPr lang="fr-FR" dirty="0">
              <a:latin typeface="Adobe Devanagari" panose="02040503050201020203"/>
            </a:endParaRP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A344794A-EA3A-4F80-9C25-346D5AF3A3EC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5587566" y="4597285"/>
            <a:ext cx="416532" cy="0"/>
          </a:xfrm>
          <a:prstGeom prst="straightConnector1">
            <a:avLst/>
          </a:prstGeom>
          <a:ln>
            <a:solidFill>
              <a:srgbClr val="3C3C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A8F66407-A06E-4CA8-839E-DC043B481AEB}"/>
              </a:ext>
            </a:extLst>
          </p:cNvPr>
          <p:cNvSpPr txBox="1"/>
          <p:nvPr/>
        </p:nvSpPr>
        <p:spPr>
          <a:xfrm>
            <a:off x="838200" y="5610663"/>
            <a:ext cx="10090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FF0000"/>
                </a:solidFill>
                <a:latin typeface="Adobe Devanagari" panose="02040503050201020203"/>
              </a:rPr>
              <a:t>Goal</a:t>
            </a:r>
            <a:r>
              <a:rPr lang="fr-FR" sz="2800" dirty="0">
                <a:latin typeface="Adobe Devanagari" panose="02040503050201020203"/>
              </a:rPr>
              <a:t>: </a:t>
            </a:r>
            <a:r>
              <a:rPr lang="fr-FR" sz="2800" b="1" dirty="0" err="1">
                <a:latin typeface="Adobe Devanagari" panose="02040503050201020203"/>
              </a:rPr>
              <a:t>Reduce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risk</a:t>
            </a:r>
            <a:r>
              <a:rPr lang="fr-FR" sz="2800" b="1" dirty="0">
                <a:latin typeface="Adobe Devanagari" panose="02040503050201020203"/>
              </a:rPr>
              <a:t> of the </a:t>
            </a:r>
            <a:r>
              <a:rPr lang="fr-FR" sz="2800" b="1" dirty="0" err="1">
                <a:latin typeface="Adobe Devanagari" panose="02040503050201020203"/>
              </a:rPr>
              <a:t>foodborne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illness</a:t>
            </a:r>
            <a:r>
              <a:rPr lang="fr-FR" sz="2800" b="1" dirty="0">
                <a:latin typeface="Adobe Devanagari" panose="02040503050201020203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28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9" grpId="0"/>
      <p:bldP spid="50" grpId="0"/>
      <p:bldP spid="51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24946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626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Risk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reduction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3</a:t>
            </a:fld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25FBD5A-D7E2-4145-81DF-3D5497AE32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375" y="3834165"/>
            <a:ext cx="660736" cy="6607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C468208-F664-4F5F-835E-8D0DA638D3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452" y="3612715"/>
            <a:ext cx="560299" cy="56029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F02E413-7881-42B7-8CF0-79EEBBDCD7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633" y="3561542"/>
            <a:ext cx="660736" cy="66073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2B4E6C1-AA72-478A-9913-854FE4364B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17" y="3587823"/>
            <a:ext cx="965728" cy="96572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276A7F2-894C-4B21-9F2D-8F4766997C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42" y="4347673"/>
            <a:ext cx="499224" cy="499224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C15907F8-9131-4D15-ADFE-EFDB03F828BC}"/>
              </a:ext>
            </a:extLst>
          </p:cNvPr>
          <p:cNvGrpSpPr/>
          <p:nvPr/>
        </p:nvGrpSpPr>
        <p:grpSpPr>
          <a:xfrm>
            <a:off x="6004098" y="4326318"/>
            <a:ext cx="849659" cy="520579"/>
            <a:chOff x="6135934" y="4849276"/>
            <a:chExt cx="849659" cy="520579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4F31CE55-A858-493B-9747-788220B7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5934" y="4870631"/>
              <a:ext cx="499224" cy="499224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96CE8F96-FFBD-41E8-9625-154C4119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369" y="4849276"/>
              <a:ext cx="499224" cy="499224"/>
            </a:xfrm>
            <a:prstGeom prst="rect">
              <a:avLst/>
            </a:prstGeom>
          </p:spPr>
        </p:pic>
      </p:grpSp>
      <p:pic>
        <p:nvPicPr>
          <p:cNvPr id="34" name="Image 33">
            <a:extLst>
              <a:ext uri="{FF2B5EF4-FFF2-40B4-BE49-F238E27FC236}">
                <a16:creationId xmlns:a16="http://schemas.microsoft.com/office/drawing/2014/main" id="{6480522F-8C96-4950-940A-E4BB650046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566" y="3891386"/>
            <a:ext cx="499225" cy="500024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70C55B9D-FFE2-4796-8674-943EA8CD879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300" y="3559714"/>
            <a:ext cx="660735" cy="660735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1168D0E2-7331-49BD-8C17-D0203BADA1AC}"/>
              </a:ext>
            </a:extLst>
          </p:cNvPr>
          <p:cNvGrpSpPr/>
          <p:nvPr/>
        </p:nvGrpSpPr>
        <p:grpSpPr>
          <a:xfrm>
            <a:off x="2866845" y="4258012"/>
            <a:ext cx="983378" cy="508514"/>
            <a:chOff x="2033519" y="4300657"/>
            <a:chExt cx="983378" cy="508514"/>
          </a:xfrm>
        </p:grpSpPr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ABE034AB-9D40-44DB-976D-DB8A2C35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519" y="4300657"/>
              <a:ext cx="508514" cy="508514"/>
            </a:xfrm>
            <a:prstGeom prst="rect">
              <a:avLst/>
            </a:prstGeom>
          </p:spPr>
        </p:pic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D64B1000-F8B5-412E-B954-EE3FC3D33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7673" y="4309947"/>
              <a:ext cx="499224" cy="499224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7ACF0843-A16A-4661-B095-3DC45FCB0E7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53" y="3609243"/>
            <a:ext cx="660735" cy="66073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A70D3DEE-1CF7-446F-8FA9-E8D739F1FB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621" y="3892865"/>
            <a:ext cx="560299" cy="560299"/>
          </a:xfrm>
          <a:prstGeom prst="rect">
            <a:avLst/>
          </a:prstGeom>
        </p:spPr>
      </p:pic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20E4D19-D8C3-4B3F-A902-4F99F087E422}"/>
              </a:ext>
            </a:extLst>
          </p:cNvPr>
          <p:cNvSpPr/>
          <p:nvPr/>
        </p:nvSpPr>
        <p:spPr>
          <a:xfrm>
            <a:off x="1714844" y="3431708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C971A59-F124-454A-A578-A75229C551E8}"/>
              </a:ext>
            </a:extLst>
          </p:cNvPr>
          <p:cNvSpPr/>
          <p:nvPr/>
        </p:nvSpPr>
        <p:spPr>
          <a:xfrm>
            <a:off x="4706603" y="3429000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F0267CD6-9A69-41D0-8D69-294D3C5573BD}"/>
              </a:ext>
            </a:extLst>
          </p:cNvPr>
          <p:cNvSpPr/>
          <p:nvPr/>
        </p:nvSpPr>
        <p:spPr>
          <a:xfrm>
            <a:off x="7739282" y="3429000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43EC283B-52FE-4784-8959-22053F1AD869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 flipV="1">
            <a:off x="4150329" y="4192524"/>
            <a:ext cx="556274" cy="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30749E1-7456-4282-961D-6F69CDC3FB07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7142088" y="4192524"/>
            <a:ext cx="597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A344794A-EA3A-4F80-9C25-346D5AF3A3EC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5587566" y="4597285"/>
            <a:ext cx="416532" cy="0"/>
          </a:xfrm>
          <a:prstGeom prst="straightConnector1">
            <a:avLst/>
          </a:prstGeom>
          <a:ln>
            <a:solidFill>
              <a:srgbClr val="3C3C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AE10F9C-BA1A-44CD-B226-8C4F673970FF}"/>
              </a:ext>
            </a:extLst>
          </p:cNvPr>
          <p:cNvSpPr txBox="1"/>
          <p:nvPr/>
        </p:nvSpPr>
        <p:spPr>
          <a:xfrm>
            <a:off x="838200" y="1411550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3F3FFF"/>
                </a:solidFill>
                <a:latin typeface="Adobe Devanagari" panose="02040503050201020203"/>
              </a:rPr>
              <a:t>Intervention </a:t>
            </a:r>
            <a:r>
              <a:rPr lang="fr-FR" sz="2800" b="1" dirty="0" err="1">
                <a:solidFill>
                  <a:srgbClr val="3F3FFF"/>
                </a:solidFill>
                <a:latin typeface="Adobe Devanagari" panose="02040503050201020203"/>
              </a:rPr>
              <a:t>strategies</a:t>
            </a:r>
            <a:r>
              <a:rPr lang="fr-FR" sz="2800" dirty="0">
                <a:solidFill>
                  <a:srgbClr val="3F3FFF"/>
                </a:solidFill>
                <a:latin typeface="Adobe Devanagari" panose="02040503050201020203"/>
              </a:rPr>
              <a:t> </a:t>
            </a:r>
            <a:r>
              <a:rPr lang="fr-FR" sz="2800" b="1" dirty="0">
                <a:solidFill>
                  <a:srgbClr val="3F3FFF"/>
                </a:solidFill>
                <a:latin typeface="Adobe Devanagari" panose="02040503050201020203"/>
              </a:rPr>
              <a:t>in practice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FC4226-B737-464D-9CB1-6018305AE7D9}"/>
              </a:ext>
            </a:extLst>
          </p:cNvPr>
          <p:cNvSpPr txBox="1"/>
          <p:nvPr/>
        </p:nvSpPr>
        <p:spPr>
          <a:xfrm>
            <a:off x="2842355" y="2431658"/>
            <a:ext cx="2953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Intervention 1.</a:t>
            </a:r>
          </a:p>
          <a:p>
            <a:pPr algn="ctr"/>
            <a:r>
              <a:rPr lang="fr-FR" sz="2400" b="1" dirty="0">
                <a:solidFill>
                  <a:schemeClr val="accent2"/>
                </a:solidFill>
              </a:rPr>
              <a:t>Test </a:t>
            </a:r>
            <a:r>
              <a:rPr lang="fr-FR" sz="2400" b="1" dirty="0" err="1">
                <a:solidFill>
                  <a:schemeClr val="accent2"/>
                </a:solidFill>
              </a:rPr>
              <a:t>milk</a:t>
            </a:r>
            <a:r>
              <a:rPr lang="fr-FR" sz="2400" b="1" dirty="0">
                <a:solidFill>
                  <a:schemeClr val="accent2"/>
                </a:solidFill>
              </a:rPr>
              <a:t> tanks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53998060-6DBF-4265-96EA-F3040BBEEB53}"/>
              </a:ext>
            </a:extLst>
          </p:cNvPr>
          <p:cNvSpPr txBox="1"/>
          <p:nvPr/>
        </p:nvSpPr>
        <p:spPr>
          <a:xfrm>
            <a:off x="5993173" y="2412067"/>
            <a:ext cx="3254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Intervention 2.</a:t>
            </a:r>
          </a:p>
          <a:p>
            <a:pPr algn="ctr"/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Test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cheese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batches</a:t>
            </a: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7F46E3-0596-4455-9322-89B552F1D63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223" y="5159809"/>
            <a:ext cx="515957" cy="515957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B82F6C01-AACD-4094-9322-F3841C1E017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678" y="5098695"/>
            <a:ext cx="660735" cy="66073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63B4561-9815-4FFC-B5B6-2E28DF0CE8E9}"/>
              </a:ext>
            </a:extLst>
          </p:cNvPr>
          <p:cNvSpPr txBox="1"/>
          <p:nvPr/>
        </p:nvSpPr>
        <p:spPr>
          <a:xfrm>
            <a:off x="2547208" y="5250293"/>
            <a:ext cx="738144" cy="370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Day 1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A921FB25-D50F-41E1-BD13-B42FF77E0815}"/>
              </a:ext>
            </a:extLst>
          </p:cNvPr>
          <p:cNvGrpSpPr/>
          <p:nvPr/>
        </p:nvGrpSpPr>
        <p:grpSpPr>
          <a:xfrm>
            <a:off x="4428466" y="5189825"/>
            <a:ext cx="887409" cy="503238"/>
            <a:chOff x="4428466" y="5189825"/>
            <a:chExt cx="887409" cy="503238"/>
          </a:xfrm>
        </p:grpSpPr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24D6A338-61D0-4B2E-8B1E-920002428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8466" y="5193839"/>
              <a:ext cx="499224" cy="499224"/>
            </a:xfrm>
            <a:prstGeom prst="rect">
              <a:avLst/>
            </a:prstGeom>
          </p:spPr>
        </p:pic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0A385B2A-F11C-40B6-857A-E0D9B911E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6651" y="5189825"/>
              <a:ext cx="499224" cy="499224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16780E45-B8D5-47AE-AE2D-A3332A088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786" y="5189825"/>
              <a:ext cx="499224" cy="499224"/>
            </a:xfrm>
            <a:prstGeom prst="rect">
              <a:avLst/>
            </a:prstGeom>
          </p:spPr>
        </p:pic>
      </p:grpSp>
      <p:pic>
        <p:nvPicPr>
          <p:cNvPr id="49" name="Image 48">
            <a:extLst>
              <a:ext uri="{FF2B5EF4-FFF2-40B4-BE49-F238E27FC236}">
                <a16:creationId xmlns:a16="http://schemas.microsoft.com/office/drawing/2014/main" id="{3A821E5A-5B47-4919-8E4D-6AA6BACC580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222" y="5776448"/>
            <a:ext cx="515957" cy="51595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A4F9A694-6338-4956-A4A4-7E3F22241EA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678" y="5736879"/>
            <a:ext cx="660735" cy="660735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2A3B7A28-75A6-409D-A8C5-38DDF06DB2BB}"/>
              </a:ext>
            </a:extLst>
          </p:cNvPr>
          <p:cNvSpPr txBox="1"/>
          <p:nvPr/>
        </p:nvSpPr>
        <p:spPr>
          <a:xfrm>
            <a:off x="2547208" y="5878232"/>
            <a:ext cx="713980" cy="370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Day 2</a:t>
            </a: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33D6ACC9-A0C0-4BAB-84BB-0444E953C8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786" y="5818413"/>
            <a:ext cx="499224" cy="49922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95E629D-3195-4B16-A78D-4FCA4BD1FD5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625" y="5843844"/>
            <a:ext cx="434711" cy="434711"/>
          </a:xfrm>
          <a:prstGeom prst="rect">
            <a:avLst/>
          </a:prstGeom>
        </p:spPr>
      </p:pic>
      <p:sp>
        <p:nvSpPr>
          <p:cNvPr id="55" name="ZoneTexte 54">
            <a:extLst>
              <a:ext uri="{FF2B5EF4-FFF2-40B4-BE49-F238E27FC236}">
                <a16:creationId xmlns:a16="http://schemas.microsoft.com/office/drawing/2014/main" id="{57C6AA7B-A259-4251-BA22-1A85A3A05F26}"/>
              </a:ext>
            </a:extLst>
          </p:cNvPr>
          <p:cNvSpPr txBox="1"/>
          <p:nvPr/>
        </p:nvSpPr>
        <p:spPr>
          <a:xfrm>
            <a:off x="6586183" y="5258978"/>
            <a:ext cx="1179006" cy="370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Batch n°1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9CEE145E-84F5-4560-A241-717F21A4035C}"/>
              </a:ext>
            </a:extLst>
          </p:cNvPr>
          <p:cNvSpPr txBox="1"/>
          <p:nvPr/>
        </p:nvSpPr>
        <p:spPr>
          <a:xfrm>
            <a:off x="6586183" y="5897162"/>
            <a:ext cx="1179006" cy="370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Batch n°2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B719E8D0-1080-4AF4-AB4E-07415BA200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197" y="5122653"/>
            <a:ext cx="528046" cy="528046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728A8024-B3E9-48C0-BAB5-DD55C86533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197" y="5738829"/>
            <a:ext cx="560299" cy="560299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56E5A3B6-4D6E-48A2-84AF-9CD691535BC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5105324"/>
            <a:ext cx="515957" cy="515957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3C1D4C9B-0A7A-4525-9B33-A0D8EF27DBC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339" y="5777792"/>
            <a:ext cx="499224" cy="499224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B33F4220-EEAB-4A4F-B160-ABCD57B8A0C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8" y="5721963"/>
            <a:ext cx="515957" cy="515957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513258B4-3696-4A1C-9397-120EA006E69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983" y="5793565"/>
            <a:ext cx="499224" cy="49922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28E2784-CE9C-471D-99F6-77B7FB19C38D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5" b="11162"/>
          <a:stretch/>
        </p:blipFill>
        <p:spPr>
          <a:xfrm>
            <a:off x="9031738" y="5148094"/>
            <a:ext cx="415469" cy="465234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322E755A-77DB-4F49-9F1F-1A0CC2863D7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44" y="5232569"/>
            <a:ext cx="434711" cy="434711"/>
          </a:xfrm>
          <a:prstGeom prst="rect">
            <a:avLst/>
          </a:prstGeom>
        </p:spPr>
      </p:pic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0CA49852-AAA6-4F21-A070-BF1497D4F0AF}"/>
              </a:ext>
            </a:extLst>
          </p:cNvPr>
          <p:cNvSpPr/>
          <p:nvPr/>
        </p:nvSpPr>
        <p:spPr>
          <a:xfrm>
            <a:off x="7620356" y="5669080"/>
            <a:ext cx="729170" cy="766329"/>
          </a:xfrm>
          <a:prstGeom prst="mathMultiply">
            <a:avLst>
              <a:gd name="adj1" fmla="val 1727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Signe de multiplication 67">
            <a:extLst>
              <a:ext uri="{FF2B5EF4-FFF2-40B4-BE49-F238E27FC236}">
                <a16:creationId xmlns:a16="http://schemas.microsoft.com/office/drawing/2014/main" id="{368B4808-E276-4BC0-8EAA-422FDCD67ECA}"/>
              </a:ext>
            </a:extLst>
          </p:cNvPr>
          <p:cNvSpPr/>
          <p:nvPr/>
        </p:nvSpPr>
        <p:spPr>
          <a:xfrm>
            <a:off x="3128021" y="5010931"/>
            <a:ext cx="785717" cy="862717"/>
          </a:xfrm>
          <a:prstGeom prst="mathMultiply">
            <a:avLst>
              <a:gd name="adj1" fmla="val 1727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D82EBC8-9A73-4CFE-8A6C-AD86F5213C6D}"/>
              </a:ext>
            </a:extLst>
          </p:cNvPr>
          <p:cNvSpPr txBox="1"/>
          <p:nvPr/>
        </p:nvSpPr>
        <p:spPr>
          <a:xfrm>
            <a:off x="5174465" y="5942225"/>
            <a:ext cx="875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&lt; 50 CFU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2DB51F8-721C-44CD-A7AD-F28FE98DE85A}"/>
              </a:ext>
            </a:extLst>
          </p:cNvPr>
          <p:cNvSpPr txBox="1"/>
          <p:nvPr/>
        </p:nvSpPr>
        <p:spPr>
          <a:xfrm>
            <a:off x="5161414" y="5278831"/>
            <a:ext cx="875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&gt; 50 CFU</a:t>
            </a:r>
          </a:p>
        </p:txBody>
      </p:sp>
    </p:spTree>
    <p:extLst>
      <p:ext uri="{BB962C8B-B14F-4D97-AF65-F5344CB8AC3E}">
        <p14:creationId xmlns:p14="http://schemas.microsoft.com/office/powerpoint/2010/main" val="321603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4" grpId="0"/>
      <p:bldP spid="4" grpId="0"/>
      <p:bldP spid="52" grpId="0"/>
      <p:bldP spid="55" grpId="0"/>
      <p:bldP spid="56" grpId="0"/>
      <p:bldP spid="19" grpId="0" animBg="1"/>
      <p:bldP spid="68" grpId="0" animBg="1"/>
      <p:bldP spid="8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07191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626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How to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build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QMRA model ?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4</a:t>
            </a:fld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25FBD5A-D7E2-4145-81DF-3D5497AE32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375" y="3834165"/>
            <a:ext cx="660736" cy="6607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C468208-F664-4F5F-835E-8D0DA638D3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452" y="3612715"/>
            <a:ext cx="560299" cy="56029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F02E413-7881-42B7-8CF0-79EEBBDCD7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633" y="3561542"/>
            <a:ext cx="660736" cy="66073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2B4E6C1-AA72-478A-9913-854FE4364B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17" y="3587823"/>
            <a:ext cx="965728" cy="96572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276A7F2-894C-4B21-9F2D-8F4766997C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42" y="4347673"/>
            <a:ext cx="499224" cy="499224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C15907F8-9131-4D15-ADFE-EFDB03F828BC}"/>
              </a:ext>
            </a:extLst>
          </p:cNvPr>
          <p:cNvGrpSpPr/>
          <p:nvPr/>
        </p:nvGrpSpPr>
        <p:grpSpPr>
          <a:xfrm>
            <a:off x="6004098" y="4326318"/>
            <a:ext cx="849659" cy="520579"/>
            <a:chOff x="6135934" y="4849276"/>
            <a:chExt cx="849659" cy="520579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4F31CE55-A858-493B-9747-788220B7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5934" y="4870631"/>
              <a:ext cx="499224" cy="499224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96CE8F96-FFBD-41E8-9625-154C4119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369" y="4849276"/>
              <a:ext cx="499224" cy="499224"/>
            </a:xfrm>
            <a:prstGeom prst="rect">
              <a:avLst/>
            </a:prstGeom>
          </p:spPr>
        </p:pic>
      </p:grpSp>
      <p:pic>
        <p:nvPicPr>
          <p:cNvPr id="34" name="Image 33">
            <a:extLst>
              <a:ext uri="{FF2B5EF4-FFF2-40B4-BE49-F238E27FC236}">
                <a16:creationId xmlns:a16="http://schemas.microsoft.com/office/drawing/2014/main" id="{6480522F-8C96-4950-940A-E4BB650046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566" y="3891386"/>
            <a:ext cx="499225" cy="500024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70C55B9D-FFE2-4796-8674-943EA8CD879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300" y="3559714"/>
            <a:ext cx="660735" cy="660735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1168D0E2-7331-49BD-8C17-D0203BADA1AC}"/>
              </a:ext>
            </a:extLst>
          </p:cNvPr>
          <p:cNvGrpSpPr/>
          <p:nvPr/>
        </p:nvGrpSpPr>
        <p:grpSpPr>
          <a:xfrm>
            <a:off x="2866845" y="4258012"/>
            <a:ext cx="983378" cy="508514"/>
            <a:chOff x="2033519" y="4300657"/>
            <a:chExt cx="983378" cy="508514"/>
          </a:xfrm>
        </p:grpSpPr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ABE034AB-9D40-44DB-976D-DB8A2C35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519" y="4300657"/>
              <a:ext cx="508514" cy="508514"/>
            </a:xfrm>
            <a:prstGeom prst="rect">
              <a:avLst/>
            </a:prstGeom>
          </p:spPr>
        </p:pic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D64B1000-F8B5-412E-B954-EE3FC3D33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7673" y="4309947"/>
              <a:ext cx="499224" cy="499224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7ACF0843-A16A-4661-B095-3DC45FCB0E7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53" y="3609243"/>
            <a:ext cx="660735" cy="66073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A70D3DEE-1CF7-446F-8FA9-E8D739F1FB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621" y="3892865"/>
            <a:ext cx="560299" cy="560299"/>
          </a:xfrm>
          <a:prstGeom prst="rect">
            <a:avLst/>
          </a:prstGeom>
        </p:spPr>
      </p:pic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220E4D19-D8C3-4B3F-A902-4F99F087E422}"/>
              </a:ext>
            </a:extLst>
          </p:cNvPr>
          <p:cNvSpPr/>
          <p:nvPr/>
        </p:nvSpPr>
        <p:spPr>
          <a:xfrm>
            <a:off x="1714844" y="3431708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C971A59-F124-454A-A578-A75229C551E8}"/>
              </a:ext>
            </a:extLst>
          </p:cNvPr>
          <p:cNvSpPr/>
          <p:nvPr/>
        </p:nvSpPr>
        <p:spPr>
          <a:xfrm>
            <a:off x="4706603" y="3429000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F0267CD6-9A69-41D0-8D69-294D3C5573BD}"/>
              </a:ext>
            </a:extLst>
          </p:cNvPr>
          <p:cNvSpPr/>
          <p:nvPr/>
        </p:nvSpPr>
        <p:spPr>
          <a:xfrm>
            <a:off x="7739282" y="3429000"/>
            <a:ext cx="2435485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43EC283B-52FE-4784-8959-22053F1AD869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 flipV="1">
            <a:off x="4150329" y="4192524"/>
            <a:ext cx="556274" cy="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30749E1-7456-4282-961D-6F69CDC3FB07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7142088" y="4192524"/>
            <a:ext cx="597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A344794A-EA3A-4F80-9C25-346D5AF3A3EC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5587566" y="4597285"/>
            <a:ext cx="416532" cy="0"/>
          </a:xfrm>
          <a:prstGeom prst="straightConnector1">
            <a:avLst/>
          </a:prstGeom>
          <a:ln>
            <a:solidFill>
              <a:srgbClr val="3C3C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AE10F9C-BA1A-44CD-B226-8C4F673970FF}"/>
              </a:ext>
            </a:extLst>
          </p:cNvPr>
          <p:cNvSpPr txBox="1"/>
          <p:nvPr/>
        </p:nvSpPr>
        <p:spPr>
          <a:xfrm>
            <a:off x="838200" y="1411550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 err="1">
                <a:solidFill>
                  <a:srgbClr val="FF0000"/>
                </a:solidFill>
                <a:latin typeface="Adobe Devanagari" panose="02040503050201020203"/>
              </a:rPr>
              <a:t>NAMs</a:t>
            </a:r>
            <a:r>
              <a:rPr lang="fr-FR" sz="2800" dirty="0">
                <a:latin typeface="Adobe Devanagari" panose="02040503050201020203"/>
              </a:rPr>
              <a:t> : New </a:t>
            </a:r>
            <a:r>
              <a:rPr lang="fr-FR" sz="2800" dirty="0" err="1">
                <a:latin typeface="Adobe Devanagari" panose="02040503050201020203"/>
              </a:rPr>
              <a:t>Approach</a:t>
            </a:r>
            <a:r>
              <a:rPr lang="fr-FR" sz="2800" dirty="0">
                <a:latin typeface="Adobe Devanagari" panose="02040503050201020203"/>
              </a:rPr>
              <a:t> </a:t>
            </a:r>
            <a:r>
              <a:rPr lang="fr-FR" sz="2800" dirty="0" err="1">
                <a:latin typeface="Adobe Devanagari" panose="02040503050201020203"/>
              </a:rPr>
              <a:t>Methodologies</a:t>
            </a:r>
            <a:r>
              <a:rPr lang="fr-FR" sz="2800" dirty="0">
                <a:latin typeface="Adobe Devanagari" panose="02040503050201020203"/>
              </a:rPr>
              <a:t> serves as </a:t>
            </a:r>
            <a:r>
              <a:rPr lang="fr-FR" sz="2800" b="1" dirty="0">
                <a:solidFill>
                  <a:srgbClr val="3F3FFF"/>
                </a:solidFill>
                <a:latin typeface="Adobe Devanagari" panose="02040503050201020203"/>
              </a:rPr>
              <a:t>building blocks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1488C9A-3260-4601-AEF5-852C4660C7E6}"/>
              </a:ext>
            </a:extLst>
          </p:cNvPr>
          <p:cNvSpPr txBox="1"/>
          <p:nvPr/>
        </p:nvSpPr>
        <p:spPr>
          <a:xfrm>
            <a:off x="4610537" y="5281970"/>
            <a:ext cx="261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Predictive</a:t>
            </a:r>
            <a:r>
              <a:rPr lang="fr-FR" dirty="0"/>
              <a:t> </a:t>
            </a:r>
            <a:r>
              <a:rPr lang="fr-FR" dirty="0" err="1"/>
              <a:t>microbiology</a:t>
            </a:r>
            <a:endParaRPr lang="fr-FR" dirty="0"/>
          </a:p>
          <a:p>
            <a:pPr algn="ctr"/>
            <a:r>
              <a:rPr lang="fr-FR" b="1" dirty="0"/>
              <a:t>In-Silico</a:t>
            </a:r>
            <a:r>
              <a:rPr lang="fr-FR" dirty="0"/>
              <a:t> </a:t>
            </a:r>
            <a:r>
              <a:rPr lang="fr-FR" dirty="0" err="1"/>
              <a:t>models</a:t>
            </a:r>
            <a:endParaRPr lang="fr-FR" dirty="0"/>
          </a:p>
          <a:p>
            <a:pPr algn="ctr"/>
            <a:r>
              <a:rPr lang="fr-FR" dirty="0"/>
              <a:t>Evolution </a:t>
            </a:r>
            <a:r>
              <a:rPr lang="fr-FR" dirty="0" err="1"/>
              <a:t>under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pH, T, </a:t>
            </a:r>
            <a:r>
              <a:rPr lang="fr-FR" dirty="0" err="1">
                <a:solidFill>
                  <a:srgbClr val="FF0000"/>
                </a:solidFill>
              </a:rPr>
              <a:t>aw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2CDF36D-41D7-440F-B347-836DA580ECA1}"/>
              </a:ext>
            </a:extLst>
          </p:cNvPr>
          <p:cNvSpPr txBox="1"/>
          <p:nvPr/>
        </p:nvSpPr>
        <p:spPr>
          <a:xfrm>
            <a:off x="7306322" y="5292587"/>
            <a:ext cx="3684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Dose </a:t>
            </a:r>
            <a:r>
              <a:rPr lang="fr-FR" b="1" dirty="0" err="1"/>
              <a:t>Response</a:t>
            </a:r>
            <a:r>
              <a:rPr lang="fr-FR" b="1" dirty="0"/>
              <a:t>: </a:t>
            </a:r>
            <a:r>
              <a:rPr lang="fr-FR" dirty="0" err="1"/>
              <a:t>Probability</a:t>
            </a:r>
            <a:r>
              <a:rPr lang="fr-FR" dirty="0"/>
              <a:t> of </a:t>
            </a:r>
            <a:r>
              <a:rPr lang="fr-FR" dirty="0" err="1"/>
              <a:t>illness</a:t>
            </a:r>
            <a:endParaRPr lang="fr-FR" dirty="0"/>
          </a:p>
          <a:p>
            <a:pPr algn="ctr"/>
            <a:r>
              <a:rPr lang="fr-FR" b="1" dirty="0"/>
              <a:t>DALY:</a:t>
            </a:r>
            <a:r>
              <a:rPr lang="fr-FR" dirty="0"/>
              <a:t> </a:t>
            </a:r>
            <a:r>
              <a:rPr lang="fr-FR" dirty="0" err="1"/>
              <a:t>Disability</a:t>
            </a:r>
            <a:r>
              <a:rPr lang="fr-FR" dirty="0"/>
              <a:t> </a:t>
            </a:r>
            <a:r>
              <a:rPr lang="fr-FR" dirty="0" err="1"/>
              <a:t>Adjusted</a:t>
            </a:r>
            <a:r>
              <a:rPr lang="fr-FR" dirty="0"/>
              <a:t> Life </a:t>
            </a:r>
            <a:r>
              <a:rPr lang="fr-FR" dirty="0" err="1"/>
              <a:t>Years</a:t>
            </a:r>
            <a:endParaRPr lang="fr-FR" dirty="0"/>
          </a:p>
          <a:p>
            <a:pPr algn="ctr"/>
            <a:r>
              <a:rPr lang="fr-FR" b="1" dirty="0"/>
              <a:t>Risk</a:t>
            </a:r>
            <a:r>
              <a:rPr lang="fr-FR" dirty="0"/>
              <a:t> (</a:t>
            </a:r>
            <a:r>
              <a:rPr lang="fr-FR" dirty="0" err="1">
                <a:solidFill>
                  <a:srgbClr val="FF0000"/>
                </a:solidFill>
              </a:rPr>
              <a:t>Probability</a:t>
            </a:r>
            <a:r>
              <a:rPr lang="fr-FR" dirty="0"/>
              <a:t>) -&gt; </a:t>
            </a:r>
            <a:r>
              <a:rPr lang="fr-FR" b="1" dirty="0"/>
              <a:t>DALY</a:t>
            </a:r>
            <a:r>
              <a:rPr lang="fr-FR" dirty="0"/>
              <a:t> (</a:t>
            </a:r>
            <a:r>
              <a:rPr lang="fr-FR" dirty="0">
                <a:solidFill>
                  <a:srgbClr val="FF0000"/>
                </a:solidFill>
              </a:rPr>
              <a:t>Life </a:t>
            </a:r>
            <a:r>
              <a:rPr lang="fr-FR" dirty="0" err="1">
                <a:solidFill>
                  <a:srgbClr val="FF0000"/>
                </a:solidFill>
              </a:rPr>
              <a:t>years</a:t>
            </a:r>
            <a:r>
              <a:rPr lang="fr-FR" dirty="0"/>
              <a:t>)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0E6A6505-8A2A-41B9-AC1E-1943D1606FED}"/>
              </a:ext>
            </a:extLst>
          </p:cNvPr>
          <p:cNvSpPr txBox="1"/>
          <p:nvPr/>
        </p:nvSpPr>
        <p:spPr>
          <a:xfrm>
            <a:off x="1648213" y="5294350"/>
            <a:ext cx="2538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Probabilistic</a:t>
            </a:r>
            <a:r>
              <a:rPr lang="fr-FR" dirty="0"/>
              <a:t> modeling</a:t>
            </a:r>
          </a:p>
          <a:p>
            <a:pPr algn="ctr"/>
            <a:r>
              <a:rPr lang="fr-FR" b="1" dirty="0"/>
              <a:t>Monte-Carlo</a:t>
            </a:r>
            <a:r>
              <a:rPr lang="fr-FR" dirty="0"/>
              <a:t> simulations</a:t>
            </a:r>
          </a:p>
          <a:p>
            <a:pPr algn="ctr"/>
            <a:r>
              <a:rPr lang="fr-FR" b="1" dirty="0" err="1"/>
              <a:t>Bayesian</a:t>
            </a:r>
            <a:r>
              <a:rPr lang="fr-FR" dirty="0"/>
              <a:t> </a:t>
            </a:r>
            <a:r>
              <a:rPr lang="fr-FR" dirty="0" err="1"/>
              <a:t>approaches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FC4226-B737-464D-9CB1-6018305AE7D9}"/>
              </a:ext>
            </a:extLst>
          </p:cNvPr>
          <p:cNvSpPr txBox="1"/>
          <p:nvPr/>
        </p:nvSpPr>
        <p:spPr>
          <a:xfrm>
            <a:off x="1506097" y="2270364"/>
            <a:ext cx="2823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2"/>
                </a:solidFill>
              </a:rPr>
              <a:t>Q1.</a:t>
            </a:r>
          </a:p>
          <a:p>
            <a:pPr algn="ctr"/>
            <a:r>
              <a:rPr lang="fr-FR" b="1" dirty="0">
                <a:solidFill>
                  <a:schemeClr val="accent2"/>
                </a:solidFill>
              </a:rPr>
              <a:t>How to </a:t>
            </a:r>
            <a:r>
              <a:rPr lang="fr-FR" b="1" dirty="0" err="1">
                <a:solidFill>
                  <a:schemeClr val="accent2"/>
                </a:solidFill>
              </a:rPr>
              <a:t>estimate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b="1" dirty="0" err="1">
                <a:solidFill>
                  <a:schemeClr val="accent2"/>
                </a:solidFill>
              </a:rPr>
              <a:t>bacteria</a:t>
            </a:r>
            <a:r>
              <a:rPr lang="fr-FR" b="1" dirty="0">
                <a:solidFill>
                  <a:schemeClr val="accent2"/>
                </a:solidFill>
              </a:rPr>
              <a:t> concentration in </a:t>
            </a:r>
            <a:r>
              <a:rPr lang="fr-FR" b="1" dirty="0" err="1">
                <a:solidFill>
                  <a:schemeClr val="accent2"/>
                </a:solidFill>
              </a:rPr>
              <a:t>milk</a:t>
            </a:r>
            <a:r>
              <a:rPr lang="fr-FR" b="1" dirty="0">
                <a:solidFill>
                  <a:schemeClr val="accent2"/>
                </a:solidFill>
              </a:rPr>
              <a:t> tank?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6E1D2017-06A6-4F67-AD62-2C553A5998CA}"/>
              </a:ext>
            </a:extLst>
          </p:cNvPr>
          <p:cNvSpPr txBox="1"/>
          <p:nvPr/>
        </p:nvSpPr>
        <p:spPr>
          <a:xfrm>
            <a:off x="4487208" y="2271233"/>
            <a:ext cx="2953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</a:rPr>
              <a:t>Q2.</a:t>
            </a:r>
          </a:p>
          <a:p>
            <a:pPr algn="ctr"/>
            <a:r>
              <a:rPr lang="fr-FR" b="1" dirty="0">
                <a:solidFill>
                  <a:srgbClr val="C00000"/>
                </a:solidFill>
              </a:rPr>
              <a:t>How to model </a:t>
            </a:r>
            <a:r>
              <a:rPr lang="fr-FR" b="1" dirty="0" err="1">
                <a:solidFill>
                  <a:srgbClr val="C00000"/>
                </a:solidFill>
              </a:rPr>
              <a:t>bacteria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evolution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during</a:t>
            </a:r>
            <a:r>
              <a:rPr lang="fr-FR" b="1" dirty="0">
                <a:solidFill>
                  <a:srgbClr val="C00000"/>
                </a:solidFill>
              </a:rPr>
              <a:t> production?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53998060-6DBF-4265-96EA-F3040BBEEB53}"/>
              </a:ext>
            </a:extLst>
          </p:cNvPr>
          <p:cNvSpPr txBox="1"/>
          <p:nvPr/>
        </p:nvSpPr>
        <p:spPr>
          <a:xfrm>
            <a:off x="7532004" y="2270364"/>
            <a:ext cx="2953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Q3.</a:t>
            </a:r>
          </a:p>
          <a:p>
            <a:pPr algn="ctr"/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How to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compute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risk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of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illness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eating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cheese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01813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/>
      <p:bldP spid="45" grpId="0"/>
      <p:bldP spid="47" grpId="0"/>
      <p:bldP spid="5" grpId="0"/>
      <p:bldP spid="52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07191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199" y="332940"/>
            <a:ext cx="748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How to run QMRA model ?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5</a:t>
            </a:fld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25FBD5A-D7E2-4145-81DF-3D5497AE32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982" y="3862156"/>
            <a:ext cx="660736" cy="6607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C468208-F664-4F5F-835E-8D0DA638D3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452" y="3612715"/>
            <a:ext cx="560299" cy="56029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F02E413-7881-42B7-8CF0-79EEBBDCD7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633" y="3561542"/>
            <a:ext cx="660736" cy="66073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2B4E6C1-AA72-478A-9913-854FE4364B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55" y="3681669"/>
            <a:ext cx="965728" cy="96572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276A7F2-894C-4B21-9F2D-8F4766997C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42" y="4347673"/>
            <a:ext cx="499224" cy="499224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C15907F8-9131-4D15-ADFE-EFDB03F828BC}"/>
              </a:ext>
            </a:extLst>
          </p:cNvPr>
          <p:cNvGrpSpPr/>
          <p:nvPr/>
        </p:nvGrpSpPr>
        <p:grpSpPr>
          <a:xfrm>
            <a:off x="6004098" y="4326318"/>
            <a:ext cx="849659" cy="520579"/>
            <a:chOff x="6135934" y="4849276"/>
            <a:chExt cx="849659" cy="520579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4F31CE55-A858-493B-9747-788220B7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5934" y="4870631"/>
              <a:ext cx="499224" cy="499224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96CE8F96-FFBD-41E8-9625-154C4119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369" y="4849276"/>
              <a:ext cx="499224" cy="499224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7ACF0843-A16A-4661-B095-3DC45FCB0E7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1" r="18787"/>
          <a:stretch/>
        </p:blipFill>
        <p:spPr>
          <a:xfrm>
            <a:off x="5088342" y="3609243"/>
            <a:ext cx="401208" cy="660735"/>
          </a:xfrm>
          <a:prstGeom prst="rect">
            <a:avLst/>
          </a:prstGeom>
        </p:spPr>
      </p:pic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C971A59-F124-454A-A578-A75229C551E8}"/>
              </a:ext>
            </a:extLst>
          </p:cNvPr>
          <p:cNvSpPr/>
          <p:nvPr/>
        </p:nvSpPr>
        <p:spPr>
          <a:xfrm>
            <a:off x="3950563" y="3429000"/>
            <a:ext cx="3879542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A344794A-EA3A-4F80-9C25-346D5AF3A3EC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5587566" y="4597285"/>
            <a:ext cx="416532" cy="0"/>
          </a:xfrm>
          <a:prstGeom prst="straightConnector1">
            <a:avLst/>
          </a:prstGeom>
          <a:ln>
            <a:solidFill>
              <a:srgbClr val="3C3C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AE10F9C-BA1A-44CD-B226-8C4F673970FF}"/>
              </a:ext>
            </a:extLst>
          </p:cNvPr>
          <p:cNvSpPr txBox="1"/>
          <p:nvPr/>
        </p:nvSpPr>
        <p:spPr>
          <a:xfrm>
            <a:off x="838200" y="1322098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FF0000"/>
                </a:solidFill>
                <a:latin typeface="Adobe Devanagari" panose="02040503050201020203"/>
              </a:rPr>
              <a:t>QMRA model </a:t>
            </a:r>
            <a:r>
              <a:rPr lang="fr-FR" sz="2800" b="1" dirty="0">
                <a:latin typeface="Adobe Devanagari" panose="02040503050201020203"/>
              </a:rPr>
              <a:t>inputs and outputs </a:t>
            </a:r>
            <a:r>
              <a:rPr lang="fr-FR" sz="2800" dirty="0">
                <a:latin typeface="Adobe Devanagari" panose="02040503050201020203"/>
              </a:rPr>
              <a:t>(</a:t>
            </a:r>
            <a:r>
              <a:rPr lang="fr-FR" sz="2800" dirty="0" err="1">
                <a:latin typeface="Adobe Devanagari" panose="02040503050201020203"/>
              </a:rPr>
              <a:t>toy</a:t>
            </a:r>
            <a:r>
              <a:rPr lang="fr-FR" sz="2800" dirty="0">
                <a:latin typeface="Adobe Devanagari" panose="02040503050201020203"/>
              </a:rPr>
              <a:t> </a:t>
            </a:r>
            <a:r>
              <a:rPr lang="fr-FR" sz="2800" dirty="0" err="1">
                <a:latin typeface="Adobe Devanagari" panose="02040503050201020203"/>
              </a:rPr>
              <a:t>example</a:t>
            </a:r>
            <a:r>
              <a:rPr lang="fr-FR" sz="2800" dirty="0">
                <a:latin typeface="Adobe Devanagari" panose="02040503050201020203"/>
              </a:rPr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D2EDDA2-B473-40DE-8703-9263B7E51A4D}"/>
              </a:ext>
            </a:extLst>
          </p:cNvPr>
          <p:cNvSpPr txBox="1"/>
          <p:nvPr/>
        </p:nvSpPr>
        <p:spPr>
          <a:xfrm>
            <a:off x="5288946" y="2972472"/>
            <a:ext cx="1613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QMRA model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E844293-45C4-4897-97BB-ABAF2D4EB960}"/>
              </a:ext>
            </a:extLst>
          </p:cNvPr>
          <p:cNvCxnSpPr>
            <a:cxnSpLocks/>
            <a:stCxn id="89" idx="3"/>
          </p:cNvCxnSpPr>
          <p:nvPr/>
        </p:nvCxnSpPr>
        <p:spPr>
          <a:xfrm flipV="1">
            <a:off x="2986386" y="4338848"/>
            <a:ext cx="983782" cy="4191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7E66F1F9-D96C-4ECA-950B-1F4A761DE12C}"/>
              </a:ext>
            </a:extLst>
          </p:cNvPr>
          <p:cNvSpPr/>
          <p:nvPr/>
        </p:nvSpPr>
        <p:spPr>
          <a:xfrm>
            <a:off x="1513244" y="3232067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Milk 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rejection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threshold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003751CB-8891-4165-82C5-A7423F1D1C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33" y="3609243"/>
            <a:ext cx="560299" cy="560299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E5939683-F025-4A21-BBD5-39784C575F6C}"/>
              </a:ext>
            </a:extLst>
          </p:cNvPr>
          <p:cNvGrpSpPr/>
          <p:nvPr/>
        </p:nvGrpSpPr>
        <p:grpSpPr>
          <a:xfrm>
            <a:off x="7830105" y="2372828"/>
            <a:ext cx="2441358" cy="1819696"/>
            <a:chOff x="7830105" y="2372828"/>
            <a:chExt cx="2441358" cy="1819696"/>
          </a:xfrm>
        </p:grpSpPr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63C964C8-EEF0-4795-A995-DF080ED3B042}"/>
                </a:ext>
              </a:extLst>
            </p:cNvPr>
            <p:cNvCxnSpPr>
              <a:cxnSpLocks/>
              <a:stCxn id="43" idx="3"/>
              <a:endCxn id="51" idx="1"/>
            </p:cNvCxnSpPr>
            <p:nvPr/>
          </p:nvCxnSpPr>
          <p:spPr>
            <a:xfrm flipV="1">
              <a:off x="7830105" y="3282675"/>
              <a:ext cx="964176" cy="9098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45BC7009-4EC3-482C-A914-E62C6E8F88DD}"/>
                </a:ext>
              </a:extLst>
            </p:cNvPr>
            <p:cNvGrpSpPr/>
            <p:nvPr/>
          </p:nvGrpSpPr>
          <p:grpSpPr>
            <a:xfrm>
              <a:off x="8794281" y="2372828"/>
              <a:ext cx="1477182" cy="1328953"/>
              <a:chOff x="8794281" y="2372828"/>
              <a:chExt cx="1477182" cy="1328953"/>
            </a:xfrm>
          </p:grpSpPr>
          <p:sp>
            <p:nvSpPr>
              <p:cNvPr id="51" name="Rectangle : coins arrondis 50">
                <a:extLst>
                  <a:ext uri="{FF2B5EF4-FFF2-40B4-BE49-F238E27FC236}">
                    <a16:creationId xmlns:a16="http://schemas.microsoft.com/office/drawing/2014/main" id="{E2D97115-DE07-47C1-9DB0-BE7C5386C6A6}"/>
                  </a:ext>
                </a:extLst>
              </p:cNvPr>
              <p:cNvSpPr/>
              <p:nvPr/>
            </p:nvSpPr>
            <p:spPr>
              <a:xfrm>
                <a:off x="8794281" y="2863569"/>
                <a:ext cx="1477182" cy="838212"/>
              </a:xfrm>
              <a:prstGeom prst="roundRect">
                <a:avLst/>
              </a:prstGeom>
              <a:solidFill>
                <a:srgbClr val="3C3C6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bg1"/>
                    </a:solidFill>
                  </a:rPr>
                  <a:t>DALY</a:t>
                </a:r>
              </a:p>
              <a:p>
                <a:pPr algn="ctr"/>
                <a:r>
                  <a:rPr lang="fr-FR" b="1" dirty="0">
                    <a:solidFill>
                      <a:schemeClr val="bg1"/>
                    </a:solidFill>
                  </a:rPr>
                  <a:t>25g </a:t>
                </a:r>
                <a:r>
                  <a:rPr lang="fr-FR" b="1" dirty="0" err="1">
                    <a:solidFill>
                      <a:schemeClr val="bg1"/>
                    </a:solidFill>
                  </a:rPr>
                  <a:t>cheese</a:t>
                </a:r>
                <a:endParaRPr lang="fr-FR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82" name="Image 81">
                <a:extLst>
                  <a:ext uri="{FF2B5EF4-FFF2-40B4-BE49-F238E27FC236}">
                    <a16:creationId xmlns:a16="http://schemas.microsoft.com/office/drawing/2014/main" id="{F227E8A5-8237-4754-9F22-C3FBC8BA1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10455" y="2372828"/>
                <a:ext cx="444834" cy="436374"/>
              </a:xfrm>
              <a:prstGeom prst="rect">
                <a:avLst/>
              </a:prstGeom>
            </p:spPr>
          </p:pic>
        </p:grp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2BEE3817-20B6-4554-A5F7-360B8C319372}"/>
              </a:ext>
            </a:extLst>
          </p:cNvPr>
          <p:cNvGrpSpPr/>
          <p:nvPr/>
        </p:nvGrpSpPr>
        <p:grpSpPr>
          <a:xfrm>
            <a:off x="7830105" y="4192524"/>
            <a:ext cx="2459113" cy="1900012"/>
            <a:chOff x="7830105" y="4192524"/>
            <a:chExt cx="2459113" cy="1900012"/>
          </a:xfrm>
        </p:grpSpPr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4C9637DC-20E9-4537-8031-25274B5412D7}"/>
                </a:ext>
              </a:extLst>
            </p:cNvPr>
            <p:cNvCxnSpPr>
              <a:cxnSpLocks/>
              <a:stCxn id="43" idx="3"/>
              <a:endCxn id="59" idx="1"/>
            </p:cNvCxnSpPr>
            <p:nvPr/>
          </p:nvCxnSpPr>
          <p:spPr>
            <a:xfrm>
              <a:off x="7830105" y="4192524"/>
              <a:ext cx="964176" cy="8463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9BE3403B-040F-42EA-80A7-01E38C819370}"/>
                </a:ext>
              </a:extLst>
            </p:cNvPr>
            <p:cNvGrpSpPr/>
            <p:nvPr/>
          </p:nvGrpSpPr>
          <p:grpSpPr>
            <a:xfrm>
              <a:off x="8794281" y="4647397"/>
              <a:ext cx="1494937" cy="1445139"/>
              <a:chOff x="8794281" y="4647397"/>
              <a:chExt cx="1494937" cy="1445139"/>
            </a:xfrm>
          </p:grpSpPr>
          <p:sp>
            <p:nvSpPr>
              <p:cNvPr id="59" name="Rectangle : coins arrondis 58">
                <a:extLst>
                  <a:ext uri="{FF2B5EF4-FFF2-40B4-BE49-F238E27FC236}">
                    <a16:creationId xmlns:a16="http://schemas.microsoft.com/office/drawing/2014/main" id="{DA5FFEBC-A3A2-4022-8868-7AC79541F1EE}"/>
                  </a:ext>
                </a:extLst>
              </p:cNvPr>
              <p:cNvSpPr/>
              <p:nvPr/>
            </p:nvSpPr>
            <p:spPr>
              <a:xfrm>
                <a:off x="8794281" y="4647397"/>
                <a:ext cx="1494937" cy="782869"/>
              </a:xfrm>
              <a:prstGeom prst="roundRect">
                <a:avLst/>
              </a:prstGeom>
              <a:solidFill>
                <a:srgbClr val="3C3C6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 err="1">
                    <a:solidFill>
                      <a:schemeClr val="bg1"/>
                    </a:solidFill>
                  </a:rPr>
                  <a:t>Cost</a:t>
                </a:r>
                <a:r>
                  <a:rPr lang="fr-FR" b="1" dirty="0">
                    <a:solidFill>
                      <a:schemeClr val="bg1"/>
                    </a:solidFill>
                  </a:rPr>
                  <a:t> of intervention</a:t>
                </a:r>
              </a:p>
            </p:txBody>
          </p:sp>
          <p:pic>
            <p:nvPicPr>
              <p:cNvPr id="84" name="Image 83">
                <a:extLst>
                  <a:ext uri="{FF2B5EF4-FFF2-40B4-BE49-F238E27FC236}">
                    <a16:creationId xmlns:a16="http://schemas.microsoft.com/office/drawing/2014/main" id="{12A61A28-AE1A-4D1B-9017-1ED09A2A8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91081" y="5391200"/>
                <a:ext cx="701336" cy="701336"/>
              </a:xfrm>
              <a:prstGeom prst="rect">
                <a:avLst/>
              </a:prstGeom>
            </p:spPr>
          </p:pic>
        </p:grpSp>
      </p:grp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F1C12B27-33AA-4BB6-B87A-B854ABCE594D}"/>
              </a:ext>
            </a:extLst>
          </p:cNvPr>
          <p:cNvSpPr/>
          <p:nvPr/>
        </p:nvSpPr>
        <p:spPr>
          <a:xfrm>
            <a:off x="1513244" y="4308365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Cheese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dirty="0" err="1">
                <a:solidFill>
                  <a:schemeClr val="bg1"/>
                </a:solidFill>
              </a:rPr>
              <a:t>testing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frequency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73BFF834-6054-4F13-978B-B42154934CDB}"/>
              </a:ext>
            </a:extLst>
          </p:cNvPr>
          <p:cNvSpPr/>
          <p:nvPr/>
        </p:nvSpPr>
        <p:spPr>
          <a:xfrm>
            <a:off x="1513244" y="2109538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Milk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testing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frequency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557455DB-AC85-4605-A30D-4B73628005E6}"/>
              </a:ext>
            </a:extLst>
          </p:cNvPr>
          <p:cNvSpPr/>
          <p:nvPr/>
        </p:nvSpPr>
        <p:spPr>
          <a:xfrm>
            <a:off x="1513244" y="5435945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Cheese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dirty="0" err="1">
                <a:solidFill>
                  <a:schemeClr val="bg1"/>
                </a:solidFill>
              </a:rPr>
              <a:t>testing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sample</a:t>
            </a:r>
            <a:r>
              <a:rPr lang="fr-FR" b="1" dirty="0">
                <a:solidFill>
                  <a:schemeClr val="bg1"/>
                </a:solidFill>
              </a:rPr>
              <a:t> size</a:t>
            </a: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A05E82B4-897D-4D6A-94E2-12C756A7B3D7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2986386" y="4645217"/>
            <a:ext cx="976348" cy="1240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88B22F02-61BF-459A-8426-88D23D08A2E7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986386" y="3681669"/>
            <a:ext cx="972257" cy="3689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F95E047B-23B4-43F6-8E07-EE62441F7FC9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2986386" y="2559140"/>
            <a:ext cx="964176" cy="1122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1" name="Image 110">
            <a:extLst>
              <a:ext uri="{FF2B5EF4-FFF2-40B4-BE49-F238E27FC236}">
                <a16:creationId xmlns:a16="http://schemas.microsoft.com/office/drawing/2014/main" id="{0344F33D-BCB7-4ABF-96FC-31B00A4FA7D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379" y="2462318"/>
            <a:ext cx="510154" cy="510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3ADD6A-8850-4EF8-90F5-E35EE17B82C7}"/>
              </a:ext>
            </a:extLst>
          </p:cNvPr>
          <p:cNvSpPr/>
          <p:nvPr/>
        </p:nvSpPr>
        <p:spPr>
          <a:xfrm>
            <a:off x="728618" y="2317206"/>
            <a:ext cx="995082" cy="436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100 %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0CFD3B-47F1-4F6B-B3EF-99C67DD47916}"/>
              </a:ext>
            </a:extLst>
          </p:cNvPr>
          <p:cNvSpPr/>
          <p:nvPr/>
        </p:nvSpPr>
        <p:spPr>
          <a:xfrm>
            <a:off x="728618" y="3483600"/>
            <a:ext cx="995082" cy="436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50 </a:t>
            </a:r>
            <a:r>
              <a:rPr lang="fr-FR" sz="1400" dirty="0"/>
              <a:t>CFU/ml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8D264E-C4AD-4877-8D81-1572A999CEA9}"/>
              </a:ext>
            </a:extLst>
          </p:cNvPr>
          <p:cNvSpPr/>
          <p:nvPr/>
        </p:nvSpPr>
        <p:spPr>
          <a:xfrm>
            <a:off x="729107" y="4548407"/>
            <a:ext cx="995082" cy="436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30 %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C9C4C9-CFDA-422F-A57F-04903D8EF8EA}"/>
              </a:ext>
            </a:extLst>
          </p:cNvPr>
          <p:cNvSpPr/>
          <p:nvPr/>
        </p:nvSpPr>
        <p:spPr>
          <a:xfrm>
            <a:off x="728618" y="5645319"/>
            <a:ext cx="995082" cy="436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3A3CA4-64E9-4EB6-BF1A-BE93F94D9DB9}"/>
              </a:ext>
            </a:extLst>
          </p:cNvPr>
          <p:cNvSpPr/>
          <p:nvPr/>
        </p:nvSpPr>
        <p:spPr>
          <a:xfrm>
            <a:off x="10146023" y="3024172"/>
            <a:ext cx="995082" cy="436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2</a:t>
            </a:r>
            <a:r>
              <a:rPr lang="fr-FR" dirty="0"/>
              <a:t> x </a:t>
            </a:r>
            <a:r>
              <a:rPr lang="fr-FR" b="1" dirty="0"/>
              <a:t>10</a:t>
            </a:r>
            <a:r>
              <a:rPr lang="fr-FR" b="1" baseline="30000" dirty="0"/>
              <a:t>-7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FA741A-485D-491A-BD1A-F7D2B100C11A}"/>
              </a:ext>
            </a:extLst>
          </p:cNvPr>
          <p:cNvSpPr/>
          <p:nvPr/>
        </p:nvSpPr>
        <p:spPr>
          <a:xfrm>
            <a:off x="10146023" y="4816562"/>
            <a:ext cx="995082" cy="436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1000 €</a:t>
            </a:r>
            <a:endParaRPr lang="fr-FR" b="1" baseline="30000" dirty="0"/>
          </a:p>
        </p:txBody>
      </p:sp>
    </p:spTree>
    <p:extLst>
      <p:ext uri="{BB962C8B-B14F-4D97-AF65-F5344CB8AC3E}">
        <p14:creationId xmlns:p14="http://schemas.microsoft.com/office/powerpoint/2010/main" val="377420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89" grpId="0" animBg="1"/>
      <p:bldP spid="90" grpId="0" animBg="1"/>
      <p:bldP spid="91" grpId="0" animBg="1"/>
      <p:bldP spid="4" grpId="0" animBg="1"/>
      <p:bldP spid="36" grpId="0" animBg="1"/>
      <p:bldP spid="37" grpId="0" animBg="1"/>
      <p:bldP spid="38" grpId="0" animBg="1"/>
      <p:bldP spid="39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07191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Risk management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with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QMRA model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6</a:t>
            </a:fld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25FBD5A-D7E2-4145-81DF-3D5497AE32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982" y="3862156"/>
            <a:ext cx="660736" cy="6607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C468208-F664-4F5F-835E-8D0DA638D3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452" y="3612715"/>
            <a:ext cx="560299" cy="56029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F02E413-7881-42B7-8CF0-79EEBBDCD7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633" y="3561542"/>
            <a:ext cx="660736" cy="66073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2B4E6C1-AA72-478A-9913-854FE4364B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55" y="3681669"/>
            <a:ext cx="965728" cy="96572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276A7F2-894C-4B21-9F2D-8F4766997C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42" y="4347673"/>
            <a:ext cx="499224" cy="499224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C15907F8-9131-4D15-ADFE-EFDB03F828BC}"/>
              </a:ext>
            </a:extLst>
          </p:cNvPr>
          <p:cNvGrpSpPr/>
          <p:nvPr/>
        </p:nvGrpSpPr>
        <p:grpSpPr>
          <a:xfrm>
            <a:off x="6004098" y="4326318"/>
            <a:ext cx="849659" cy="520579"/>
            <a:chOff x="6135934" y="4849276"/>
            <a:chExt cx="849659" cy="520579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4F31CE55-A858-493B-9747-788220B7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5934" y="4870631"/>
              <a:ext cx="499224" cy="499224"/>
            </a:xfrm>
            <a:prstGeom prst="rect">
              <a:avLst/>
            </a:prstGeom>
          </p:spPr>
        </p:pic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96CE8F96-FFBD-41E8-9625-154C4119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369" y="4849276"/>
              <a:ext cx="499224" cy="499224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7ACF0843-A16A-4661-B095-3DC45FCB0E7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1" r="18787"/>
          <a:stretch/>
        </p:blipFill>
        <p:spPr>
          <a:xfrm>
            <a:off x="5088342" y="3609243"/>
            <a:ext cx="401208" cy="660735"/>
          </a:xfrm>
          <a:prstGeom prst="rect">
            <a:avLst/>
          </a:prstGeom>
        </p:spPr>
      </p:pic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C971A59-F124-454A-A578-A75229C551E8}"/>
              </a:ext>
            </a:extLst>
          </p:cNvPr>
          <p:cNvSpPr/>
          <p:nvPr/>
        </p:nvSpPr>
        <p:spPr>
          <a:xfrm>
            <a:off x="3950563" y="3429000"/>
            <a:ext cx="3879542" cy="1527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A344794A-EA3A-4F80-9C25-346D5AF3A3EC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5587566" y="4597285"/>
            <a:ext cx="416532" cy="0"/>
          </a:xfrm>
          <a:prstGeom prst="straightConnector1">
            <a:avLst/>
          </a:prstGeom>
          <a:ln>
            <a:solidFill>
              <a:srgbClr val="3C3C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AE10F9C-BA1A-44CD-B226-8C4F673970FF}"/>
              </a:ext>
            </a:extLst>
          </p:cNvPr>
          <p:cNvSpPr txBox="1"/>
          <p:nvPr/>
        </p:nvSpPr>
        <p:spPr>
          <a:xfrm>
            <a:off x="838200" y="1303298"/>
            <a:ext cx="1062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 err="1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Find</a:t>
            </a:r>
            <a:r>
              <a:rPr lang="fr-FR" sz="2800" b="1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fr-FR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intervention </a:t>
            </a:r>
            <a:r>
              <a:rPr lang="fr-FR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parameters</a:t>
            </a:r>
            <a:r>
              <a:rPr lang="fr-FR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fr-FR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that</a:t>
            </a:r>
            <a:r>
              <a:rPr lang="fr-FR" sz="2800" b="1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minimize</a:t>
            </a:r>
            <a:r>
              <a:rPr lang="fr-FR" sz="2800" b="1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fr-FR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both</a:t>
            </a:r>
            <a:r>
              <a:rPr lang="fr-FR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outputs</a:t>
            </a:r>
            <a:endParaRPr lang="fr-FR" sz="2800" dirty="0">
              <a:latin typeface="Adobe Devanagari" panose="02040503050201020203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D2EDDA2-B473-40DE-8703-9263B7E51A4D}"/>
              </a:ext>
            </a:extLst>
          </p:cNvPr>
          <p:cNvSpPr txBox="1"/>
          <p:nvPr/>
        </p:nvSpPr>
        <p:spPr>
          <a:xfrm>
            <a:off x="5288946" y="2972472"/>
            <a:ext cx="1613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QMRA model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E844293-45C4-4897-97BB-ABAF2D4EB960}"/>
              </a:ext>
            </a:extLst>
          </p:cNvPr>
          <p:cNvCxnSpPr>
            <a:cxnSpLocks/>
            <a:stCxn id="89" idx="3"/>
          </p:cNvCxnSpPr>
          <p:nvPr/>
        </p:nvCxnSpPr>
        <p:spPr>
          <a:xfrm flipV="1">
            <a:off x="2986386" y="4338848"/>
            <a:ext cx="983782" cy="4191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7E66F1F9-D96C-4ECA-950B-1F4A761DE12C}"/>
              </a:ext>
            </a:extLst>
          </p:cNvPr>
          <p:cNvSpPr/>
          <p:nvPr/>
        </p:nvSpPr>
        <p:spPr>
          <a:xfrm>
            <a:off x="1513244" y="3232067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Milk 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rejection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threshold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003751CB-8891-4165-82C5-A7423F1D1C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33" y="3609243"/>
            <a:ext cx="560299" cy="560299"/>
          </a:xfrm>
          <a:prstGeom prst="rect">
            <a:avLst/>
          </a:prstGeom>
        </p:spPr>
      </p:pic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E2D97115-DE07-47C1-9DB0-BE7C5386C6A6}"/>
              </a:ext>
            </a:extLst>
          </p:cNvPr>
          <p:cNvSpPr/>
          <p:nvPr/>
        </p:nvSpPr>
        <p:spPr>
          <a:xfrm>
            <a:off x="8794281" y="2863570"/>
            <a:ext cx="1477182" cy="838212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DALY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per portion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63C964C8-EEF0-4795-A995-DF080ED3B042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 flipV="1">
            <a:off x="7830105" y="3282676"/>
            <a:ext cx="964176" cy="909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DA5FFEBC-A3A2-4022-8868-7AC79541F1EE}"/>
              </a:ext>
            </a:extLst>
          </p:cNvPr>
          <p:cNvSpPr/>
          <p:nvPr/>
        </p:nvSpPr>
        <p:spPr>
          <a:xfrm>
            <a:off x="8794281" y="4647397"/>
            <a:ext cx="1494937" cy="782869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Cost</a:t>
            </a:r>
            <a:r>
              <a:rPr lang="fr-FR" b="1" dirty="0">
                <a:solidFill>
                  <a:schemeClr val="bg1"/>
                </a:solidFill>
              </a:rPr>
              <a:t> of intervention</a:t>
            </a: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4C9637DC-20E9-4537-8031-25274B5412D7}"/>
              </a:ext>
            </a:extLst>
          </p:cNvPr>
          <p:cNvCxnSpPr>
            <a:cxnSpLocks/>
            <a:stCxn id="43" idx="3"/>
            <a:endCxn id="59" idx="1"/>
          </p:cNvCxnSpPr>
          <p:nvPr/>
        </p:nvCxnSpPr>
        <p:spPr>
          <a:xfrm>
            <a:off x="7830105" y="4192524"/>
            <a:ext cx="964176" cy="8463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2" name="Image 81">
            <a:extLst>
              <a:ext uri="{FF2B5EF4-FFF2-40B4-BE49-F238E27FC236}">
                <a16:creationId xmlns:a16="http://schemas.microsoft.com/office/drawing/2014/main" id="{F227E8A5-8237-4754-9F22-C3FBC8BA1C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455" y="2372828"/>
            <a:ext cx="444834" cy="436374"/>
          </a:xfrm>
          <a:prstGeom prst="rect">
            <a:avLst/>
          </a:prstGeom>
        </p:spPr>
      </p:pic>
      <p:pic>
        <p:nvPicPr>
          <p:cNvPr id="84" name="Image 83">
            <a:extLst>
              <a:ext uri="{FF2B5EF4-FFF2-40B4-BE49-F238E27FC236}">
                <a16:creationId xmlns:a16="http://schemas.microsoft.com/office/drawing/2014/main" id="{12A61A28-AE1A-4D1B-9017-1ED09A2A8A6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081" y="5391200"/>
            <a:ext cx="701336" cy="701336"/>
          </a:xfrm>
          <a:prstGeom prst="rect">
            <a:avLst/>
          </a:prstGeom>
        </p:spPr>
      </p:pic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F1C12B27-33AA-4BB6-B87A-B854ABCE594D}"/>
              </a:ext>
            </a:extLst>
          </p:cNvPr>
          <p:cNvSpPr/>
          <p:nvPr/>
        </p:nvSpPr>
        <p:spPr>
          <a:xfrm>
            <a:off x="1513244" y="4308365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Cheese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dirty="0" err="1">
                <a:solidFill>
                  <a:schemeClr val="bg1"/>
                </a:solidFill>
              </a:rPr>
              <a:t>testing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frequency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73BFF834-6054-4F13-978B-B42154934CDB}"/>
              </a:ext>
            </a:extLst>
          </p:cNvPr>
          <p:cNvSpPr/>
          <p:nvPr/>
        </p:nvSpPr>
        <p:spPr>
          <a:xfrm>
            <a:off x="1513244" y="2109538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Milk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testing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frequency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557455DB-AC85-4605-A30D-4B73628005E6}"/>
              </a:ext>
            </a:extLst>
          </p:cNvPr>
          <p:cNvSpPr/>
          <p:nvPr/>
        </p:nvSpPr>
        <p:spPr>
          <a:xfrm>
            <a:off x="1513244" y="5435945"/>
            <a:ext cx="1473142" cy="899204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Cheese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dirty="0" err="1">
                <a:solidFill>
                  <a:schemeClr val="bg1"/>
                </a:solidFill>
              </a:rPr>
              <a:t>testing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bg1"/>
                </a:solidFill>
              </a:rPr>
              <a:t>sample</a:t>
            </a:r>
            <a:r>
              <a:rPr lang="fr-FR" b="1" dirty="0">
                <a:solidFill>
                  <a:schemeClr val="bg1"/>
                </a:solidFill>
              </a:rPr>
              <a:t> size</a:t>
            </a: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A05E82B4-897D-4D6A-94E2-12C756A7B3D7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2986386" y="4645217"/>
            <a:ext cx="976348" cy="1240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88B22F02-61BF-459A-8426-88D23D08A2E7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986386" y="3681669"/>
            <a:ext cx="972257" cy="3689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F95E047B-23B4-43F6-8E07-EE62441F7FC9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2986386" y="2559140"/>
            <a:ext cx="964176" cy="1122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1" name="Image 110">
            <a:extLst>
              <a:ext uri="{FF2B5EF4-FFF2-40B4-BE49-F238E27FC236}">
                <a16:creationId xmlns:a16="http://schemas.microsoft.com/office/drawing/2014/main" id="{0344F33D-BCB7-4ABF-96FC-31B00A4FA7D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379" y="2462318"/>
            <a:ext cx="510154" cy="510154"/>
          </a:xfrm>
          <a:prstGeom prst="rect">
            <a:avLst/>
          </a:prstGeom>
        </p:spPr>
      </p:pic>
      <p:sp>
        <p:nvSpPr>
          <p:cNvPr id="5" name="Flèche : bas 4">
            <a:extLst>
              <a:ext uri="{FF2B5EF4-FFF2-40B4-BE49-F238E27FC236}">
                <a16:creationId xmlns:a16="http://schemas.microsoft.com/office/drawing/2014/main" id="{99A7286B-5E7D-4345-BC4A-9DB9BF0E5003}"/>
              </a:ext>
            </a:extLst>
          </p:cNvPr>
          <p:cNvSpPr/>
          <p:nvPr/>
        </p:nvSpPr>
        <p:spPr>
          <a:xfrm>
            <a:off x="10426352" y="2883398"/>
            <a:ext cx="519953" cy="697972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lèche : bas 37">
            <a:extLst>
              <a:ext uri="{FF2B5EF4-FFF2-40B4-BE49-F238E27FC236}">
                <a16:creationId xmlns:a16="http://schemas.microsoft.com/office/drawing/2014/main" id="{5EC7BAC4-83EE-41B7-A2DD-C9F55CAE297A}"/>
              </a:ext>
            </a:extLst>
          </p:cNvPr>
          <p:cNvSpPr/>
          <p:nvPr/>
        </p:nvSpPr>
        <p:spPr>
          <a:xfrm>
            <a:off x="10426352" y="4684662"/>
            <a:ext cx="519953" cy="697972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Bulle narrative : rectangle à coins arrondis 40">
            <a:extLst>
              <a:ext uri="{FF2B5EF4-FFF2-40B4-BE49-F238E27FC236}">
                <a16:creationId xmlns:a16="http://schemas.microsoft.com/office/drawing/2014/main" id="{5FA24BCA-F863-43F5-AA17-C066B273E9C3}"/>
              </a:ext>
            </a:extLst>
          </p:cNvPr>
          <p:cNvSpPr/>
          <p:nvPr/>
        </p:nvSpPr>
        <p:spPr>
          <a:xfrm>
            <a:off x="2756575" y="1980549"/>
            <a:ext cx="1707771" cy="736846"/>
          </a:xfrm>
          <a:prstGeom prst="wedgeRoundRectCallout">
            <a:avLst>
              <a:gd name="adj1" fmla="val -57778"/>
              <a:gd name="adj2" fmla="val -5137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3C3C64"/>
                </a:solidFill>
              </a:rPr>
              <a:t>All </a:t>
            </a:r>
            <a:r>
              <a:rPr lang="fr-FR" b="1" dirty="0" err="1">
                <a:solidFill>
                  <a:srgbClr val="3C3C64"/>
                </a:solidFill>
              </a:rPr>
              <a:t>batches</a:t>
            </a:r>
            <a:r>
              <a:rPr lang="fr-FR" b="1" dirty="0">
                <a:solidFill>
                  <a:srgbClr val="3C3C64"/>
                </a:solidFill>
              </a:rPr>
              <a:t> ?</a:t>
            </a:r>
            <a:br>
              <a:rPr lang="fr-FR" b="1" dirty="0">
                <a:solidFill>
                  <a:srgbClr val="3C3C64"/>
                </a:solidFill>
              </a:rPr>
            </a:br>
            <a:r>
              <a:rPr lang="fr-FR" b="1" dirty="0">
                <a:solidFill>
                  <a:srgbClr val="3C3C64"/>
                </a:solidFill>
              </a:rPr>
              <a:t>10 % </a:t>
            </a:r>
            <a:r>
              <a:rPr lang="fr-FR" b="1" dirty="0" err="1">
                <a:solidFill>
                  <a:srgbClr val="3C3C64"/>
                </a:solidFill>
              </a:rPr>
              <a:t>batches</a:t>
            </a:r>
            <a:r>
              <a:rPr lang="fr-FR" b="1" dirty="0">
                <a:solidFill>
                  <a:srgbClr val="3C3C64"/>
                </a:solidFill>
              </a:rPr>
              <a:t> ?</a:t>
            </a:r>
          </a:p>
        </p:txBody>
      </p:sp>
      <p:sp>
        <p:nvSpPr>
          <p:cNvPr id="42" name="Bulle narrative : rectangle à coins arrondis 41">
            <a:extLst>
              <a:ext uri="{FF2B5EF4-FFF2-40B4-BE49-F238E27FC236}">
                <a16:creationId xmlns:a16="http://schemas.microsoft.com/office/drawing/2014/main" id="{F49EDBF9-79A3-4156-8421-75C9E63D998B}"/>
              </a:ext>
            </a:extLst>
          </p:cNvPr>
          <p:cNvSpPr/>
          <p:nvPr/>
        </p:nvSpPr>
        <p:spPr>
          <a:xfrm>
            <a:off x="253920" y="3112023"/>
            <a:ext cx="1473142" cy="736846"/>
          </a:xfrm>
          <a:prstGeom prst="wedgeRoundRectCallout">
            <a:avLst>
              <a:gd name="adj1" fmla="val 62396"/>
              <a:gd name="adj2" fmla="val -392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3C3C64"/>
                </a:solidFill>
              </a:rPr>
              <a:t>30 CFU/ml ?</a:t>
            </a:r>
            <a:br>
              <a:rPr lang="fr-FR" b="1" dirty="0">
                <a:solidFill>
                  <a:srgbClr val="3C3C64"/>
                </a:solidFill>
              </a:rPr>
            </a:br>
            <a:r>
              <a:rPr lang="fr-FR" b="1" dirty="0">
                <a:solidFill>
                  <a:srgbClr val="3C3C64"/>
                </a:solidFill>
              </a:rPr>
              <a:t>50 CFU/ml ?</a:t>
            </a:r>
          </a:p>
        </p:txBody>
      </p:sp>
      <p:sp>
        <p:nvSpPr>
          <p:cNvPr id="44" name="Bulle narrative : rectangle à coins arrondis 43">
            <a:extLst>
              <a:ext uri="{FF2B5EF4-FFF2-40B4-BE49-F238E27FC236}">
                <a16:creationId xmlns:a16="http://schemas.microsoft.com/office/drawing/2014/main" id="{25AF7028-43DB-4D06-8C8A-5544E9984D02}"/>
              </a:ext>
            </a:extLst>
          </p:cNvPr>
          <p:cNvSpPr/>
          <p:nvPr/>
        </p:nvSpPr>
        <p:spPr>
          <a:xfrm>
            <a:off x="112105" y="4154469"/>
            <a:ext cx="1640168" cy="736846"/>
          </a:xfrm>
          <a:prstGeom prst="wedgeRoundRectCallout">
            <a:avLst>
              <a:gd name="adj1" fmla="val 54943"/>
              <a:gd name="adj2" fmla="val -8586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3C3C64"/>
                </a:solidFill>
              </a:rPr>
              <a:t>All </a:t>
            </a:r>
            <a:r>
              <a:rPr lang="fr-FR" b="1" dirty="0" err="1">
                <a:solidFill>
                  <a:srgbClr val="3C3C64"/>
                </a:solidFill>
              </a:rPr>
              <a:t>batches</a:t>
            </a:r>
            <a:r>
              <a:rPr lang="fr-FR" b="1" dirty="0">
                <a:solidFill>
                  <a:srgbClr val="3C3C64"/>
                </a:solidFill>
              </a:rPr>
              <a:t> ?</a:t>
            </a:r>
            <a:br>
              <a:rPr lang="fr-FR" b="1" dirty="0">
                <a:solidFill>
                  <a:srgbClr val="3C3C64"/>
                </a:solidFill>
              </a:rPr>
            </a:br>
            <a:r>
              <a:rPr lang="fr-FR" b="1" dirty="0">
                <a:solidFill>
                  <a:srgbClr val="3C3C64"/>
                </a:solidFill>
              </a:rPr>
              <a:t>50% </a:t>
            </a:r>
            <a:r>
              <a:rPr lang="fr-FR" b="1" dirty="0" err="1">
                <a:solidFill>
                  <a:srgbClr val="3C3C64"/>
                </a:solidFill>
              </a:rPr>
              <a:t>batches</a:t>
            </a:r>
            <a:r>
              <a:rPr lang="fr-FR" b="1" dirty="0">
                <a:solidFill>
                  <a:srgbClr val="3C3C64"/>
                </a:solidFill>
              </a:rPr>
              <a:t> ?</a:t>
            </a:r>
          </a:p>
        </p:txBody>
      </p:sp>
      <p:sp>
        <p:nvSpPr>
          <p:cNvPr id="45" name="Bulle narrative : rectangle à coins arrondis 44">
            <a:extLst>
              <a:ext uri="{FF2B5EF4-FFF2-40B4-BE49-F238E27FC236}">
                <a16:creationId xmlns:a16="http://schemas.microsoft.com/office/drawing/2014/main" id="{E63CEBAD-5EFD-4613-BD2B-19502F6AE7AF}"/>
              </a:ext>
            </a:extLst>
          </p:cNvPr>
          <p:cNvSpPr/>
          <p:nvPr/>
        </p:nvSpPr>
        <p:spPr>
          <a:xfrm>
            <a:off x="2759833" y="5281446"/>
            <a:ext cx="1704513" cy="736846"/>
          </a:xfrm>
          <a:prstGeom prst="wedgeRoundRectCallout">
            <a:avLst>
              <a:gd name="adj1" fmla="val -56012"/>
              <a:gd name="adj2" fmla="val -7392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3C3C64"/>
                </a:solidFill>
              </a:rPr>
              <a:t>10 </a:t>
            </a:r>
            <a:r>
              <a:rPr lang="fr-FR" b="1" dirty="0" err="1">
                <a:solidFill>
                  <a:srgbClr val="3C3C64"/>
                </a:solidFill>
              </a:rPr>
              <a:t>samples</a:t>
            </a:r>
            <a:r>
              <a:rPr lang="fr-FR" b="1" dirty="0">
                <a:solidFill>
                  <a:srgbClr val="3C3C64"/>
                </a:solidFill>
              </a:rPr>
              <a:t> ?</a:t>
            </a:r>
            <a:br>
              <a:rPr lang="fr-FR" b="1" dirty="0">
                <a:solidFill>
                  <a:srgbClr val="3C3C64"/>
                </a:solidFill>
              </a:rPr>
            </a:br>
            <a:r>
              <a:rPr lang="fr-FR" b="1" dirty="0">
                <a:solidFill>
                  <a:srgbClr val="3C3C64"/>
                </a:solidFill>
              </a:rPr>
              <a:t>20 </a:t>
            </a:r>
            <a:r>
              <a:rPr lang="fr-FR" b="1" dirty="0" err="1">
                <a:solidFill>
                  <a:srgbClr val="3C3C64"/>
                </a:solidFill>
              </a:rPr>
              <a:t>samples</a:t>
            </a:r>
            <a:r>
              <a:rPr lang="fr-FR" b="1" dirty="0">
                <a:solidFill>
                  <a:srgbClr val="3C3C64"/>
                </a:solidFill>
              </a:rPr>
              <a:t> ? …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B4D4B49-58F1-4DDC-ACAB-A89D8044F5BD}"/>
              </a:ext>
            </a:extLst>
          </p:cNvPr>
          <p:cNvGrpSpPr/>
          <p:nvPr/>
        </p:nvGrpSpPr>
        <p:grpSpPr>
          <a:xfrm>
            <a:off x="8303511" y="3889392"/>
            <a:ext cx="2530505" cy="584775"/>
            <a:chOff x="8312193" y="3898944"/>
            <a:chExt cx="2530505" cy="584775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7D96EABA-84FB-48BA-9A70-526F23EC3047}"/>
                </a:ext>
              </a:extLst>
            </p:cNvPr>
            <p:cNvSpPr txBox="1"/>
            <p:nvPr/>
          </p:nvSpPr>
          <p:spPr>
            <a:xfrm>
              <a:off x="8312193" y="3898944"/>
              <a:ext cx="25305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b="1" dirty="0">
                  <a:solidFill>
                    <a:srgbClr val="FF0000"/>
                  </a:solidFill>
                </a:rPr>
                <a:t>Trade          off</a:t>
              </a:r>
            </a:p>
          </p:txBody>
        </p:sp>
        <p:sp>
          <p:nvSpPr>
            <p:cNvPr id="46" name="Flèche : bas 45">
              <a:extLst>
                <a:ext uri="{FF2B5EF4-FFF2-40B4-BE49-F238E27FC236}">
                  <a16:creationId xmlns:a16="http://schemas.microsoft.com/office/drawing/2014/main" id="{E1DB126C-C994-429B-B3F3-76B55E4FD262}"/>
                </a:ext>
              </a:extLst>
            </p:cNvPr>
            <p:cNvSpPr/>
            <p:nvPr/>
          </p:nvSpPr>
          <p:spPr>
            <a:xfrm>
              <a:off x="9450936" y="3964646"/>
              <a:ext cx="367553" cy="45207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Flèche : bas 47">
              <a:extLst>
                <a:ext uri="{FF2B5EF4-FFF2-40B4-BE49-F238E27FC236}">
                  <a16:creationId xmlns:a16="http://schemas.microsoft.com/office/drawing/2014/main" id="{6C7CBECA-5427-4039-A964-901DC8848080}"/>
                </a:ext>
              </a:extLst>
            </p:cNvPr>
            <p:cNvSpPr/>
            <p:nvPr/>
          </p:nvSpPr>
          <p:spPr>
            <a:xfrm rot="10800000">
              <a:off x="9844618" y="3939610"/>
              <a:ext cx="367553" cy="452070"/>
            </a:xfrm>
            <a:prstGeom prst="downArrow">
              <a:avLst/>
            </a:prstGeom>
            <a:solidFill>
              <a:srgbClr val="00B05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40355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38" grpId="0" animBg="1"/>
      <p:bldP spid="41" grpId="0" animBg="1"/>
      <p:bldP spid="42" grpId="0" animBg="1"/>
      <p:bldP spid="44" grpId="0" animBg="1"/>
      <p:bldP spid="4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3" y="6501560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199" y="324062"/>
            <a:ext cx="9797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Compare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different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scenarios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with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QMRA model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7</a:t>
            </a:fld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39F98F4-0D63-476F-9F83-78C2E2032415}"/>
              </a:ext>
            </a:extLst>
          </p:cNvPr>
          <p:cNvSpPr txBox="1"/>
          <p:nvPr/>
        </p:nvSpPr>
        <p:spPr>
          <a:xfrm>
            <a:off x="838199" y="1270959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fr-FR" sz="2800" b="1" dirty="0">
                <a:solidFill>
                  <a:srgbClr val="FF0000"/>
                </a:solidFill>
                <a:latin typeface="Adobe Devanagari" panose="02040503050201020203"/>
              </a:rPr>
              <a:t>Toy Example</a:t>
            </a:r>
            <a:r>
              <a:rPr lang="fr-FR" altLang="fr-FR" sz="2800" b="1" dirty="0">
                <a:solidFill>
                  <a:srgbClr val="3F3FFF"/>
                </a:solidFill>
                <a:latin typeface="Adobe Devanagari" panose="02040503050201020203"/>
              </a:rPr>
              <a:t> </a:t>
            </a:r>
            <a:r>
              <a:rPr lang="fr-FR" altLang="fr-FR" sz="2800" dirty="0">
                <a:latin typeface="Adobe Devanagari" panose="02040503050201020203"/>
              </a:rPr>
              <a:t>of intervention </a:t>
            </a:r>
            <a:r>
              <a:rPr lang="fr-FR" altLang="fr-FR" sz="2800" dirty="0" err="1">
                <a:latin typeface="Adobe Devanagari" panose="02040503050201020203"/>
              </a:rPr>
              <a:t>parameter</a:t>
            </a:r>
            <a:r>
              <a:rPr lang="fr-FR" altLang="fr-FR" sz="2800" dirty="0">
                <a:latin typeface="Adobe Devanagari" panose="02040503050201020203"/>
              </a:rPr>
              <a:t> values </a:t>
            </a:r>
            <a:endParaRPr lang="fr-FR" sz="28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>
                <a:latin typeface="Adobe Devanagari" panose="02040503050201020203"/>
              </a:rPr>
              <a:t>Milk </a:t>
            </a:r>
            <a:r>
              <a:rPr lang="fr-FR" sz="2800" b="1" dirty="0" err="1">
                <a:latin typeface="Adobe Devanagari" panose="02040503050201020203"/>
              </a:rPr>
              <a:t>testing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frequency</a:t>
            </a:r>
            <a:r>
              <a:rPr lang="fr-FR" sz="2800" dirty="0">
                <a:latin typeface="Adobe Devanagari" panose="02040503050201020203"/>
              </a:rPr>
              <a:t>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>
                <a:latin typeface="Adobe Devanagari" panose="02040503050201020203"/>
              </a:rPr>
              <a:t>Milk </a:t>
            </a:r>
            <a:r>
              <a:rPr lang="fr-FR" sz="2800" b="1" dirty="0" err="1">
                <a:latin typeface="Adobe Devanagari" panose="02040503050201020203"/>
              </a:rPr>
              <a:t>testing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threshold</a:t>
            </a:r>
            <a:r>
              <a:rPr lang="fr-FR" sz="2800" b="1" dirty="0">
                <a:latin typeface="Adobe Devanagari" panose="02040503050201020203"/>
              </a:rPr>
              <a:t> (CFU/ml)  </a:t>
            </a:r>
            <a:endParaRPr lang="fr-FR" sz="2800" dirty="0">
              <a:latin typeface="Adobe Devanagari" panose="02040503050201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 err="1">
                <a:latin typeface="Adobe Devanagari" panose="02040503050201020203"/>
              </a:rPr>
              <a:t>Cheese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testing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frequency</a:t>
            </a:r>
            <a:r>
              <a:rPr lang="fr-FR" sz="2800" b="1" dirty="0">
                <a:latin typeface="Adobe Devanagari" panose="02040503050201020203"/>
              </a:rPr>
              <a:t>             </a:t>
            </a:r>
            <a:endParaRPr lang="fr-FR" sz="2800" dirty="0">
              <a:latin typeface="Adobe Devanagari" panose="02040503050201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 err="1">
                <a:latin typeface="Adobe Devanagari" panose="02040503050201020203"/>
              </a:rPr>
              <a:t>Cheese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testing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 err="1">
                <a:latin typeface="Adobe Devanagari" panose="02040503050201020203"/>
              </a:rPr>
              <a:t>sample</a:t>
            </a:r>
            <a:r>
              <a:rPr lang="fr-FR" sz="2800" b="1" dirty="0">
                <a:latin typeface="Adobe Devanagari" panose="02040503050201020203"/>
              </a:rPr>
              <a:t> size           </a:t>
            </a:r>
            <a:endParaRPr lang="fr-FR" sz="2800" dirty="0">
              <a:latin typeface="Adobe Devanagari" panose="02040503050201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>
              <a:latin typeface="Adobe Devanagari" panose="02040503050201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FF0000"/>
                </a:solidFill>
                <a:latin typeface="Adobe Devanagari" panose="02040503050201020203"/>
              </a:rPr>
              <a:t>Scenario 1:</a:t>
            </a:r>
            <a:r>
              <a:rPr lang="fr-FR" sz="2800" dirty="0">
                <a:latin typeface="Adobe Devanagari" panose="02040503050201020203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1" dirty="0">
              <a:solidFill>
                <a:srgbClr val="3F3FFF"/>
              </a:solidFill>
              <a:latin typeface="Adobe Devanagari" panose="0204050305020102020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3F3FFF"/>
                </a:solidFill>
                <a:latin typeface="Adobe Devanagari" panose="02040503050201020203"/>
              </a:rPr>
              <a:t>All possible combinations</a:t>
            </a:r>
            <a:r>
              <a:rPr lang="fr-FR" sz="2800" dirty="0">
                <a:latin typeface="Adobe Devanagari" panose="02040503050201020203"/>
              </a:rPr>
              <a:t>: Total </a:t>
            </a:r>
            <a:r>
              <a:rPr lang="fr-FR" sz="2800" b="1" dirty="0">
                <a:solidFill>
                  <a:srgbClr val="FF0000"/>
                </a:solidFill>
                <a:latin typeface="Adobe Devanagari" panose="02040503050201020203"/>
              </a:rPr>
              <a:t>216</a:t>
            </a:r>
            <a:r>
              <a:rPr lang="fr-FR" sz="2800" dirty="0">
                <a:latin typeface="Adobe Devanagari" panose="02040503050201020203"/>
              </a:rPr>
              <a:t>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dirty="0" err="1">
                <a:latin typeface="Adobe Devanagari" panose="02040503050201020203"/>
              </a:rPr>
              <a:t>Estimate</a:t>
            </a:r>
            <a:r>
              <a:rPr lang="fr-FR" sz="2800" b="1" dirty="0">
                <a:latin typeface="Adobe Devanagari" panose="02040503050201020203"/>
              </a:rPr>
              <a:t> </a:t>
            </a:r>
            <a:r>
              <a:rPr lang="fr-FR" sz="2800" b="1" dirty="0">
                <a:solidFill>
                  <a:srgbClr val="3F3FFF"/>
                </a:solidFill>
                <a:latin typeface="Adobe Devanagari" panose="02040503050201020203"/>
              </a:rPr>
              <a:t>DALY</a:t>
            </a:r>
            <a:r>
              <a:rPr lang="fr-FR" sz="2800" b="1" dirty="0">
                <a:solidFill>
                  <a:srgbClr val="FF0000"/>
                </a:solidFill>
                <a:latin typeface="Adobe Devanagari" panose="02040503050201020203"/>
              </a:rPr>
              <a:t> </a:t>
            </a:r>
            <a:r>
              <a:rPr lang="fr-FR" sz="2800" b="1" dirty="0">
                <a:latin typeface="Adobe Devanagari" panose="02040503050201020203"/>
              </a:rPr>
              <a:t>&amp;</a:t>
            </a:r>
            <a:r>
              <a:rPr lang="fr-FR" sz="2800" b="1" dirty="0">
                <a:solidFill>
                  <a:srgbClr val="FF0000"/>
                </a:solidFill>
                <a:latin typeface="Adobe Devanagari" panose="02040503050201020203"/>
              </a:rPr>
              <a:t> </a:t>
            </a:r>
            <a:r>
              <a:rPr lang="fr-FR" sz="2800" b="1" dirty="0" err="1">
                <a:solidFill>
                  <a:srgbClr val="3F3FFF"/>
                </a:solidFill>
                <a:latin typeface="Adobe Devanagari" panose="02040503050201020203"/>
              </a:rPr>
              <a:t>Cost</a:t>
            </a:r>
            <a:r>
              <a:rPr lang="fr-FR" sz="2800" b="1" dirty="0">
                <a:solidFill>
                  <a:srgbClr val="3F3FFF"/>
                </a:solidFill>
                <a:latin typeface="Adobe Devanagari" panose="02040503050201020203"/>
              </a:rPr>
              <a:t> </a:t>
            </a:r>
            <a:r>
              <a:rPr lang="fr-FR" sz="2800" b="1" dirty="0">
                <a:latin typeface="Adobe Devanagari" panose="02040503050201020203"/>
              </a:rPr>
              <a:t>for all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DA66086-265C-487A-AFFF-D886DF902305}"/>
              </a:ext>
            </a:extLst>
          </p:cNvPr>
          <p:cNvSpPr/>
          <p:nvPr/>
        </p:nvSpPr>
        <p:spPr>
          <a:xfrm>
            <a:off x="6095998" y="2151715"/>
            <a:ext cx="2743200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latin typeface="Adobe Devanagari" panose="02040503050201020203"/>
              </a:rPr>
              <a:t>10%, 50%, 100%</a:t>
            </a:r>
            <a:endParaRPr lang="fr-FR" b="1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A96932C-F19E-4BE2-A2A5-E67D8A949EDB}"/>
              </a:ext>
            </a:extLst>
          </p:cNvPr>
          <p:cNvSpPr/>
          <p:nvPr/>
        </p:nvSpPr>
        <p:spPr>
          <a:xfrm>
            <a:off x="6095998" y="2606266"/>
            <a:ext cx="2743200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latin typeface="Adobe Devanagari" panose="02040503050201020203"/>
              </a:rPr>
              <a:t>10, 20, 30, 50, 100, 200 </a:t>
            </a:r>
            <a:endParaRPr lang="fr-FR" b="1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D4E3D0F-E7CA-4A57-983F-410462B0C2B5}"/>
              </a:ext>
            </a:extLst>
          </p:cNvPr>
          <p:cNvSpPr/>
          <p:nvPr/>
        </p:nvSpPr>
        <p:spPr>
          <a:xfrm>
            <a:off x="6095998" y="3060817"/>
            <a:ext cx="2743200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latin typeface="Adobe Devanagari" panose="02040503050201020203"/>
              </a:rPr>
              <a:t>10%, 30%, 50%</a:t>
            </a:r>
            <a:endParaRPr lang="fr-FR" b="1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75A68D9-3453-4EAC-A50F-B7512B3B41CE}"/>
              </a:ext>
            </a:extLst>
          </p:cNvPr>
          <p:cNvSpPr/>
          <p:nvPr/>
        </p:nvSpPr>
        <p:spPr>
          <a:xfrm>
            <a:off x="6095998" y="3515368"/>
            <a:ext cx="2743200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latin typeface="Adobe Devanagari" panose="02040503050201020203"/>
              </a:rPr>
              <a:t>1, 5, 10, 15</a:t>
            </a:r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77BE4A-E48F-498B-B595-D3071B0327D8}"/>
              </a:ext>
            </a:extLst>
          </p:cNvPr>
          <p:cNvSpPr/>
          <p:nvPr/>
        </p:nvSpPr>
        <p:spPr>
          <a:xfrm>
            <a:off x="6587231" y="2151715"/>
            <a:ext cx="550416" cy="3786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3AEE59-0DC0-4108-B12D-F42B4E0EBEBE}"/>
              </a:ext>
            </a:extLst>
          </p:cNvPr>
          <p:cNvSpPr/>
          <p:nvPr/>
        </p:nvSpPr>
        <p:spPr>
          <a:xfrm>
            <a:off x="7654031" y="2599766"/>
            <a:ext cx="550416" cy="3786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7154B5-FF67-4203-87D4-F40865029BE4}"/>
              </a:ext>
            </a:extLst>
          </p:cNvPr>
          <p:cNvSpPr/>
          <p:nvPr/>
        </p:nvSpPr>
        <p:spPr>
          <a:xfrm>
            <a:off x="6686365" y="3060816"/>
            <a:ext cx="550416" cy="3786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DD47AA-89C7-4838-B6FC-6025472D3E68}"/>
              </a:ext>
            </a:extLst>
          </p:cNvPr>
          <p:cNvSpPr/>
          <p:nvPr/>
        </p:nvSpPr>
        <p:spPr>
          <a:xfrm>
            <a:off x="7654031" y="3507644"/>
            <a:ext cx="460159" cy="3786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1185DEC-D138-40ED-A8C4-EFF2570F813D}"/>
              </a:ext>
            </a:extLst>
          </p:cNvPr>
          <p:cNvSpPr/>
          <p:nvPr/>
        </p:nvSpPr>
        <p:spPr>
          <a:xfrm>
            <a:off x="2962179" y="4337709"/>
            <a:ext cx="3135299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Adobe Devanagari" panose="02040503050201020203"/>
              </a:rPr>
              <a:t>10%, 100, 10%, 15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BB72048-7185-4A61-965B-D3576F6997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543" y="4194549"/>
            <a:ext cx="510154" cy="510154"/>
          </a:xfrm>
          <a:prstGeom prst="rect">
            <a:avLst/>
          </a:prstGeom>
        </p:spPr>
      </p:pic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105639C-0A6D-47A9-BCD2-98940762BF02}"/>
              </a:ext>
            </a:extLst>
          </p:cNvPr>
          <p:cNvSpPr/>
          <p:nvPr/>
        </p:nvSpPr>
        <p:spPr>
          <a:xfrm>
            <a:off x="7025763" y="4297764"/>
            <a:ext cx="1584837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latin typeface="Adobe Devanagari" panose="02040503050201020203"/>
              </a:rPr>
              <a:t>DALY 5 x </a:t>
            </a:r>
            <a:r>
              <a:rPr lang="fr-FR" b="1" dirty="0"/>
              <a:t>10</a:t>
            </a:r>
            <a:r>
              <a:rPr lang="fr-FR" b="1" baseline="30000" dirty="0"/>
              <a:t>-7</a:t>
            </a:r>
            <a:r>
              <a:rPr lang="fr-FR" sz="1800" b="1" dirty="0">
                <a:latin typeface="Adobe Devanagari" panose="02040503050201020203"/>
              </a:rPr>
              <a:t> </a:t>
            </a:r>
            <a:endParaRPr lang="fr-FR" b="1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32DE1C64-F286-4707-9EC2-D88FE909DF8C}"/>
              </a:ext>
            </a:extLst>
          </p:cNvPr>
          <p:cNvSpPr/>
          <p:nvPr/>
        </p:nvSpPr>
        <p:spPr>
          <a:xfrm>
            <a:off x="8882335" y="4297764"/>
            <a:ext cx="1584837" cy="378615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 err="1">
                <a:latin typeface="Adobe Devanagari" panose="02040503050201020203"/>
              </a:rPr>
              <a:t>Cost</a:t>
            </a:r>
            <a:r>
              <a:rPr lang="fr-FR" sz="1800" b="1" dirty="0">
                <a:latin typeface="Adobe Devanagari" panose="02040503050201020203"/>
              </a:rPr>
              <a:t> 500 € 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5791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7" grpId="0" animBg="1"/>
      <p:bldP spid="4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28622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199" y="324062"/>
            <a:ext cx="9797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Compare </a:t>
            </a:r>
            <a:r>
              <a:rPr lang="fr-FR" sz="3600" b="1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DALY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&amp; </a:t>
            </a:r>
            <a:r>
              <a:rPr lang="fr-FR" sz="3600" b="1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Cost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for 216 </a:t>
            </a:r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different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scenarios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8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0F9B44-EBDE-4534-A284-AC7EF1A3F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624" y="1565581"/>
            <a:ext cx="7354750" cy="483441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F33F236-FA6B-4747-9BBA-5C8AAAB5E785}"/>
              </a:ext>
            </a:extLst>
          </p:cNvPr>
          <p:cNvSpPr/>
          <p:nvPr/>
        </p:nvSpPr>
        <p:spPr>
          <a:xfrm>
            <a:off x="1824264" y="4771838"/>
            <a:ext cx="1188720" cy="7406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High </a:t>
            </a:r>
            <a:r>
              <a:rPr lang="fr-FR" dirty="0" err="1"/>
              <a:t>cost</a:t>
            </a:r>
            <a:endParaRPr lang="fr-FR" dirty="0"/>
          </a:p>
          <a:p>
            <a:pPr algn="ctr"/>
            <a:r>
              <a:rPr lang="fr-FR" dirty="0"/>
              <a:t>Low DALY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55622F-C032-434E-BADD-C19F407AFC53}"/>
              </a:ext>
            </a:extLst>
          </p:cNvPr>
          <p:cNvSpPr/>
          <p:nvPr/>
        </p:nvSpPr>
        <p:spPr>
          <a:xfrm>
            <a:off x="3715649" y="5705892"/>
            <a:ext cx="1188720" cy="740659"/>
          </a:xfrm>
          <a:prstGeom prst="rect">
            <a:avLst/>
          </a:prstGeom>
          <a:solidFill>
            <a:srgbClr val="3F3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Low </a:t>
            </a:r>
            <a:r>
              <a:rPr lang="fr-FR" dirty="0" err="1"/>
              <a:t>cost</a:t>
            </a:r>
            <a:endParaRPr lang="fr-FR" dirty="0"/>
          </a:p>
          <a:p>
            <a:pPr algn="ctr"/>
            <a:r>
              <a:rPr lang="fr-FR" dirty="0"/>
              <a:t>High DALY</a:t>
            </a:r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A9933624-6242-4DE8-BF9A-09D84867EBC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012984" y="4492104"/>
            <a:ext cx="902068" cy="650064"/>
          </a:xfrm>
          <a:prstGeom prst="bentConnector3">
            <a:avLst>
              <a:gd name="adj1" fmla="val 6673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F38AE5B0-1025-464A-BFB9-488E5BC33F9E}"/>
              </a:ext>
            </a:extLst>
          </p:cNvPr>
          <p:cNvCxnSpPr>
            <a:cxnSpLocks/>
            <a:stCxn id="18" idx="0"/>
          </p:cNvCxnSpPr>
          <p:nvPr/>
        </p:nvCxnSpPr>
        <p:spPr>
          <a:xfrm rot="5400000" flipH="1" flipV="1">
            <a:off x="4091563" y="5189942"/>
            <a:ext cx="734397" cy="29750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0A7AE87E-524B-4CE0-BB30-F0D1D782C14F}"/>
              </a:ext>
            </a:extLst>
          </p:cNvPr>
          <p:cNvSpPr txBox="1"/>
          <p:nvPr/>
        </p:nvSpPr>
        <p:spPr>
          <a:xfrm>
            <a:off x="3464018" y="1720455"/>
            <a:ext cx="232594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800" b="1" dirty="0">
                <a:latin typeface="Adobe Devanagari" panose="02040503050201020203"/>
              </a:rPr>
              <a:t>Milk </a:t>
            </a:r>
            <a:r>
              <a:rPr lang="fr-FR" sz="1800" b="1" dirty="0" err="1">
                <a:latin typeface="Adobe Devanagari" panose="02040503050201020203"/>
              </a:rPr>
              <a:t>testing</a:t>
            </a:r>
            <a:r>
              <a:rPr lang="fr-FR" sz="1800" b="1" dirty="0">
                <a:latin typeface="Adobe Devanagari" panose="02040503050201020203"/>
              </a:rPr>
              <a:t> </a:t>
            </a:r>
            <a:r>
              <a:rPr lang="fr-FR" sz="1800" b="1" dirty="0" err="1">
                <a:latin typeface="Adobe Devanagari" panose="02040503050201020203"/>
              </a:rPr>
              <a:t>frequency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A1D8201-04B9-4DF4-899A-72CAB91C9B58}"/>
              </a:ext>
            </a:extLst>
          </p:cNvPr>
          <p:cNvSpPr txBox="1"/>
          <p:nvPr/>
        </p:nvSpPr>
        <p:spPr>
          <a:xfrm>
            <a:off x="8573705" y="1979744"/>
            <a:ext cx="232594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800" b="1" dirty="0" err="1">
                <a:latin typeface="Adobe Devanagari" panose="02040503050201020203"/>
              </a:rPr>
              <a:t>Cheese</a:t>
            </a:r>
            <a:r>
              <a:rPr lang="fr-FR" sz="1800" b="1" dirty="0">
                <a:latin typeface="Adobe Devanagari" panose="02040503050201020203"/>
              </a:rPr>
              <a:t> </a:t>
            </a:r>
            <a:r>
              <a:rPr lang="fr-FR" sz="1800" b="1" dirty="0" err="1">
                <a:latin typeface="Adobe Devanagari" panose="02040503050201020203"/>
              </a:rPr>
              <a:t>testing</a:t>
            </a:r>
            <a:r>
              <a:rPr lang="fr-FR" sz="1800" b="1" dirty="0">
                <a:latin typeface="Adobe Devanagari" panose="02040503050201020203"/>
              </a:rPr>
              <a:t> </a:t>
            </a:r>
            <a:r>
              <a:rPr lang="fr-FR" sz="1800" b="1" dirty="0" err="1">
                <a:latin typeface="Adobe Devanagari" panose="02040503050201020203"/>
              </a:rPr>
              <a:t>frequency</a:t>
            </a:r>
            <a:endParaRPr lang="fr-FR" dirty="0"/>
          </a:p>
        </p:txBody>
      </p:sp>
      <p:sp>
        <p:nvSpPr>
          <p:cNvPr id="15" name="Bulle narrative : rectangle à coins arrondis 14">
            <a:extLst>
              <a:ext uri="{FF2B5EF4-FFF2-40B4-BE49-F238E27FC236}">
                <a16:creationId xmlns:a16="http://schemas.microsoft.com/office/drawing/2014/main" id="{9BFEBA56-CCCB-4755-98BA-69A212A2434B}"/>
              </a:ext>
            </a:extLst>
          </p:cNvPr>
          <p:cNvSpPr/>
          <p:nvPr/>
        </p:nvSpPr>
        <p:spPr>
          <a:xfrm>
            <a:off x="838199" y="1720455"/>
            <a:ext cx="1761370" cy="1029792"/>
          </a:xfrm>
          <a:prstGeom prst="wedgeRoundRectCallout">
            <a:avLst>
              <a:gd name="adj1" fmla="val 248957"/>
              <a:gd name="adj2" fmla="val -137254"/>
              <a:gd name="adj3" fmla="val 16667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Which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the optimal scenario ?</a:t>
            </a:r>
          </a:p>
        </p:txBody>
      </p:sp>
    </p:spTree>
    <p:extLst>
      <p:ext uri="{BB962C8B-B14F-4D97-AF65-F5344CB8AC3E}">
        <p14:creationId xmlns:p14="http://schemas.microsoft.com/office/powerpoint/2010/main" val="33021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10868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199" y="324062"/>
            <a:ext cx="9797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No unique optimal scenario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9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E568CA-8FEA-4577-A096-A47C817B6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53" y="1597981"/>
            <a:ext cx="7051220" cy="4739865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A78BD6E-6D21-448D-9D18-A4826CC21B2A}"/>
              </a:ext>
            </a:extLst>
          </p:cNvPr>
          <p:cNvSpPr/>
          <p:nvPr/>
        </p:nvSpPr>
        <p:spPr>
          <a:xfrm>
            <a:off x="914401" y="3322556"/>
            <a:ext cx="1586752" cy="1029793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Choice</a:t>
            </a:r>
            <a:r>
              <a:rPr lang="fr-FR" dirty="0"/>
              <a:t> to </a:t>
            </a:r>
          </a:p>
          <a:p>
            <a:pPr algn="ctr"/>
            <a:r>
              <a:rPr lang="fr-FR" dirty="0"/>
              <a:t>Policy </a:t>
            </a:r>
            <a:r>
              <a:rPr lang="fr-FR" dirty="0" err="1"/>
              <a:t>Makers</a:t>
            </a:r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97948AD-5F27-47C9-BB82-C0980D802BAF}"/>
              </a:ext>
            </a:extLst>
          </p:cNvPr>
          <p:cNvSpPr/>
          <p:nvPr/>
        </p:nvSpPr>
        <p:spPr>
          <a:xfrm>
            <a:off x="914400" y="1698109"/>
            <a:ext cx="1951391" cy="1029793"/>
          </a:xfrm>
          <a:prstGeom prst="roundRect">
            <a:avLst/>
          </a:prstGeom>
          <a:solidFill>
            <a:srgbClr val="3C3C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20 scenarios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Pareto optimal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DB88C9C-3B4B-4BE8-80D1-69A3E5A44EDF}"/>
              </a:ext>
            </a:extLst>
          </p:cNvPr>
          <p:cNvSpPr/>
          <p:nvPr/>
        </p:nvSpPr>
        <p:spPr>
          <a:xfrm>
            <a:off x="914400" y="4956661"/>
            <a:ext cx="2272684" cy="102979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CHALLENGE 1</a:t>
            </a:r>
          </a:p>
          <a:p>
            <a:pPr algn="ctr"/>
            <a:r>
              <a:rPr lang="fr-FR" dirty="0" err="1">
                <a:solidFill>
                  <a:schemeClr val="bg1"/>
                </a:solidFill>
              </a:rPr>
              <a:t>computationally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expensive</a:t>
            </a:r>
            <a:r>
              <a:rPr lang="fr-FR" dirty="0">
                <a:solidFill>
                  <a:schemeClr val="bg1"/>
                </a:solidFill>
              </a:rPr>
              <a:t> in real life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87FA9A7-C16A-4E6B-A594-013DB67A195F}"/>
              </a:ext>
            </a:extLst>
          </p:cNvPr>
          <p:cNvGrpSpPr/>
          <p:nvPr/>
        </p:nvGrpSpPr>
        <p:grpSpPr>
          <a:xfrm>
            <a:off x="8605757" y="1286255"/>
            <a:ext cx="2327037" cy="1029792"/>
            <a:chOff x="8929343" y="1826371"/>
            <a:chExt cx="2327037" cy="1029792"/>
          </a:xfrm>
        </p:grpSpPr>
        <p:sp>
          <p:nvSpPr>
            <p:cNvPr id="5" name="Bulle narrative : rectangle à coins arrondis 4">
              <a:extLst>
                <a:ext uri="{FF2B5EF4-FFF2-40B4-BE49-F238E27FC236}">
                  <a16:creationId xmlns:a16="http://schemas.microsoft.com/office/drawing/2014/main" id="{AC5A87C4-C029-4E96-9E91-F51571630AF2}"/>
                </a:ext>
              </a:extLst>
            </p:cNvPr>
            <p:cNvSpPr/>
            <p:nvPr/>
          </p:nvSpPr>
          <p:spPr>
            <a:xfrm>
              <a:off x="8929343" y="1826371"/>
              <a:ext cx="1761370" cy="1029792"/>
            </a:xfrm>
            <a:prstGeom prst="wedgeRoundRectCallout">
              <a:avLst>
                <a:gd name="adj1" fmla="val -86251"/>
                <a:gd name="adj2" fmla="val 106886"/>
                <a:gd name="adj3" fmla="val 16667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216 scenarios</a:t>
              </a:r>
            </a:p>
            <a:p>
              <a:pPr algn="ctr"/>
              <a:r>
                <a:rPr lang="fr-FR" b="1" dirty="0"/>
                <a:t>~ 22 </a:t>
              </a:r>
              <a:r>
                <a:rPr lang="fr-FR" b="1" dirty="0" err="1"/>
                <a:t>hrs</a:t>
              </a:r>
              <a:r>
                <a:rPr lang="fr-FR" b="1" dirty="0"/>
                <a:t> of computation</a:t>
              </a: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9438C3E-3A42-40FA-BBB6-8EA47882C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8956" y="1973579"/>
              <a:ext cx="527424" cy="527424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6C097FB-01F8-45C9-9690-448C898CD0C5}"/>
              </a:ext>
            </a:extLst>
          </p:cNvPr>
          <p:cNvGrpSpPr/>
          <p:nvPr/>
        </p:nvGrpSpPr>
        <p:grpSpPr>
          <a:xfrm>
            <a:off x="8897076" y="4195095"/>
            <a:ext cx="2456724" cy="1993767"/>
            <a:chOff x="8935827" y="2727914"/>
            <a:chExt cx="2456724" cy="1993767"/>
          </a:xfrm>
        </p:grpSpPr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5DE11032-5FF6-4673-B012-37A7181AED7D}"/>
                </a:ext>
              </a:extLst>
            </p:cNvPr>
            <p:cNvSpPr txBox="1"/>
            <p:nvPr/>
          </p:nvSpPr>
          <p:spPr>
            <a:xfrm>
              <a:off x="8935827" y="4352349"/>
              <a:ext cx="24567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dirty="0">
                  <a:solidFill>
                    <a:srgbClr val="3F3FFF"/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Basak (2024) PhD </a:t>
              </a:r>
              <a:r>
                <a:rPr lang="fr-FR" sz="1800" dirty="0" err="1">
                  <a:solidFill>
                    <a:srgbClr val="3F3FFF"/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thesis</a:t>
              </a:r>
              <a:endParaRPr lang="fr-FR" dirty="0"/>
            </a:p>
          </p:txBody>
        </p: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4319F968-1968-43F4-9EDC-F4ED02F1224F}"/>
                </a:ext>
              </a:extLst>
            </p:cNvPr>
            <p:cNvGrpSpPr/>
            <p:nvPr/>
          </p:nvGrpSpPr>
          <p:grpSpPr>
            <a:xfrm>
              <a:off x="9107746" y="2727914"/>
              <a:ext cx="2112885" cy="1630389"/>
              <a:chOff x="9107744" y="2721903"/>
              <a:chExt cx="2112885" cy="1630389"/>
            </a:xfrm>
          </p:grpSpPr>
          <p:sp>
            <p:nvSpPr>
              <p:cNvPr id="15" name="Rectangle : coins arrondis 14">
                <a:extLst>
                  <a:ext uri="{FF2B5EF4-FFF2-40B4-BE49-F238E27FC236}">
                    <a16:creationId xmlns:a16="http://schemas.microsoft.com/office/drawing/2014/main" id="{5AEE6BF5-D6EA-4E2A-87E3-8D4FCF60D50F}"/>
                  </a:ext>
                </a:extLst>
              </p:cNvPr>
              <p:cNvSpPr/>
              <p:nvPr/>
            </p:nvSpPr>
            <p:spPr>
              <a:xfrm>
                <a:off x="9107744" y="3322499"/>
                <a:ext cx="2112885" cy="1029793"/>
              </a:xfrm>
              <a:prstGeom prst="roundRect">
                <a:avLst/>
              </a:prstGeom>
              <a:solidFill>
                <a:srgbClr val="3C3C6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err="1"/>
                  <a:t>Bayesian</a:t>
                </a:r>
                <a:r>
                  <a:rPr lang="fr-FR" dirty="0"/>
                  <a:t> </a:t>
                </a:r>
                <a:r>
                  <a:rPr lang="fr-FR" dirty="0" err="1"/>
                  <a:t>optimization</a:t>
                </a:r>
                <a:endParaRPr lang="fr-FR" dirty="0"/>
              </a:p>
              <a:p>
                <a:pPr algn="ctr"/>
                <a:r>
                  <a:rPr lang="fr-FR" dirty="0" err="1"/>
                  <a:t>Algorithms</a:t>
                </a:r>
                <a:endParaRPr lang="fr-FR" dirty="0"/>
              </a:p>
            </p:txBody>
          </p:sp>
          <p:pic>
            <p:nvPicPr>
              <p:cNvPr id="14" name="Image 13">
                <a:extLst>
                  <a:ext uri="{FF2B5EF4-FFF2-40B4-BE49-F238E27FC236}">
                    <a16:creationId xmlns:a16="http://schemas.microsoft.com/office/drawing/2014/main" id="{20BA4E1F-4627-4C29-8BED-A67AA6FD8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07143" y="2721903"/>
                <a:ext cx="514085" cy="514085"/>
              </a:xfrm>
              <a:prstGeom prst="rect">
                <a:avLst/>
              </a:prstGeom>
            </p:spPr>
          </p:pic>
        </p:grpSp>
      </p:grp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3F6D29A-0CF3-41B0-A0F9-F43D1E5E033E}"/>
              </a:ext>
            </a:extLst>
          </p:cNvPr>
          <p:cNvSpPr/>
          <p:nvPr/>
        </p:nvSpPr>
        <p:spPr>
          <a:xfrm>
            <a:off x="8989094" y="2881291"/>
            <a:ext cx="2272684" cy="102979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CHALLENGE 2</a:t>
            </a:r>
          </a:p>
          <a:p>
            <a:pPr algn="ctr"/>
            <a:r>
              <a:rPr lang="fr-FR" dirty="0" err="1">
                <a:solidFill>
                  <a:schemeClr val="bg1"/>
                </a:solidFill>
              </a:rPr>
              <a:t>Stochastic</a:t>
            </a:r>
            <a:r>
              <a:rPr lang="fr-FR" dirty="0">
                <a:solidFill>
                  <a:schemeClr val="bg1"/>
                </a:solidFill>
              </a:rPr>
              <a:t> model</a:t>
            </a:r>
          </a:p>
          <a:p>
            <a:pPr algn="ctr"/>
            <a:r>
              <a:rPr lang="fr-FR" dirty="0" err="1">
                <a:solidFill>
                  <a:schemeClr val="bg1"/>
                </a:solidFill>
              </a:rPr>
              <a:t>Uncertainty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20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18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0894" y="6533938"/>
            <a:ext cx="10090211" cy="347132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24062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Take</a:t>
            </a:r>
            <a:r>
              <a:rPr lang="fr-FR" sz="36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home-key messages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10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9E48B37-3842-4A1E-8BB0-D0D57E309AF5}"/>
              </a:ext>
            </a:extLst>
          </p:cNvPr>
          <p:cNvSpPr txBox="1"/>
          <p:nvPr/>
        </p:nvSpPr>
        <p:spPr>
          <a:xfrm>
            <a:off x="838200" y="1659285"/>
            <a:ext cx="1069812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3F3FFF"/>
                </a:solidFill>
              </a:rPr>
              <a:t>QMRA </a:t>
            </a:r>
            <a:r>
              <a:rPr lang="en-US" sz="2800" dirty="0"/>
              <a:t>is vital for evidence-based food safety </a:t>
            </a:r>
            <a:r>
              <a:rPr lang="en-US" sz="2800" b="1" dirty="0">
                <a:solidFill>
                  <a:srgbClr val="FF0000"/>
                </a:solidFill>
              </a:rPr>
              <a:t>policy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NAMs</a:t>
            </a:r>
            <a:r>
              <a:rPr lang="en-US" sz="2800" dirty="0"/>
              <a:t> provide the </a:t>
            </a:r>
            <a:r>
              <a:rPr lang="en-US" sz="2800" b="1" dirty="0">
                <a:solidFill>
                  <a:srgbClr val="3F3FFF"/>
                </a:solidFill>
              </a:rPr>
              <a:t>tools</a:t>
            </a:r>
            <a:r>
              <a:rPr lang="en-US" sz="2800" dirty="0"/>
              <a:t> to build robust &amp; scalable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QMRA helps implementing </a:t>
            </a:r>
            <a:r>
              <a:rPr lang="en-US" sz="2800" b="1" dirty="0">
                <a:solidFill>
                  <a:srgbClr val="3F3FFF"/>
                </a:solidFill>
              </a:rPr>
              <a:t>efficient</a:t>
            </a:r>
            <a:r>
              <a:rPr lang="en-US" sz="2800" b="1" dirty="0">
                <a:solidFill>
                  <a:srgbClr val="FF0000"/>
                </a:solidFill>
              </a:rPr>
              <a:t> intervention strategies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Bayesian</a:t>
            </a:r>
            <a:r>
              <a:rPr lang="en-US" sz="2800" dirty="0"/>
              <a:t> methods for </a:t>
            </a:r>
            <a:r>
              <a:rPr lang="en-US" sz="2800" b="1" dirty="0">
                <a:solidFill>
                  <a:srgbClr val="3F3FFF"/>
                </a:solidFill>
              </a:rPr>
              <a:t>computationally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3F3FFF"/>
                </a:solidFill>
              </a:rPr>
              <a:t>expensive</a:t>
            </a:r>
            <a:r>
              <a:rPr lang="en-US" sz="2800" dirty="0"/>
              <a:t> + </a:t>
            </a:r>
            <a:r>
              <a:rPr lang="en-US" sz="2800" b="1" dirty="0">
                <a:solidFill>
                  <a:srgbClr val="FF0000"/>
                </a:solidFill>
              </a:rPr>
              <a:t>stochastic</a:t>
            </a:r>
            <a:r>
              <a:rPr lang="en-US" sz="2800" dirty="0"/>
              <a:t> models</a:t>
            </a:r>
          </a:p>
          <a:p>
            <a:endParaRPr lang="en-US" sz="2800" b="1" dirty="0"/>
          </a:p>
          <a:p>
            <a:r>
              <a:rPr lang="en-US" sz="2000" b="1" dirty="0"/>
              <a:t>Reference</a:t>
            </a:r>
            <a:r>
              <a:rPr lang="en-US" dirty="0"/>
              <a:t>:</a:t>
            </a:r>
            <a:r>
              <a:rPr lang="en-US" sz="2800" dirty="0"/>
              <a:t> </a:t>
            </a:r>
            <a:r>
              <a:rPr lang="en-US" sz="1600" dirty="0"/>
              <a:t>Subhasish Basak</a:t>
            </a:r>
            <a:r>
              <a:rPr lang="en-US" sz="1600" i="1" dirty="0"/>
              <a:t>. </a:t>
            </a:r>
            <a:r>
              <a:rPr lang="en-US" sz="1600" i="1" dirty="0" err="1"/>
              <a:t>Multipathogen</a:t>
            </a:r>
            <a:r>
              <a:rPr lang="en-US" sz="1600" i="1" dirty="0"/>
              <a:t> quantitative risk assessment in raw milk soft cheese : monotone integration and Bayesian optimization. </a:t>
            </a:r>
            <a:r>
              <a:rPr lang="en-US" sz="1600" dirty="0"/>
              <a:t>Machine Learning [stat.ML]. Université Paris-</a:t>
            </a:r>
            <a:r>
              <a:rPr lang="en-US" sz="1600" dirty="0" err="1"/>
              <a:t>Saclay</a:t>
            </a:r>
            <a:r>
              <a:rPr lang="en-US" sz="1600" dirty="0"/>
              <a:t>, 2024. </a:t>
            </a:r>
          </a:p>
        </p:txBody>
      </p:sp>
    </p:spTree>
    <p:extLst>
      <p:ext uri="{BB962C8B-B14F-4D97-AF65-F5344CB8AC3E}">
        <p14:creationId xmlns:p14="http://schemas.microsoft.com/office/powerpoint/2010/main" val="420766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9771" y="6489577"/>
            <a:ext cx="10081705" cy="332035"/>
          </a:xfrm>
        </p:spPr>
        <p:txBody>
          <a:bodyPr>
            <a:no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INRAE-Bordeaux Aquitaine | 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ILSI - </a:t>
            </a:r>
            <a:r>
              <a:rPr lang="fr-FR" sz="14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Early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</a:t>
            </a:r>
            <a:r>
              <a:rPr lang="fr-FR" sz="1400" dirty="0" err="1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Career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/>
                <a:cs typeface="Adobe Devanagari" panose="02040503050201020203" pitchFamily="18" charset="0"/>
              </a:rPr>
              <a:t> Scientists Event 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</a:t>
            </a:r>
            <a:r>
              <a:rPr lang="fr-FR" sz="1400" dirty="0" err="1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NAMs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in Risk </a:t>
            </a:r>
            <a:r>
              <a:rPr lang="fr-FR" sz="1400" dirty="0" err="1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Assessment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| Prague, </a:t>
            </a:r>
            <a:r>
              <a:rPr lang="fr-FR" sz="1400" dirty="0" err="1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October</a:t>
            </a:r>
            <a:r>
              <a:rPr lang="fr-FR" sz="1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10, 2025</a:t>
            </a:r>
            <a:endParaRPr lang="en-US" sz="1400" dirty="0">
              <a:solidFill>
                <a:schemeClr val="bg1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765547" y="836639"/>
            <a:ext cx="2660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Thank</a:t>
            </a:r>
            <a:r>
              <a:rPr lang="fr-FR" sz="3200" b="1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you</a:t>
            </a:r>
            <a:r>
              <a:rPr lang="fr-FR" sz="3200" b="1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all !</a:t>
            </a:r>
            <a:endParaRPr lang="en-US" sz="3200" b="1" dirty="0">
              <a:solidFill>
                <a:schemeClr val="bg1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9F4B1E-F433-47A5-A2F0-5C8A3357C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071" y="1506832"/>
            <a:ext cx="4879858" cy="3659893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38F47756-B1E8-474D-8B52-0BAAB479D1F9}"/>
              </a:ext>
            </a:extLst>
          </p:cNvPr>
          <p:cNvGrpSpPr/>
          <p:nvPr/>
        </p:nvGrpSpPr>
        <p:grpSpPr>
          <a:xfrm>
            <a:off x="3569775" y="5236932"/>
            <a:ext cx="5077836" cy="615553"/>
            <a:chOff x="3580639" y="5698882"/>
            <a:chExt cx="5077836" cy="615553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2636F2AE-E87A-4FCA-8893-A68649950BC5}"/>
                </a:ext>
              </a:extLst>
            </p:cNvPr>
            <p:cNvSpPr txBox="1"/>
            <p:nvPr/>
          </p:nvSpPr>
          <p:spPr>
            <a:xfrm>
              <a:off x="3580639" y="5698882"/>
              <a:ext cx="507783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0" dirty="0">
                  <a:solidFill>
                    <a:schemeClr val="bg1"/>
                  </a:solidFill>
                </a:rPr>
                <a:t>Work </a:t>
              </a:r>
              <a:r>
                <a:rPr lang="fr-FR" sz="1700" dirty="0" err="1">
                  <a:solidFill>
                    <a:schemeClr val="bg1"/>
                  </a:solidFill>
                </a:rPr>
                <a:t>realized</a:t>
              </a:r>
              <a:r>
                <a:rPr lang="fr-FR" sz="1700" dirty="0">
                  <a:solidFill>
                    <a:schemeClr val="bg1"/>
                  </a:solidFill>
                </a:rPr>
                <a:t> by the         consortium </a:t>
              </a:r>
            </a:p>
            <a:p>
              <a:r>
                <a:rPr lang="fr-FR" sz="1700" dirty="0">
                  <a:solidFill>
                    <a:schemeClr val="bg1"/>
                  </a:solidFill>
                </a:rPr>
                <a:t>EU Project </a:t>
              </a:r>
              <a:r>
                <a:rPr lang="fr-FR" sz="1700" dirty="0" err="1">
                  <a:solidFill>
                    <a:schemeClr val="bg1"/>
                  </a:solidFill>
                </a:rPr>
                <a:t>ArtiSaneFood</a:t>
              </a:r>
              <a:r>
                <a:rPr lang="fr-FR" sz="1700" dirty="0">
                  <a:solidFill>
                    <a:schemeClr val="bg1"/>
                  </a:solidFill>
                </a:rPr>
                <a:t>, ANSES-CNIEL-CentraleSupélec</a:t>
              </a:r>
            </a:p>
          </p:txBody>
        </p: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25A2BDC8-7C23-467F-8AC2-43A714E7E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1702" y="5709438"/>
              <a:ext cx="323783" cy="3237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15275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11942</TotalTime>
  <Words>849</Words>
  <Application>Microsoft Office PowerPoint</Application>
  <PresentationFormat>Grand écran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Adobe Devanagari</vt:lpstr>
      <vt:lpstr>Arial</vt:lpstr>
      <vt:lpstr>Calibri</vt:lpstr>
      <vt:lpstr>Calibri Light</vt:lpstr>
      <vt:lpstr>Thème Office</vt:lpstr>
      <vt:lpstr>Application, Challenges, and Perspectives  in farm-to-fork QMRA modelling:  NAMs for foodborne risk management and policy making  Subhasish BASAK INRAE Bordeaux-Aquitaine, France  ILSI - Early Career Scientists Event October 10, 2025  Prague, Czech Republic  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  <vt:lpstr>Subhasish Basak  | INRAE-Bordeaux Aquitaine | ILSI - Early Career Scientists Event | NAMs in Risk Assessment | Prague, October 10, 2025</vt:lpstr>
    </vt:vector>
  </TitlesOfParts>
  <Company>ANSES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Entretien projet ENVIRE Subhasish BASAK July 11, 2023  1. Agence Nationale de Sécurité Sanitaire (ANSES), Maison-Alfort, France 2. Université Paris-Saclay, CNRS, CentraleSupeléc, L2S, Gif-sur-yvette, France</dc:title>
  <dc:creator>BASAK Subhasish</dc:creator>
  <cp:lastModifiedBy>Subhasish Basak</cp:lastModifiedBy>
  <cp:revision>827</cp:revision>
  <dcterms:created xsi:type="dcterms:W3CDTF">2025-03-16T20:22:16Z</dcterms:created>
  <dcterms:modified xsi:type="dcterms:W3CDTF">2025-10-08T16:46:11Z</dcterms:modified>
</cp:coreProperties>
</file>